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2e2edc26d4f1a" /><Relationship Type="http://schemas.openxmlformats.org/officeDocument/2006/relationships/extended-properties" Target="/docProps/app.xml" Id="R91d0f821e7594668" /><Relationship Type="http://schemas.openxmlformats.org/officeDocument/2006/relationships/officeDocument" Target="/ppt/presentation.xml" Id="R73bf92531d15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2656931106448d"/>
  </p:sldMasterIdLst>
  <p:notesMasterIdLst>
    <p:notesMasterId xmlns:r="http://schemas.openxmlformats.org/officeDocument/2006/relationships" r:id="R41928a303c7b474c"/>
  </p:notesMasterIdLst>
  <p:sldIdLst>
    <p:sldId xmlns:r="http://schemas.openxmlformats.org/officeDocument/2006/relationships" id="256" r:id="Rc293b4645671494f"/>
    <p:sldId xmlns:r="http://schemas.openxmlformats.org/officeDocument/2006/relationships" id="257" r:id="R6cfdb7d911fe4699"/>
    <p:sldId xmlns:r="http://schemas.openxmlformats.org/officeDocument/2006/relationships" id="258" r:id="R70ecf77444b84df8"/>
    <p:sldId xmlns:r="http://schemas.openxmlformats.org/officeDocument/2006/relationships" id="259" r:id="R67103a3843af418d"/>
    <p:sldId xmlns:r="http://schemas.openxmlformats.org/officeDocument/2006/relationships" id="260" r:id="Rde0c8e9219314a74"/>
    <p:sldId xmlns:r="http://schemas.openxmlformats.org/officeDocument/2006/relationships" id="261" r:id="Rc2464fc825534fb7"/>
    <p:sldId xmlns:r="http://schemas.openxmlformats.org/officeDocument/2006/relationships" id="262" r:id="R67818d99899a4fe8"/>
    <p:sldId xmlns:r="http://schemas.openxmlformats.org/officeDocument/2006/relationships" id="263" r:id="R853807b7ca9a4f0b"/>
    <p:sldId xmlns:r="http://schemas.openxmlformats.org/officeDocument/2006/relationships" id="264" r:id="Rafd1c21100454477"/>
    <p:sldId xmlns:r="http://schemas.openxmlformats.org/officeDocument/2006/relationships" id="265" r:id="R81c4e73f69ed4f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6542a46e054f2a" /><Relationship Type="http://schemas.openxmlformats.org/officeDocument/2006/relationships/slideMaster" Target="/ppt/slideMasters/slideMaster1.xml" Id="R662656931106448d" /><Relationship Type="http://schemas.openxmlformats.org/officeDocument/2006/relationships/notesMaster" Target="/ppt/notesMasters/notesMaster1.xml" Id="R41928a303c7b474c" /><Relationship Type="http://schemas.openxmlformats.org/officeDocument/2006/relationships/presProps" Target="/ppt/presProps.xml" Id="R1f4d521b371e41b1" /><Relationship Type="http://schemas.openxmlformats.org/officeDocument/2006/relationships/tableStyles" Target="/ppt/tableStyles.xml" Id="Rd6875b042485451f" /><Relationship Type="http://schemas.openxmlformats.org/officeDocument/2006/relationships/slide" Target="/ppt/slides/slide1.xml" Id="Rc293b4645671494f" /><Relationship Type="http://schemas.openxmlformats.org/officeDocument/2006/relationships/slide" Target="/ppt/slides/slide2.xml" Id="R6cfdb7d911fe4699" /><Relationship Type="http://schemas.openxmlformats.org/officeDocument/2006/relationships/slide" Target="/ppt/slides/slide3.xml" Id="R70ecf77444b84df8" /><Relationship Type="http://schemas.openxmlformats.org/officeDocument/2006/relationships/slide" Target="/ppt/slides/slide4.xml" Id="R67103a3843af418d" /><Relationship Type="http://schemas.openxmlformats.org/officeDocument/2006/relationships/slide" Target="/ppt/slides/slide5.xml" Id="Rde0c8e9219314a74" /><Relationship Type="http://schemas.openxmlformats.org/officeDocument/2006/relationships/slide" Target="/ppt/slides/slide6.xml" Id="Rc2464fc825534fb7" /><Relationship Type="http://schemas.openxmlformats.org/officeDocument/2006/relationships/slide" Target="/ppt/slides/slide7.xml" Id="R67818d99899a4fe8" /><Relationship Type="http://schemas.openxmlformats.org/officeDocument/2006/relationships/slide" Target="/ppt/slides/slide8.xml" Id="R853807b7ca9a4f0b" /><Relationship Type="http://schemas.openxmlformats.org/officeDocument/2006/relationships/slide" Target="/ppt/slides/slide9.xml" Id="Rafd1c21100454477" /><Relationship Type="http://schemas.openxmlformats.org/officeDocument/2006/relationships/slide" Target="/ppt/slides/slide10.xml" Id="R81c4e73f69ed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764f70c0546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9eff2864043ae" /><Relationship Type="http://schemas.openxmlformats.org/officeDocument/2006/relationships/notesMaster" Target="/ppt/notesMasters/notesMaster1.xml" Id="R347636ebfd6b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1cc4d97794b64" /><Relationship Type="http://schemas.openxmlformats.org/officeDocument/2006/relationships/notesMaster" Target="/ppt/notesMasters/notesMaster1.xml" Id="Rf50653a63c554d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ee19a6117b4bc4" /><Relationship Type="http://schemas.openxmlformats.org/officeDocument/2006/relationships/notesMaster" Target="/ppt/notesMasters/notesMaster1.xml" Id="Rdd1d6dd4e265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c6ecec79a45dd" /><Relationship Type="http://schemas.openxmlformats.org/officeDocument/2006/relationships/notesMaster" Target="/ppt/notesMasters/notesMaster1.xml" Id="Rb9889606af20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1b1efcc3a2426b" /><Relationship Type="http://schemas.openxmlformats.org/officeDocument/2006/relationships/notesMaster" Target="/ppt/notesMasters/notesMaster1.xml" Id="Ra3e8722bf0c9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a4154e468043a1" /><Relationship Type="http://schemas.openxmlformats.org/officeDocument/2006/relationships/notesMaster" Target="/ppt/notesMasters/notesMaster1.xml" Id="Rb3bbad1c487745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59738bc944e7a" /><Relationship Type="http://schemas.openxmlformats.org/officeDocument/2006/relationships/notesMaster" Target="/ppt/notesMasters/notesMaster1.xml" Id="Rb6a4148e5b05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862e0932a04135" /><Relationship Type="http://schemas.openxmlformats.org/officeDocument/2006/relationships/notesMaster" Target="/ppt/notesMasters/notesMaster1.xml" Id="R6cbe170248084a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fb14ebb6eb45a0" /><Relationship Type="http://schemas.openxmlformats.org/officeDocument/2006/relationships/notesMaster" Target="/ppt/notesMasters/notesMaster1.xml" Id="R3721b236c423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e6223672e242c5" /><Relationship Type="http://schemas.openxmlformats.org/officeDocument/2006/relationships/notesMaster" Target="/ppt/notesMasters/notesMaster1.xml" Id="R918524c3cf8d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Açılış cümlesi: Dörtgöz'ün değeri insanları daha çok izlemek değil; bir insanın başına kötü bir şey geldiğinde bunun gözden kaçmamasını sağlamaktır.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https://www.pexels.com/photo/security-control-room-with-diverse-team-monitoring-30481728/</a:t>
            </a:r>
          </a:p>
          <a:p xmlns:a="http://schemas.openxmlformats.org/drawingml/2006/main">
            <a:r>
              <a:t>- repo: docs/knowledge/project-state.md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slaytta teknik ayrıntıya girmeyin. Video kaydının kendi başına koruma sağlamadığını, anlamlı değerin doğru anda dikkat ve müdahale üretmek olduğunu anlatın.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https://www.pexels.com/photo/security-officer-in-dark-control-room-with-monitors-30692441/</a:t>
            </a:r>
          </a:p>
          <a:p xmlns:a="http://schemas.openxmlformats.org/drawingml/2006/main">
            <a:r>
              <a:t>- repo: docs/demo/DEMO_SENARYOSU.md#bölüm-0-açılış-000-035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Manevi iddiayı net söyleyin: Dörtgöz bir gözetim otoritesi değildir. İnsan dikkatini güçlendiren ve kanıtsız otomasyonu sınırlayan bir karar destek sistemidir.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docs/interface_design.md#anomali-nöbet-kuyruğu-insan-döngüde-karar-katmanı</a:t>
            </a:r>
          </a:p>
          <a:p xmlns:a="http://schemas.openxmlformats.org/drawingml/2006/main">
            <a:r>
              <a:t>- repo: docs/MIMARI.md#ajan-bileşenleri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Katmanları tek tek sayarken her teknolojinin neden eklendiğini insan değeriyle bağlayın: screening dikkat yükünü azaltır; VLM olayı anlatır; doğrulayıcı kanıtsız iddiayı düşürür; ajan doğru soruya yönelir; insan kapısı yetkiyi korur.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docs/MIMARI.md#uçtan-uca-akış</a:t>
            </a:r>
          </a:p>
          <a:p xmlns:a="http://schemas.openxmlformats.org/drawingml/2006/main">
            <a:r>
              <a:t>- repo: docs/MIMARI.md#model-rolleri</a:t>
            </a:r>
          </a:p>
          <a:p xmlns:a="http://schemas.openxmlformats.org/drawingml/2006/main">
            <a:r>
              <a:t>- repo: docs/research/screening_kampanyasi_S3.md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Birleşimin en önemli sonucu yeni bir özellik sayısı değil, doğru bağlamdır. Operatörün sorusu başka sekmeye, başka kameraya veya başka olaya sızmaz.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docs/demo/kareler/03-olay-acildi.png</a:t>
            </a:r>
          </a:p>
          <a:p xmlns:a="http://schemas.openxmlformats.org/drawingml/2006/main">
            <a:r>
              <a:t>- repo: backend/dortgoz/agent/conversation.py</a:t>
            </a:r>
          </a:p>
          <a:p xmlns:a="http://schemas.openxmlformats.org/drawingml/2006/main">
            <a:r>
              <a:t>- repo: frontend/src/lib/agentSession.ts</a:t>
            </a:r>
          </a:p>
          <a:p xmlns:a="http://schemas.openxmlformats.org/drawingml/2006/main">
            <a:r>
              <a:t>- repo: docs/knowledge/project-state.md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Beş sorunun üçü her olay için aynıdır. Son iki soru olay türüne göre değişir. Kavga örneğini kullanın. Sistem kimlik, suçluluk veya hukuki niyet hükmü kurmaz; görüntünün desteklediği ve desteklemediği noktaları ayırır.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docs/demo/kareler/04-sohbet-arac-kullanimi.png</a:t>
            </a:r>
          </a:p>
          <a:p xmlns:a="http://schemas.openxmlformats.org/drawingml/2006/main">
            <a:r>
              <a:t>- repo: frontend/src/lib/investigationQuestions.ts</a:t>
            </a:r>
          </a:p>
          <a:p xmlns:a="http://schemas.openxmlformats.org/drawingml/2006/main">
            <a:r>
              <a:t>- repo: backend/dortgoz/agent/tools.py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Dörtgöz'ün açıklanabilirliği uzun bir model gerekçesi değildir. Operatörün açıp görebildiği kare, zaman ve iddia ilişkisidir. Geçersiz kanıt fail-closed biçimde olay durumunu değiştiremez.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docs/demo/kareler/08-olay-inceleme-merkezi.png</a:t>
            </a:r>
          </a:p>
          <a:p xmlns:a="http://schemas.openxmlformats.org/drawingml/2006/main">
            <a:r>
              <a:t>- repo: docs/MIMARI.md#ajan-bileşenleri</a:t>
            </a:r>
          </a:p>
          <a:p xmlns:a="http://schemas.openxmlformats.org/drawingml/2006/main">
            <a:r>
              <a:t>- repo: docs/demo/DEMO_SENARYOSU.md#bölüm-8-yapılandırılmış-çıktı-740-820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Operatör modelin kararını onaylamak zorunda değildir. Risk seviyesini değiştirebilir, not ekleyebilir ve kararı kaydedebilir. Emniyet bildirimi gibi dış aksiyonlar hiçbir zaman otomatik gönderilmez; yalnız yerel taslak oluşur.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docs/demo/kareler/09-operator-duzeltmesi.png</a:t>
            </a:r>
          </a:p>
          <a:p xmlns:a="http://schemas.openxmlformats.org/drawingml/2006/main">
            <a:r>
              <a:t>- repo: docs/demo/kareler/10-karar-kaydedildi.png</a:t>
            </a:r>
          </a:p>
          <a:p xmlns:a="http://schemas.openxmlformats.org/drawingml/2006/main">
            <a:r>
              <a:t>- repo: docs/demo/kareler/12-taslak-hazir.png</a:t>
            </a:r>
          </a:p>
          <a:p xmlns:a="http://schemas.openxmlformats.org/drawingml/2006/main">
            <a:r>
              <a:t>- repo: docs/interface_design.md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 bir koşuyu başarı diye sunmayın. Dört koşunun yakalama ve yanlış alarm bandını söyleyin. Ardından kör seti, hızı ve güvenli canlı kapasiteyi verin. Bilinen zayıflıkları saklamadığımızı vurgulayın.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 docs/BENCHMARK_REPORT.md#10-üretim-sonuçları</a:t>
            </a:r>
          </a:p>
          <a:p xmlns:a="http://schemas.openxmlformats.org/drawingml/2006/main">
            <a:r>
              <a:t>- repo: docs/demo/DEMO_SENARYOSU.md#anlatılacak-sayılar-ezber-kartı</a:t>
            </a:r>
          </a:p>
          <a:p xmlns:a="http://schemas.openxmlformats.org/drawingml/2006/main">
            <a:r>
              <a:t>- repo: docs/MIMARI.md#bilinen-sınırlar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Kapanışta açılıştaki manevi iddiaya dönün: hedef daha çok izlemek değil, kritik bir anın gözden kaçmamasını sağlamak. Son cümle: Nihai karar her zaman operatörde kalır.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https://www.pexels.com/photo/security-control-room-with-diverse-team-monitoring-30481728/</a:t>
            </a:r>
          </a:p>
          <a:p xmlns:a="http://schemas.openxmlformats.org/drawingml/2006/main">
            <a:r>
              <a:t>- repo: docs/demo/DEMO_SENARYOSU.md#bölüm-10-ölçüm-ve-kapanış-900-930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17b8a6dca41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f6cff68fc483f" /><Relationship Type="http://schemas.openxmlformats.org/officeDocument/2006/relationships/slideLayout" Target="/ppt/slideLayouts/slideLayout1.xml" Id="R660e5a4fd2ad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e5a4fd2ad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f8b6427b04cac" /><Relationship Type="http://schemas.openxmlformats.org/officeDocument/2006/relationships/image" Target="/ppt/media/image.jpeg" Id="R59a7e06475974cb6" /><Relationship Type="http://schemas.openxmlformats.org/officeDocument/2006/relationships/notesSlide" Target="/ppt/notesSlides/notesSlide1.xml" Id="Rfed2ede4d47e4f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7c9d69416492a" /><Relationship Type="http://schemas.openxmlformats.org/officeDocument/2006/relationships/image" Target="/ppt/media/image2.jpeg" Id="Re49997aab08f412d" /><Relationship Type="http://schemas.openxmlformats.org/officeDocument/2006/relationships/notesSlide" Target="/ppt/notesSlides/notesSlide2.xml" Id="Rc880d91d8e0b47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bdf2aa35643a5" /><Relationship Type="http://schemas.openxmlformats.org/officeDocument/2006/relationships/notesSlide" Target="/ppt/notesSlides/notesSlide3.xml" Id="Re490ba4451e645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d64d60d7b4bbc" /><Relationship Type="http://schemas.openxmlformats.org/officeDocument/2006/relationships/notesSlide" Target="/ppt/notesSlides/notesSlide4.xml" Id="R808635283002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965e96b6e492b" /><Relationship Type="http://schemas.openxmlformats.org/officeDocument/2006/relationships/image" Target="/ppt/media/image.png" Id="R9c87bd74e45441fc" /><Relationship Type="http://schemas.openxmlformats.org/officeDocument/2006/relationships/notesSlide" Target="/ppt/notesSlides/notesSlide5.xml" Id="Rde804b87115d48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17a0d053b4d8e" /><Relationship Type="http://schemas.openxmlformats.org/officeDocument/2006/relationships/image" Target="/ppt/media/image2.png" Id="R9b59783b195e43e4" /><Relationship Type="http://schemas.openxmlformats.org/officeDocument/2006/relationships/notesSlide" Target="/ppt/notesSlides/notesSlide6.xml" Id="Rfc0a9e65e4e249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d0657f98541ac" /><Relationship Type="http://schemas.openxmlformats.org/officeDocument/2006/relationships/image" Target="/ppt/media/image3.png" Id="Re8639c1755be45f6" /><Relationship Type="http://schemas.openxmlformats.org/officeDocument/2006/relationships/notesSlide" Target="/ppt/notesSlides/notesSlide7.xml" Id="Ra003aae4b65444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9db872f9745f5" /><Relationship Type="http://schemas.openxmlformats.org/officeDocument/2006/relationships/image" Target="/ppt/media/image4.png" Id="R645aacfd4b8e406c" /><Relationship Type="http://schemas.openxmlformats.org/officeDocument/2006/relationships/image" Target="/ppt/media/image5.png" Id="R8643ed71125e42e3" /><Relationship Type="http://schemas.openxmlformats.org/officeDocument/2006/relationships/image" Target="/ppt/media/image6.png" Id="R81a5284fa85d4e1c" /><Relationship Type="http://schemas.openxmlformats.org/officeDocument/2006/relationships/notesSlide" Target="/ppt/notesSlides/notesSlide8.xml" Id="Rb8fccfd3a757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81b88080a4a01" /><Relationship Type="http://schemas.openxmlformats.org/officeDocument/2006/relationships/notesSlide" Target="/ppt/notesSlides/notesSlide9.xml" Id="R3bbe30f89f2a4d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f4105ca5049f0" /><Relationship Type="http://schemas.openxmlformats.org/officeDocument/2006/relationships/image" Target="/ppt/media/image3.jpeg" Id="Rfbdcdc21d3044718" /><Relationship Type="http://schemas.openxmlformats.org/officeDocument/2006/relationships/notesSlide" Target="/ppt/notesSlides/notesSlide10.xml" Id="R8b167504d900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7e06475974cb6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1CB38-266A-492F-818B-534E4D18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2B09A-3414-4A67-AB4B-56EAC037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340"/>
          </a:solidFill>
          <a:ln xmlns:a="http://schemas.openxmlformats.org/drawingml/2006/main" w="0">
            <a:solidFill>
              <a:srgbClr val="0C2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44C86-2640-48DB-8CD1-A3ABC77D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F3E99-AB77-4B32-BA71-63916DA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283EB-CC46-447E-8624-1B2E415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BCCDC-2BBC-4BED-9FEC-41B0CD29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DD0E5"/>
                </a:solidFill>
              </a:defRPr>
            </a:pPr>
            <a:r>
              <a:rPr sz="900" b="0" i="0">
                <a:solidFill>
                  <a:srgbClr val="BDD0E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AFBB8-733F-437B-96A5-E0AFF03F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Bir çift göz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yetmediğinde,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01861-B671-43E5-A361-A0AFE08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72B8EE"/>
                </a:solidFill>
              </a:defRPr>
            </a:pPr>
            <a:r>
              <a:rPr sz="2400" b="1" i="0">
                <a:solidFill>
                  <a:srgbClr val="72B8EE"/>
                </a:solidFill>
              </a:rPr>
              <a:t>Dörtgöz devreye girer.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2B1A5-B80A-47CE-B294-B024C10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AD9E8"/>
                </a:solidFill>
              </a:defRPr>
            </a:pPr>
            <a:r>
              <a:rPr sz="1500" b="0" i="0">
                <a:solidFill>
                  <a:srgbClr val="CAD9E8"/>
                </a:solidFill>
              </a:rPr>
              <a:t>Görüntü analizi + kanıt + insan kararı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13880-2A05-42D6-B086-06D7534E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762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1"/>
          </a:solidFill>
          <a:ln xmlns:a="http://schemas.openxmlformats.org/drawingml/2006/main" w="0">
            <a:solidFill>
              <a:srgbClr val="183A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A866B-1281-4D14-A0DF-940F6F32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TEKNOFEST 2026 · SENARYO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62DBA-9B3E-4E5D-A4C8-A1769E99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C1D7"/>
                </a:solidFill>
              </a:defRPr>
            </a:pPr>
            <a:r>
              <a:rPr sz="825" b="0" i="0">
                <a:solidFill>
                  <a:srgbClr val="AAC1D7"/>
                </a:solidFill>
              </a:rPr>
              <a:t>Birleşik sistem sunumu · 26 Ağustos 2026</a:t>
            </a:r>
          </a:p>
        </p:txBody>
      </p:sp>
    </p:spTree>
    <p:extLst>
      <p:ext uri="{BB962C8B-B14F-4D97-AF65-F5344CB8AC3E}">
        <p14:creationId xmlns:p14="http://schemas.microsoft.com/office/powerpoint/2010/main" val="1429518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6C95D-2B1F-4CF3-81E8-52BA073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51AE6-4DFD-4E5B-8439-C85748D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BD3F5-C639-411B-B61E-A9DCC16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B33"/>
                </a:solidFill>
              </a:defRPr>
            </a:pPr>
            <a:r>
              <a:rPr sz="1125" b="1" i="0">
                <a:solidFill>
                  <a:srgbClr val="081B33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CBF24-8F8B-4383-8086-8AD4FF88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978"/>
                </a:solidFill>
              </a:defRPr>
            </a:pPr>
            <a:r>
              <a:rPr sz="900" b="0" i="0">
                <a:solidFill>
                  <a:srgbClr val="5D697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75E62-4679-4E6F-9F3F-BB060E55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1B33"/>
                </a:solidFill>
              </a:defRPr>
            </a:pPr>
            <a:r>
              <a:rPr sz="2850" b="1" i="0">
                <a:solidFill>
                  <a:srgbClr val="081B33"/>
                </a:solidFill>
              </a:rPr>
              <a:t>Kamera kaydeder. Peki biri zamanında görmezse?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30396-7F00-4E44-B21F-8DFFD9B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</a:defRPr>
            </a:pPr>
            <a:r>
              <a:rPr sz="1350" b="0" i="0">
                <a:solidFill>
                  <a:srgbClr val="5D6978"/>
                </a:solidFill>
              </a:rPr>
              <a:t>Sorun görüntü eksikliği değil; insan dikkatinin aynı anda her yerde olamaması.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997aab08f412d"/>
          <a:srcRect xmlns:a="http://schemas.openxmlformats.org/drawingml/2006/main" l="0" t="820" r="0" b="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581025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52BB5-3048-4BC3-AF2C-67B4DDE9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78C2"/>
                </a:solidFill>
              </a:defRPr>
            </a:pPr>
            <a:r>
              <a:rPr sz="1350" b="1" i="0">
                <a:solidFill>
                  <a:srgbClr val="2E78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537D2-2673-471C-BCC2-49524ECD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B33"/>
                </a:solidFill>
              </a:defRPr>
            </a:pPr>
            <a:r>
              <a:rPr sz="1725" b="1" i="0">
                <a:solidFill>
                  <a:srgbClr val="081B33"/>
                </a:solidFill>
              </a:rPr>
              <a:t>Kritik an kaçabilir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56A00-C6BF-4F10-A28B-B8990CC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857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Bir operatör onlarca akışı aynı anda aynı dikkatle izleyemez.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53E32-963E-41A2-801C-EFA73C6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34B77-02B7-42EA-9E4B-2827E19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78C2"/>
                </a:solidFill>
              </a:defRPr>
            </a:pPr>
            <a:r>
              <a:rPr sz="1350" b="1" i="0">
                <a:solidFill>
                  <a:srgbClr val="2E78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CF1D8-28FE-47B1-948C-6AB7D28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B33"/>
                </a:solidFill>
              </a:defRPr>
            </a:pPr>
            <a:r>
              <a:rPr sz="1725" b="1" i="0">
                <a:solidFill>
                  <a:srgbClr val="081B33"/>
                </a:solidFill>
              </a:rPr>
              <a:t>Kayıt tek başına yardım etmez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CE7A3-6B23-401E-9C61-CA8997B5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857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Değer, videoyu olay anında anlamlı bir karara dönüştürünce doğar.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6B4F2-2C9D-4903-83B6-E133C5C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21EF0-B710-4738-BF24-8DFEAE5D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78C2"/>
                </a:solidFill>
              </a:defRPr>
            </a:pPr>
            <a:r>
              <a:rPr sz="1350" b="1" i="0">
                <a:solidFill>
                  <a:srgbClr val="2E78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56A28-963F-43EC-BB72-9C14B16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B33"/>
                </a:solidFill>
              </a:defRPr>
            </a:pPr>
            <a:r>
              <a:rPr sz="1725" b="1" i="0">
                <a:solidFill>
                  <a:srgbClr val="081B33"/>
                </a:solidFill>
              </a:rPr>
              <a:t>Yanlış hüküm de zarar verir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D602D-DA25-4C12-AF6C-7DBA648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857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Bu yüzden her ciddi iddia zaman, kanıt ve belirsizlikle birlikte sunulur.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79650-D20D-4748-A1D5-6AD10F88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C8794"/>
                </a:solidFill>
              </a:defRPr>
            </a:pPr>
            <a:r>
              <a:rPr sz="825" b="0" i="0">
                <a:solidFill>
                  <a:srgbClr val="7C8794"/>
                </a:solidFill>
              </a:rPr>
              <a:t>Dörtgöz insanın yerine bakmaz; insanın dikkatini doğru ana taşır.</a:t>
            </a:r>
          </a:p>
        </p:txBody>
      </p:sp>
    </p:spTree>
    <p:extLst>
      <p:ext uri="{BB962C8B-B14F-4D97-AF65-F5344CB8AC3E}">
        <p14:creationId xmlns:p14="http://schemas.microsoft.com/office/powerpoint/2010/main" val="1675032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03A7F-161B-4789-A8F1-D18760E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070D0-C2CF-4DB0-8A3F-5F42F8B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3721D-752F-41F7-8B8B-E73DEF7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69595-1166-4CBF-85B9-DEAE1E2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DD0E5"/>
                </a:solidFill>
              </a:defRPr>
            </a:pPr>
            <a:r>
              <a:rPr sz="900" b="0" i="0">
                <a:solidFill>
                  <a:srgbClr val="BDD0E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77D85-A2F9-4039-A86F-3A4AA64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Teknolojiden önce üç insan sözü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61F33-BF37-4A08-9BBA-09C58FF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8E8"/>
                </a:solidFill>
              </a:defRPr>
            </a:pPr>
            <a:r>
              <a:rPr sz="1350" b="0" i="0">
                <a:solidFill>
                  <a:srgbClr val="C9D8E8"/>
                </a:solidFill>
              </a:rPr>
              <a:t>Mimari kararlarımızın her biri bu üç değeri korumak için 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FBF1A-44C0-4638-991E-02CABFE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32385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244A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FE772-D2C7-4701-9F17-6053AD5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9E44D-BF38-428C-B248-8201B9E9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Gözden kaçırma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79E48-6A9C-4C52-BF2B-A3A179BC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D7E7"/>
                </a:solidFill>
              </a:defRPr>
            </a:pPr>
            <a:r>
              <a:rPr sz="1350" b="0" i="0">
                <a:solidFill>
                  <a:srgbClr val="C7D7E7"/>
                </a:solidFill>
              </a:rPr>
              <a:t>Aday olayı erkenden bul, doğru kamerayı ve zamanı öne getir.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F0CBC-E76D-4802-997B-AA11A8D2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32385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244A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E1EC8-0E90-4CB3-AC68-622D5C7A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A894"/>
          </a:solidFill>
          <a:ln xmlns:a="http://schemas.openxmlformats.org/drawingml/2006/main" w="0">
            <a:solidFill>
              <a:srgbClr val="28A8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18A51-534E-4C58-B606-996049E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Kanıtsız hüküm verme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7B195-5FA4-4CF9-BB67-B6387E9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D7E7"/>
                </a:solidFill>
              </a:defRPr>
            </a:pPr>
            <a:r>
              <a:rPr sz="1350" b="0" i="0">
                <a:solidFill>
                  <a:srgbClr val="C7D7E7"/>
                </a:solidFill>
              </a:rPr>
              <a:t>İddiayı kare kimliği, zaman damgası ve doğrulayıcıyla bağla.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B2D30-50C1-40C7-B2DB-1C699E8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95500"/>
            <a:ext cx="3048000" cy="32385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9525">
            <a:solidFill>
              <a:srgbClr val="244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E0B5E-DF88-4B5D-BFE8-E2FE264E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F46BD-9560-4184-B656-5CD8ED9F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İnsan iradesini devreden çıkarma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88C43-64D1-40A8-A04B-4300579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D7E7"/>
                </a:solidFill>
              </a:defRPr>
            </a:pPr>
            <a:r>
              <a:rPr sz="1350" b="0" i="0">
                <a:solidFill>
                  <a:srgbClr val="C7D7E7"/>
                </a:solidFill>
              </a:rPr>
              <a:t>Sistem önerir ve açıklar; kritik karar ile dış aksiyon operatörde kalır.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A53BB-6EBF-437B-A538-8BAD65F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2B8EE"/>
                </a:solidFill>
              </a:defRPr>
            </a:pPr>
            <a:r>
              <a:rPr sz="1800" b="1" i="0">
                <a:solidFill>
                  <a:srgbClr val="72B8EE"/>
                </a:solidFill>
              </a:rPr>
              <a:t>AI insanın dikkatini güçlendirir; kararı daha hızlı, bilgili ve adil hâle getirir.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9C35A-3B19-4046-BFA9-9E6A57E6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C1D7"/>
                </a:solidFill>
              </a:defRPr>
            </a:pPr>
            <a:r>
              <a:rPr sz="825" b="0" i="0">
                <a:solidFill>
                  <a:srgbClr val="AAC1D7"/>
                </a:solidFill>
              </a:rPr>
              <a:t>Etik sınır bir sunum cümlesi değil; kodda çalışan kapılardır.</a:t>
            </a:r>
          </a:p>
        </p:txBody>
      </p:sp>
    </p:spTree>
    <p:extLst>
      <p:ext uri="{BB962C8B-B14F-4D97-AF65-F5344CB8AC3E}">
        <p14:creationId xmlns:p14="http://schemas.microsoft.com/office/powerpoint/2010/main" val="1094965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E13941-67C4-48F6-84C6-EEE66A79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29910-CCB5-447C-B9CC-4439EF76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C470-1566-4CE8-B598-85F8CEA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B33"/>
                </a:solidFill>
              </a:defRPr>
            </a:pPr>
            <a:r>
              <a:rPr sz="1125" b="1" i="0">
                <a:solidFill>
                  <a:srgbClr val="081B33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1C736-4230-4BE6-830C-10FF8DC3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978"/>
                </a:solidFill>
              </a:defRPr>
            </a:pPr>
            <a:r>
              <a:rPr sz="900" b="0" i="0">
                <a:solidFill>
                  <a:srgbClr val="5D697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DBD94-5E5A-4716-AE46-5EECC487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1B33"/>
                </a:solidFill>
              </a:defRPr>
            </a:pPr>
            <a:r>
              <a:rPr sz="2850" b="1" i="0">
                <a:solidFill>
                  <a:srgbClr val="081B33"/>
                </a:solidFill>
              </a:rPr>
              <a:t>Bu sözleri altı katmanla tutuyoruz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9CB17-CA6F-4F7F-B0FC-57BF2AEF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</a:defRPr>
            </a:pPr>
            <a:r>
              <a:rPr sz="1350" b="0" i="0">
                <a:solidFill>
                  <a:srgbClr val="5D6978"/>
                </a:solidFill>
              </a:rPr>
              <a:t>Her katman bir sonrakine daha az gürültü, daha çok bağlam ve daha sağlam kanıt taşır.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C73AE-7D4F-4765-A0B1-73CFFEFC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792DD-2350-476D-ADAB-987940B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164B1-2916-4B2F-8661-41D28C83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78C2"/>
                </a:solidFill>
              </a:defRPr>
            </a:pPr>
            <a:r>
              <a:rPr sz="1125" b="1" i="0">
                <a:solidFill>
                  <a:srgbClr val="2E78C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60D9A-CD44-4206-BD4B-F11AFCF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5D4A6-B9F9-4877-B084-EE36EF64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Video / canlı akış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BA203-4C80-4719-859F-2176B8C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Güvenli ingest · 30 sn pencere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23D35-559E-4375-8332-8BF358E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AA124-B49F-4520-B913-8EF57777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A894"/>
          </a:solidFill>
          <a:ln xmlns:a="http://schemas.openxmlformats.org/drawingml/2006/main" w="0">
            <a:solidFill>
              <a:srgbClr val="28A89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9A04F-7013-4AC0-B81F-22E5A51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A894"/>
                </a:solidFill>
              </a:defRPr>
            </a:pPr>
            <a:r>
              <a:rPr sz="1125" b="1" i="0">
                <a:solidFill>
                  <a:srgbClr val="28A894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98DC0-447C-48EA-B073-EF573076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BUL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ADCD8-83DC-4210-9F64-1D5EE30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Dikkat adayı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27D60-D310-4CE2-811E-83C2712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SigLIP-2 · D-FINE · kare seçimi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F834E-CDD1-4DE0-9BED-218B315C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A8A9A-5631-4705-8E26-86C1234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75C5"/>
          </a:solidFill>
          <a:ln xmlns:a="http://schemas.openxmlformats.org/drawingml/2006/main" w="0">
            <a:solidFill>
              <a:srgbClr val="6575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E75F6-F6A6-4FA6-BA1B-34BE516A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5C5"/>
                </a:solidFill>
              </a:defRPr>
            </a:pPr>
            <a:r>
              <a:rPr sz="1125" b="1" i="0">
                <a:solidFill>
                  <a:srgbClr val="6575C5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F3A52-5ABA-44D3-90D1-1AA60C5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ANLA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41084-4C87-45B4-80A2-9376A52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Türkçe olay yorumu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0DA8F-9F48-40D6-B995-ED03CF8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VLM · şema-zorlamalı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586D6-E6BD-4D7B-9189-9851C5FE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64E86-F16D-4C8A-967C-B61706C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EA9C9-604A-47EA-AA44-7FBEF7FA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A84A"/>
                </a:solidFill>
              </a:defRPr>
            </a:pPr>
            <a:r>
              <a:rPr sz="1125" b="1" i="0">
                <a:solidFill>
                  <a:srgbClr val="F2A84A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FF95B-0985-454C-A6FC-06532C7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DOĞRULA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959AB-F2EF-44BB-962F-42E050F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Kanıtlı olay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AD8A8-8CD2-4397-83CA-F938D08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zaman · frame_id · SHA-256 · fail-closed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84F12-485D-403E-BA79-FE88DC9C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83F1D-6241-4522-BC0A-6FCEEB5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0">
            <a:solidFill>
              <a:srgbClr val="ED6A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B8FF2-2B62-4198-A949-7E27DEE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D6A5A"/>
                </a:solidFill>
              </a:defRPr>
            </a:pPr>
            <a:r>
              <a:rPr sz="1125" b="1" i="0">
                <a:solidFill>
                  <a:srgbClr val="ED6A5A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BEC18-8ED8-401B-BAF8-3F1DD38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AYDINLAT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19932D-F5D8-4FCA-A8A6-256200FA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Bağlama bağlı inceleme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D4B8EF-712D-42DB-9AD8-484A9DA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ajan · 3 genel + 2 kategori sorusu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011784-2BA5-4F36-BA82-A1E6FFC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E0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6503A0-E467-4D42-A0E2-AF3167A7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0">
            <a:solidFill>
              <a:srgbClr val="102B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A814D2-45BD-4BB0-BFD6-F5C18DD0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B4D"/>
                </a:solidFill>
              </a:defRPr>
            </a:pPr>
            <a:r>
              <a:rPr sz="1125" b="1" i="0">
                <a:solidFill>
                  <a:srgbClr val="102B4D"/>
                </a:solidFill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DF80E5-7256-40EE-AE14-AE811C98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B33"/>
                </a:solidFill>
              </a:defRPr>
            </a:pPr>
            <a:r>
              <a:rPr sz="1500" b="1" i="0">
                <a:solidFill>
                  <a:srgbClr val="081B33"/>
                </a:solidFill>
              </a:rPr>
              <a:t>KARAR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474EC8-C286-4B7F-982F-D35E1E3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12E"/>
                </a:solidFill>
              </a:defRPr>
            </a:pPr>
            <a:r>
              <a:rPr sz="1350" b="1" i="0">
                <a:solidFill>
                  <a:srgbClr val="17212E"/>
                </a:solidFill>
              </a:rPr>
              <a:t>İnsan onayı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580C7B-17AD-422C-B599-F36ACA08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0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978"/>
                </a:solidFill>
              </a:defRPr>
            </a:pPr>
            <a:r>
              <a:rPr sz="1200" b="0" i="0">
                <a:solidFill>
                  <a:srgbClr val="5D6978"/>
                </a:solidFill>
              </a:rPr>
              <a:t>prosedür · yerel taslak · kayıt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4A25A-1C43-4B1E-8DEF-E16A98D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C8794"/>
                </a:solidFill>
              </a:defRPr>
            </a:pPr>
            <a:r>
              <a:rPr sz="825" b="0" i="0">
                <a:solidFill>
                  <a:srgbClr val="7C8794"/>
                </a:solidFill>
              </a:rPr>
              <a:t>Uçtan uca: ham görüntü → kanıtlı bağlam → operatör kararı</a:t>
            </a:r>
          </a:p>
        </p:txBody>
      </p:sp>
    </p:spTree>
    <p:extLst>
      <p:ext uri="{BB962C8B-B14F-4D97-AF65-F5344CB8AC3E}">
        <p14:creationId xmlns:p14="http://schemas.microsoft.com/office/powerpoint/2010/main" val="149026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A7F54-2202-4FBB-96C3-C983D6E2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367FB-C735-4CFD-B7DC-53AF7D2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855BA-9E89-4B89-8B5F-D6F4AB4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B33"/>
                </a:solidFill>
              </a:defRPr>
            </a:pPr>
            <a:r>
              <a:rPr sz="1125" b="1" i="0">
                <a:solidFill>
                  <a:srgbClr val="081B33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6FC01-AE44-4724-BBAC-D757CA0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978"/>
                </a:solidFill>
              </a:defRPr>
            </a:pPr>
            <a:r>
              <a:rPr sz="900" b="0" i="0">
                <a:solidFill>
                  <a:srgbClr val="5D697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39A3E-B691-4154-959D-36E3AF2B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1B33"/>
                </a:solidFill>
              </a:defRPr>
            </a:pPr>
            <a:r>
              <a:rPr sz="2850" b="1" i="0">
                <a:solidFill>
                  <a:srgbClr val="081B33"/>
                </a:solidFill>
              </a:rPr>
              <a:t>İki sistem artık tek, kesintisiz deneyim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684B6-8C38-41F5-B6E9-CF449A6F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</a:defRPr>
            </a:pPr>
            <a:r>
              <a:rPr sz="1350" b="0" i="0">
                <a:solidFill>
                  <a:srgbClr val="5D6978"/>
                </a:solidFill>
              </a:rPr>
              <a:t>Ana üretim hattı; oturum bağlamı ve olay aydınlatma yetenekleriyle birleşti.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7bd74e45441fc"/>
          <a:stretch xmlns:a="http://schemas.openxmlformats.org/drawingml/2006/main"/>
        </p:blipFill>
        <p:spPr>
          <a:xfrm xmlns:a="http://schemas.openxmlformats.org/drawingml/2006/main">
            <a:off x="673100" y="1962150"/>
            <a:ext cx="7112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9790B-16B5-4235-80FE-1F0748FB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39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679C0-8A26-4CFD-8F73-A4DECDA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E78C2"/>
                </a:solidFill>
              </a:defRPr>
            </a:pPr>
            <a:r>
              <a:rPr sz="1050" b="1" i="0">
                <a:solidFill>
                  <a:srgbClr val="2E78C2"/>
                </a:solidFill>
              </a:rPr>
              <a:t>DOĞRU OTURUM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A19A9-CBBC-4AE7-BB86-C1E528D4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Her tarayıcı sekmesinin konuşma belleği ayrıdır.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BF93E-B4C1-4BC4-8D06-0B669125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A8DC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56537-D031-4B62-8490-A794C1F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A894"/>
                </a:solidFill>
              </a:defRPr>
            </a:pPr>
            <a:r>
              <a:rPr sz="1050" b="1" i="0">
                <a:solidFill>
                  <a:srgbClr val="28A894"/>
                </a:solidFill>
              </a:rPr>
              <a:t>DOĞRU KAMERA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CC23C-05E0-4E02-B515-7BBEA950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Soru, seçili akış ve olay kimliğine bağlanır.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992A7-0582-4E7A-85C2-2F4B546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390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A0386-8D61-4E97-83F8-FF35D29F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E78C2"/>
                </a:solidFill>
              </a:defRPr>
            </a:pPr>
            <a:r>
              <a:rPr sz="1050" b="1" i="0">
                <a:solidFill>
                  <a:srgbClr val="2E78C2"/>
                </a:solidFill>
              </a:rPr>
              <a:t>DOĞRU OLAY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01292-F400-496E-AA3A-5066E0B4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Belirsiz çoklu kamera isteğinde ajan önce netleştirir.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33098-9492-4E99-8FED-AE319D6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3390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0F541-FA4B-4BD4-8BBF-D351485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578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Bağlam korunur · kamera sınırı aşılmaz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76C47-0808-4C70-9AFB-D506C63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C8794"/>
                </a:solidFill>
              </a:defRPr>
            </a:pPr>
            <a:r>
              <a:rPr sz="825" b="0" i="0">
                <a:solidFill>
                  <a:srgbClr val="7C8794"/>
                </a:solidFill>
              </a:rPr>
              <a:t>Bir sorunun değeri, doğru görüntü bağlamında yanıtlandığında başlar.</a:t>
            </a:r>
          </a:p>
        </p:txBody>
      </p:sp>
    </p:spTree>
    <p:extLst>
      <p:ext uri="{BB962C8B-B14F-4D97-AF65-F5344CB8AC3E}">
        <p14:creationId xmlns:p14="http://schemas.microsoft.com/office/powerpoint/2010/main" val="1211491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23B06-6CCC-47B2-A608-2DA9151A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379A-8D29-4A99-93F5-F3556F1E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2908F-EE88-432A-93BB-065AC63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06A1C-3FB8-4C9F-922D-DB7EA683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DD0E5"/>
                </a:solidFill>
              </a:defRPr>
            </a:pPr>
            <a:r>
              <a:rPr sz="900" b="0" i="0">
                <a:solidFill>
                  <a:srgbClr val="BDD0E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D8034-118A-4D0D-9A3B-468D50A3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Ajan yalnız cevaplamaz; doğru soruyu da önerir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A32A2-9685-4FA4-B7F1-95A5D38E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8E8"/>
                </a:solidFill>
              </a:defRPr>
            </a:pPr>
            <a:r>
              <a:rPr sz="1350" b="0" i="0">
                <a:solidFill>
                  <a:srgbClr val="C9D8E8"/>
                </a:solidFill>
              </a:rPr>
              <a:t>“Olayı aydınlat” tek tıkla 3 genel + 2 kategori sorusunu açar.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9783b195e43e4"/>
          <a:stretch xmlns:a="http://schemas.openxmlformats.org/drawingml/2006/main"/>
        </p:blipFill>
        <p:spPr>
          <a:xfrm xmlns:a="http://schemas.openxmlformats.org/drawingml/2006/main">
            <a:off x="609600" y="2299097"/>
            <a:ext cx="5676900" cy="3193256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19B3B-A978-40F6-9CF4-67DE74D6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2B8EE"/>
                </a:solidFill>
              </a:defRPr>
            </a:pPr>
            <a:r>
              <a:rPr sz="975" b="1" i="0">
                <a:solidFill>
                  <a:srgbClr val="72B8EE"/>
                </a:solidFill>
              </a:rPr>
              <a:t>HER OLAYDA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C5F2A-FD4C-44D9-8B43-35C89206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658"/>
          </a:solidFill>
          <a:ln xmlns:a="http://schemas.openxmlformats.org/drawingml/2006/main" w="0">
            <a:solidFill>
              <a:srgbClr val="1736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5D2E-40D5-4E66-B253-F3271F33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Kim, kime / neye, ne yaptı?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5EE03-CFE5-4167-8B80-8E0BADBA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658"/>
          </a:solidFill>
          <a:ln xmlns:a="http://schemas.openxmlformats.org/drawingml/2006/main" w="0">
            <a:solidFill>
              <a:srgbClr val="1736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6C4DA-8DAA-4A49-B494-424DE51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Olayın tam zinciri nedir?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2B823-E70F-444A-B891-9F30873E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658"/>
          </a:solidFill>
          <a:ln xmlns:a="http://schemas.openxmlformats.org/drawingml/2006/main" w="0">
            <a:solidFill>
              <a:srgbClr val="1736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6C1DB-E5CE-4474-998C-7EFC5DE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Görüntü neyi kanıtlıyor?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934E3-C037-45AE-A191-9BB594D7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A84A"/>
                </a:solidFill>
              </a:defRPr>
            </a:pPr>
            <a:r>
              <a:rPr sz="975" b="1" i="0">
                <a:solidFill>
                  <a:srgbClr val="F2A84A"/>
                </a:solidFill>
              </a:rPr>
              <a:t>KATEGORİYE GÖRE · KAVGA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939D1-F823-4080-89F1-C8492530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440"/>
          </a:solidFill>
          <a:ln xmlns:a="http://schemas.openxmlformats.org/drawingml/2006/main" w="9525">
            <a:solidFill>
              <a:srgbClr val="7A62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B7107-729D-46A1-AE61-94472623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E2B7"/>
                </a:solidFill>
              </a:defRPr>
            </a:pPr>
            <a:r>
              <a:rPr sz="1200" b="1" i="0">
                <a:solidFill>
                  <a:srgbClr val="FFE2B7"/>
                </a:solidFill>
              </a:rPr>
              <a:t>Karşılıklı mı, tek taraflı mı?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1B4D5-F46F-465D-B4C3-E6D95A2B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440"/>
          </a:solidFill>
          <a:ln xmlns:a="http://schemas.openxmlformats.org/drawingml/2006/main" w="9525">
            <a:solidFill>
              <a:srgbClr val="7A62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FA545-8848-4759-806D-A19D27C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E2B7"/>
                </a:solidFill>
              </a:defRPr>
            </a:pPr>
            <a:r>
              <a:rPr sz="1200" b="1" i="0">
                <a:solidFill>
                  <a:srgbClr val="FFE2B7"/>
                </a:solidFill>
              </a:rPr>
              <a:t>Kim katıldı, kim müdahale etti?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56098-5062-418C-89FB-95E501FF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DD0E5"/>
                </a:solidFill>
              </a:defRPr>
            </a:pPr>
            <a:r>
              <a:rPr sz="1050" b="0" i="0">
                <a:solidFill>
                  <a:srgbClr val="BDD0E5"/>
                </a:solidFill>
              </a:rPr>
              <a:t>13 UCF-Crime odağı + üretim profilleri · kimlik / suçluluk çıkarımı yok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7CB41-3FD4-4F83-8255-89DB7F1C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C1D7"/>
                </a:solidFill>
              </a:defRPr>
            </a:pPr>
            <a:r>
              <a:rPr sz="825" b="0" i="0">
                <a:solidFill>
                  <a:srgbClr val="AAC1D7"/>
                </a:solidFill>
              </a:rPr>
              <a:t>Amaç daha çok konuşmak değil; eksik kanıtı daha hızlı bulmak.</a:t>
            </a:r>
          </a:p>
        </p:txBody>
      </p:sp>
    </p:spTree>
    <p:extLst>
      <p:ext uri="{BB962C8B-B14F-4D97-AF65-F5344CB8AC3E}">
        <p14:creationId xmlns:p14="http://schemas.microsoft.com/office/powerpoint/2010/main" val="1786039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0A8BD-4367-4A54-A904-A8B06724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251F2-5787-4E61-8016-FA9EED1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0F93F-8BED-4FD4-B53E-4FB72C6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B33"/>
                </a:solidFill>
              </a:defRPr>
            </a:pPr>
            <a:r>
              <a:rPr sz="1125" b="1" i="0">
                <a:solidFill>
                  <a:srgbClr val="081B33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B95A9-47EE-4066-925C-D0C01F7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978"/>
                </a:solidFill>
              </a:defRPr>
            </a:pPr>
            <a:r>
              <a:rPr sz="900" b="0" i="0">
                <a:solidFill>
                  <a:srgbClr val="5D697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C0668-6FDD-4E8B-9627-DC79FBA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1B33"/>
                </a:solidFill>
              </a:defRPr>
            </a:pPr>
            <a:r>
              <a:rPr sz="2850" b="1" i="0">
                <a:solidFill>
                  <a:srgbClr val="081B33"/>
                </a:solidFill>
              </a:rPr>
              <a:t>Bir iddia ancak kanıtı kadar güçlüdür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4801-C49D-4145-8A41-556C1DD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</a:defRPr>
            </a:pPr>
            <a:r>
              <a:rPr sz="1350" b="0" i="0">
                <a:solidFill>
                  <a:srgbClr val="5D6978"/>
                </a:solidFill>
              </a:rPr>
              <a:t>Aydınlatma çıktısı; destekleyen, zayıflatan ve kör noktada kalan bulguları ayırır.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39c1755be45f6"/>
          <a:stretch xmlns:a="http://schemas.openxmlformats.org/drawingml/2006/main"/>
        </p:blipFill>
        <p:spPr>
          <a:xfrm xmlns:a="http://schemas.openxmlformats.org/drawingml/2006/main">
            <a:off x="720725" y="1952625"/>
            <a:ext cx="7112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11862-987B-439E-BB0A-BDDC8A24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295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47B8C-4582-44DF-AC3B-AC99AB99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857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A894"/>
          </a:solidFill>
          <a:ln xmlns:a="http://schemas.openxmlformats.org/drawingml/2006/main" w="0">
            <a:solidFill>
              <a:srgbClr val="28A8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18D51-43ED-40F1-8387-1698C8B0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A894"/>
                </a:solidFill>
              </a:defRPr>
            </a:pPr>
            <a:r>
              <a:rPr sz="1050" b="1" i="0">
                <a:solidFill>
                  <a:srgbClr val="28A894"/>
                </a:solidFill>
              </a:rPr>
              <a:t>DESTEKLEYEN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94AC8-4397-49E7-B3BD-91AEC239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Doğrulanmış kare + zaman + iddia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44164-1823-4FA6-A577-B061894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3295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B2320-F1CA-49F5-BD58-B4A7F48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857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571DC-1473-4507-B57C-C8E7EDB4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A84A"/>
                </a:solidFill>
              </a:defRPr>
            </a:pPr>
            <a:r>
              <a:rPr sz="1050" b="1" i="0">
                <a:solidFill>
                  <a:srgbClr val="F2A84A"/>
                </a:solidFill>
              </a:rPr>
              <a:t>ZAYIFLATAN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01827-D8D9-4A5F-8CB6-0E8C9C0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671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Alternatif açıklama ve karşı kanıt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5A9EB-FE07-415A-AC7B-B9AD9E0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3295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2DF77-BFE5-4A35-8AB3-F23D6E1D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857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0">
            <a:solidFill>
              <a:srgbClr val="ED6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58E4A-0F92-4A25-93C4-A4B25055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D6A5A"/>
                </a:solidFill>
              </a:defRPr>
            </a:pPr>
            <a:r>
              <a:rPr sz="1050" b="1" i="0">
                <a:solidFill>
                  <a:srgbClr val="ED6A5A"/>
                </a:solidFill>
              </a:rPr>
              <a:t>KÖR NOKTA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7B1F3-456D-4623-BFEE-6832F66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910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E"/>
                </a:solidFill>
              </a:defRPr>
            </a:pPr>
            <a:r>
              <a:rPr sz="1200" b="0" i="0">
                <a:solidFill>
                  <a:srgbClr val="17212E"/>
                </a:solidFill>
              </a:rPr>
              <a:t>Görüntüden belirlenemeyen unsur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FBC78-5593-43AA-954B-6CA83CD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43550"/>
            <a:ext cx="32956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DE2C8-6262-4240-B0BE-D4C8ADDD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62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E78C2"/>
                </a:solidFill>
              </a:defRPr>
            </a:pPr>
            <a:r>
              <a:rPr sz="1050" b="1" i="0">
                <a:solidFill>
                  <a:srgbClr val="2E78C2"/>
                </a:solidFill>
              </a:rPr>
              <a:t>En güçlü kanıta tek tıkla git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C0C29-6F8F-4608-B944-31F79D0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C8794"/>
                </a:solidFill>
              </a:defRPr>
            </a:pPr>
            <a:r>
              <a:rPr sz="825" b="0" i="0">
                <a:solidFill>
                  <a:srgbClr val="7C8794"/>
                </a:solidFill>
              </a:rPr>
              <a:t>Fail-closed: kare kimliği veya zamanı uyuşmazsa iddia karar durumunu değiştiremez.</a:t>
            </a:r>
          </a:p>
        </p:txBody>
      </p:sp>
    </p:spTree>
    <p:extLst>
      <p:ext uri="{BB962C8B-B14F-4D97-AF65-F5344CB8AC3E}">
        <p14:creationId xmlns:p14="http://schemas.microsoft.com/office/powerpoint/2010/main" val="1414769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84318-F2ED-41AE-BDA1-4A26445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34C7F-96A5-4E39-83CD-16D6653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7F60-2662-4A09-969E-719585F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7602C-DB6E-462A-9016-47A7673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DD0E5"/>
                </a:solidFill>
              </a:defRPr>
            </a:pPr>
            <a:r>
              <a:rPr sz="900" b="0" i="0">
                <a:solidFill>
                  <a:srgbClr val="BDD0E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030CF-A43E-4137-8026-5E2FE6C7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Sistem önerir. İnsan düzeltir ve onaylar.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C4223-A396-4D24-A3E7-9A46673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8E8"/>
                </a:solidFill>
              </a:defRPr>
            </a:pPr>
            <a:r>
              <a:rPr sz="1350" b="0" i="0">
                <a:solidFill>
                  <a:srgbClr val="C9D8E8"/>
                </a:solidFill>
              </a:rPr>
              <a:t>Model orta risk diyebilir; operatör kanıta bakıp yüksek riske çıkarabilir.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aacfd4b8e406c"/>
          <a:stretch xmlns:a="http://schemas.openxmlformats.org/drawingml/2006/main"/>
        </p:blipFill>
        <p:spPr>
          <a:xfrm xmlns:a="http://schemas.openxmlformats.org/drawingml/2006/main">
            <a:off x="609600" y="2434233"/>
            <a:ext cx="3333750" cy="1875234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0E668-F376-4DC2-B290-58DEE35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2B8EE"/>
                </a:solidFill>
              </a:defRPr>
            </a:pPr>
            <a:r>
              <a:rPr sz="1200" b="1" i="0">
                <a:solidFill>
                  <a:srgbClr val="72B8EE"/>
                </a:solidFill>
              </a:rPr>
              <a:t>DÜZELT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12759-F601-4C2A-8977-BDD55AAD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7D7E7"/>
                </a:solidFill>
              </a:defRPr>
            </a:pPr>
            <a:r>
              <a:rPr sz="1125" b="0" i="0">
                <a:solidFill>
                  <a:srgbClr val="C7D7E7"/>
                </a:solidFill>
              </a:rPr>
              <a:t>Sınıf · risk · müdahale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9F559-BA24-47D1-BE14-14B9B03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2B8EE"/>
                </a:solidFill>
              </a:defRPr>
            </a:pPr>
            <a:r>
              <a:rPr sz="2250" b="1" i="0">
                <a:solidFill>
                  <a:srgbClr val="72B8EE"/>
                </a:solidFill>
              </a:rPr>
              <a:t>→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3ed71125e42e3"/>
          <a:stretch xmlns:a="http://schemas.openxmlformats.org/drawingml/2006/main"/>
        </p:blipFill>
        <p:spPr>
          <a:xfrm xmlns:a="http://schemas.openxmlformats.org/drawingml/2006/main">
            <a:off x="4362450" y="2434233"/>
            <a:ext cx="3333750" cy="1875234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82004-D0C1-4720-86CA-311B9088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2B8EE"/>
                </a:solidFill>
              </a:defRPr>
            </a:pPr>
            <a:r>
              <a:rPr sz="1200" b="1" i="0">
                <a:solidFill>
                  <a:srgbClr val="72B8EE"/>
                </a:solidFill>
              </a:rPr>
              <a:t>KAYDET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64DEA-8406-4EAE-819A-ED0E82D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7D7E7"/>
                </a:solidFill>
              </a:defRPr>
            </a:pPr>
            <a:r>
              <a:rPr sz="1125" b="0" i="0">
                <a:solidFill>
                  <a:srgbClr val="C7D7E7"/>
                </a:solidFill>
              </a:rPr>
              <a:t>Kalıcı insan kararı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34A4B-DD4A-4938-828C-3DF7C3A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480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2B8EE"/>
                </a:solidFill>
              </a:defRPr>
            </a:pPr>
            <a:r>
              <a:rPr sz="2250" b="1" i="0">
                <a:solidFill>
                  <a:srgbClr val="72B8EE"/>
                </a:solidFill>
              </a:rPr>
              <a:t>→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5284fa85d4e1c"/>
          <a:stretch xmlns:a="http://schemas.openxmlformats.org/drawingml/2006/main"/>
        </p:blipFill>
        <p:spPr>
          <a:xfrm xmlns:a="http://schemas.openxmlformats.org/drawingml/2006/main">
            <a:off x="8115300" y="2434233"/>
            <a:ext cx="3333750" cy="1875234"/>
          </a:xfrm>
          <a:prstGeom xmlns:a="http://schemas.openxmlformats.org/drawingml/2006/main" prst="roundRect">
            <a:avLst>
              <a:gd name="adj" fmla="val 447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42656-92D9-4C5D-8516-FEE85BA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2A84A"/>
                </a:solidFill>
              </a:defRPr>
            </a:pPr>
            <a:r>
              <a:rPr sz="1200" b="1" i="0">
                <a:solidFill>
                  <a:srgbClr val="F2A84A"/>
                </a:solidFill>
              </a:rPr>
              <a:t>TASLAK ÜRET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061E9-0DB0-421A-BECA-EA1D2796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7D7E7"/>
                </a:solidFill>
              </a:defRPr>
            </a:pPr>
            <a:r>
              <a:rPr sz="1125" b="0" i="0">
                <a:solidFill>
                  <a:srgbClr val="C7D7E7"/>
                </a:solidFill>
              </a:rPr>
              <a:t>Dış kuruma gönderilmez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12558-8A76-4DBA-A086-E012A2B4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29300"/>
            <a:ext cx="3848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external_side_effect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989F0-B0FF-46D0-BC5D-5E21E04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C1D7"/>
                </a:solidFill>
              </a:defRPr>
            </a:pPr>
            <a:r>
              <a:rPr sz="825" b="0" i="0">
                <a:solidFill>
                  <a:srgbClr val="AAC1D7"/>
                </a:solidFill>
              </a:rPr>
              <a:t>Otomasyon yetkiyi büyütmez; her kritik dış aksiyon insan kapısından geçer.</a:t>
            </a:r>
          </a:p>
        </p:txBody>
      </p:sp>
    </p:spTree>
    <p:extLst>
      <p:ext uri="{BB962C8B-B14F-4D97-AF65-F5344CB8AC3E}">
        <p14:creationId xmlns:p14="http://schemas.microsoft.com/office/powerpoint/2010/main" val="1274163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257782-8140-4EBB-8C62-2ADAEF2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BA34-2E89-4F95-B401-9FEA589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C82A1-CC0E-482D-A155-04384499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1B33"/>
                </a:solidFill>
              </a:defRPr>
            </a:pPr>
            <a:r>
              <a:rPr sz="1125" b="1" i="0">
                <a:solidFill>
                  <a:srgbClr val="081B33"/>
                </a:solidFill>
              </a:rPr>
              <a:t>DÖRTGÖZ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78599-3CD8-4FB5-BFA9-33D5B212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978"/>
                </a:solidFill>
              </a:defRPr>
            </a:pPr>
            <a:r>
              <a:rPr sz="900" b="0" i="0">
                <a:solidFill>
                  <a:srgbClr val="5D697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BFB8-520D-426C-B1F4-D8E742E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81B33"/>
                </a:solidFill>
              </a:defRPr>
            </a:pPr>
            <a:r>
              <a:rPr sz="2850" b="1" i="0">
                <a:solidFill>
                  <a:srgbClr val="081B33"/>
                </a:solidFill>
              </a:rPr>
              <a:t>İddiamızı yalnız anlatmadık; ölçtük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212F4-D155-4FC8-ABC1-ED8E9DB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978"/>
                </a:solidFill>
              </a:defRPr>
            </a:pPr>
            <a:r>
              <a:rPr sz="1350" b="0" i="0">
                <a:solidFill>
                  <a:srgbClr val="5D6978"/>
                </a:solidFill>
              </a:rPr>
              <a:t>Tek bir iyi koşu yerine tekrar bandını, kör seti ve çalışma hızını birlikte raporluyoruz.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D956-58A6-4B1B-A680-7615C2B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83B8D-1C2E-4B80-9F7E-94B1097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C5D48-EF63-4B9F-9DB4-3AA8CA1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290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CE980-0FAE-4E1D-9B24-319385E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E78C2"/>
                </a:solidFill>
              </a:defRPr>
            </a:pPr>
            <a:r>
              <a:rPr sz="975" b="1" i="0">
                <a:solidFill>
                  <a:srgbClr val="2E78C2"/>
                </a:solidFill>
              </a:rPr>
              <a:t>KLIP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70819-3953-4AB3-A767-373CD38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10,3 saatlik resmî test bölmesi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2E9B7-25AE-49C7-A320-B869AFB1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3FF64-90E2-4B3C-87ED-58B8096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A894"/>
          </a:solidFill>
          <a:ln xmlns:a="http://schemas.openxmlformats.org/drawingml/2006/main" w="0">
            <a:solidFill>
              <a:srgbClr val="28A89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D01F9-DCC2-48D9-B554-7D635E5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%85,0–87,9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E3A26-0440-494B-950A-2679046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A894"/>
                </a:solidFill>
              </a:defRPr>
            </a:pPr>
            <a:r>
              <a:rPr sz="975" b="1" i="0">
                <a:solidFill>
                  <a:srgbClr val="28A894"/>
                </a:solidFill>
              </a:rPr>
              <a:t>YAKALAMA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EFCC7-0766-45B5-B694-111ACC1B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dört üretim koşusunun bandı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759F3-FDB9-40F5-A904-1664787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64AA1-13BE-4E5D-95FC-D2517485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665FE-BB8A-4764-B099-358FFD9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%12,0–18,7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821A6-FBFC-4E2F-A3A0-24EF7E4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A84A"/>
                </a:solidFill>
              </a:defRPr>
            </a:pPr>
            <a:r>
              <a:rPr sz="975" b="1" i="0">
                <a:solidFill>
                  <a:srgbClr val="F2A84A"/>
                </a:solidFill>
              </a:rPr>
              <a:t>YANLIŞ ALARM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78A04-495B-4CA0-A142-94DEC22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eyleme konu normal klip bandı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119E9-470C-4833-8932-895011F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23AC6-73B1-4571-A186-DD02A9D7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75C5"/>
          </a:solidFill>
          <a:ln xmlns:a="http://schemas.openxmlformats.org/drawingml/2006/main" w="0">
            <a:solidFill>
              <a:srgbClr val="6575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45AD8-F08E-4E90-A291-D5081E0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%90,0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86382-5A2F-4AE5-ACF0-22C969C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575C5"/>
                </a:solidFill>
              </a:defRPr>
            </a:pPr>
            <a:r>
              <a:rPr sz="975" b="1" i="0">
                <a:solidFill>
                  <a:srgbClr val="6575C5"/>
                </a:solidFill>
              </a:rPr>
              <a:t>KÖR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4A549-0ED6-444C-9891-2363F3D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80 klipte yakalama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BFE20-9D8A-442B-A7FE-208132E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514C7-CCEB-411B-B020-BAAAE22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6A5A"/>
          </a:solidFill>
          <a:ln xmlns:a="http://schemas.openxmlformats.org/drawingml/2006/main" w="0">
            <a:solidFill>
              <a:srgbClr val="ED6A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F0A43-0BEB-4A9A-A29F-D29BFEDC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11,29×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72FD4-2872-4B3D-B8FE-857EC12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D6A5A"/>
                </a:solidFill>
              </a:defRPr>
            </a:pPr>
            <a:r>
              <a:rPr sz="975" b="1" i="0">
                <a:solidFill>
                  <a:srgbClr val="ED6A5A"/>
                </a:solidFill>
              </a:rPr>
              <a:t>GERÇEK ZAMAN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1E0C0C-E6F5-4C63-B169-FB7837E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482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10,3 saat video / 54,8 dakika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F77210-F351-4FB6-8667-9AF4C93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E06D88-AA02-4728-8B3C-1751289C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D"/>
          </a:solidFill>
          <a:ln xmlns:a="http://schemas.openxmlformats.org/drawingml/2006/main" w="0">
            <a:solidFill>
              <a:srgbClr val="102B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E308DA-5580-4B86-BDD6-E865A1BC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81B33"/>
                </a:solidFill>
              </a:defRPr>
            </a:pPr>
            <a:r>
              <a:rPr sz="2625" b="1" i="0">
                <a:solidFill>
                  <a:srgbClr val="081B33"/>
                </a:solidFill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52189C-CCBE-47C7-91C6-1B138C53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B4D"/>
                </a:solidFill>
              </a:defRPr>
            </a:pPr>
            <a:r>
              <a:rPr sz="975" b="1" i="0">
                <a:solidFill>
                  <a:srgbClr val="102B4D"/>
                </a:solidFill>
              </a:rPr>
              <a:t>KAMERA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C5C273-2833-41E2-B0CC-0DE8DADB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D6978"/>
                </a:solidFill>
              </a:defRPr>
            </a:pPr>
            <a:r>
              <a:rPr sz="1125" b="0" i="0">
                <a:solidFill>
                  <a:srgbClr val="5D6978"/>
                </a:solidFill>
              </a:rPr>
              <a:t>0 düşürme · ≤18 sn gecikme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CF4FE-57EF-4890-95D7-6C82BC5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C8794"/>
                </a:solidFill>
              </a:defRPr>
            </a:pPr>
            <a:r>
              <a:rPr sz="825" b="0" i="0">
                <a:solidFill>
                  <a:srgbClr val="7C8794"/>
                </a:solidFill>
              </a:rPr>
              <a:t>Sınırları da raporluyoruz: kısa olaylar ile hırsızlık alt sınıfları hâlâ zayıf.</a:t>
            </a:r>
          </a:p>
        </p:txBody>
      </p:sp>
    </p:spTree>
    <p:extLst>
      <p:ext uri="{BB962C8B-B14F-4D97-AF65-F5344CB8AC3E}">
        <p14:creationId xmlns:p14="http://schemas.microsoft.com/office/powerpoint/2010/main" val="1595554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cdc21d304471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73FA9-EFE9-416B-B66F-4051922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3"/>
          </a:solidFill>
          <a:ln xmlns:a="http://schemas.openxmlformats.org/drawingml/2006/main" w="0">
            <a:solidFill>
              <a:srgbClr val="08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10EA9-4474-4C55-A446-7CB4D958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8C2"/>
          </a:solidFill>
          <a:ln xmlns:a="http://schemas.openxmlformats.org/drawingml/2006/main" w="0">
            <a:solidFill>
              <a:srgbClr val="2E78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6EC3B-F0C4-46AF-823E-CF9784C0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84A"/>
          </a:solidFill>
          <a:ln xmlns:a="http://schemas.openxmlformats.org/drawingml/2006/main" w="0">
            <a:solidFill>
              <a:srgbClr val="F2A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65EAD-CD0D-44FC-8EF6-B374F9E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DÖRTGÖZ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D1223-6E54-4133-B9EE-FF16DC6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DD0E5"/>
                </a:solidFill>
              </a:defRPr>
            </a:pPr>
            <a:r>
              <a:rPr sz="900" b="0" i="0">
                <a:solidFill>
                  <a:srgbClr val="BDD0E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A7AE4-CB0C-4A76-8F7A-21A075E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Dörtgöz görüntüyü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karara dönüştürür.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80CF1-D797-4D0F-9C96-58FE30EB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2A84A"/>
                </a:solidFill>
              </a:defRPr>
            </a:pPr>
            <a:r>
              <a:rPr sz="2400" b="1" i="0">
                <a:solidFill>
                  <a:srgbClr val="F2A84A"/>
                </a:solidFill>
              </a:rPr>
              <a:t>Ama kararı vermez.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F22E6-CB38-42D7-9A4C-FCB3F51D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9D8E8"/>
                </a:solidFill>
              </a:defRPr>
            </a:pPr>
            <a:r>
              <a:rPr sz="1500" b="0" i="0">
                <a:solidFill>
                  <a:srgbClr val="C9D8E8"/>
                </a:solidFill>
              </a:rPr>
              <a:t>Doğru an · doğru kamera · doğrulanmış kanıt · insan onayı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8FB38-732A-40D6-B8D6-8164E3C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6286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A61"/>
          </a:solidFill>
          <a:ln xmlns:a="http://schemas.openxmlformats.org/drawingml/2006/main" w="0">
            <a:solidFill>
              <a:srgbClr val="183A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BCE8F-333B-47A4-9932-86ACC144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601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CANLI DEMO  →  OLAY  →  SORU  →  KANIT  →  KARAR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891FB-46FA-4686-9B4B-3787280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AC1D7"/>
                </a:solidFill>
              </a:defRPr>
            </a:pPr>
            <a:r>
              <a:rPr sz="825" b="0" i="0">
                <a:solidFill>
                  <a:srgbClr val="AAC1D7"/>
                </a:solidFill>
              </a:rPr>
              <a:t>Dörtgöz · ajan tabanlı video analiz ve karar destek sistemi</a:t>
            </a:r>
          </a:p>
        </p:txBody>
      </p:sp>
    </p:spTree>
    <p:extLst>
      <p:ext uri="{BB962C8B-B14F-4D97-AF65-F5344CB8AC3E}">
        <p14:creationId xmlns:p14="http://schemas.microsoft.com/office/powerpoint/2010/main" val="314473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2026-08-26T14:13:11.4720000Z</dcterms:created>
  <dcterms:modified xsi:type="dcterms:W3CDTF">2026-08-26T14:13:11.4720000Z</dcterms:modified>
</coreProperties>
</file>