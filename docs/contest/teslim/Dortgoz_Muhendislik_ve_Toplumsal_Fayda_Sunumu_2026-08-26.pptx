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1476738e5d4cc7" /><Relationship Type="http://schemas.openxmlformats.org/officeDocument/2006/relationships/extended-properties" Target="/docProps/app.xml" Id="R8ffad0b03c024b12" /><Relationship Type="http://schemas.openxmlformats.org/officeDocument/2006/relationships/officeDocument" Target="/ppt/presentation.xml" Id="R454c6aa368ed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d42dff45264ca0"/>
  </p:sldMasterIdLst>
  <p:notesMasterIdLst>
    <p:notesMasterId xmlns:r="http://schemas.openxmlformats.org/officeDocument/2006/relationships" r:id="R5caee305345c4c99"/>
  </p:notesMasterIdLst>
  <p:sldIdLst>
    <p:sldId xmlns:r="http://schemas.openxmlformats.org/officeDocument/2006/relationships" id="256" r:id="R0ed909c3bed44554"/>
    <p:sldId xmlns:r="http://schemas.openxmlformats.org/officeDocument/2006/relationships" id="257" r:id="Rb56346e16a5443c7"/>
    <p:sldId xmlns:r="http://schemas.openxmlformats.org/officeDocument/2006/relationships" id="258" r:id="R06b6e97a03934ad0"/>
    <p:sldId xmlns:r="http://schemas.openxmlformats.org/officeDocument/2006/relationships" id="259" r:id="R726ffe88295a4c2b"/>
    <p:sldId xmlns:r="http://schemas.openxmlformats.org/officeDocument/2006/relationships" id="260" r:id="Rdcb452b674434a96"/>
    <p:sldId xmlns:r="http://schemas.openxmlformats.org/officeDocument/2006/relationships" id="261" r:id="Rcb1d0ba5ca9f4367"/>
    <p:sldId xmlns:r="http://schemas.openxmlformats.org/officeDocument/2006/relationships" id="262" r:id="R37575979ada047f8"/>
    <p:sldId xmlns:r="http://schemas.openxmlformats.org/officeDocument/2006/relationships" id="263" r:id="R93147d6c47354669"/>
    <p:sldId xmlns:r="http://schemas.openxmlformats.org/officeDocument/2006/relationships" id="264" r:id="Ra9ef5fc6616d405d"/>
    <p:sldId xmlns:r="http://schemas.openxmlformats.org/officeDocument/2006/relationships" id="265" r:id="R622989c40e4a4801"/>
    <p:sldId xmlns:r="http://schemas.openxmlformats.org/officeDocument/2006/relationships" id="266" r:id="R78c21a218c5d4d40"/>
    <p:sldId xmlns:r="http://schemas.openxmlformats.org/officeDocument/2006/relationships" id="267" r:id="R9222b97cb70c4c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740e10c234661" /><Relationship Type="http://schemas.openxmlformats.org/officeDocument/2006/relationships/slideMaster" Target="/ppt/slideMasters/slideMaster1.xml" Id="Rd7d42dff45264ca0" /><Relationship Type="http://schemas.openxmlformats.org/officeDocument/2006/relationships/notesMaster" Target="/ppt/notesMasters/notesMaster1.xml" Id="R5caee305345c4c99" /><Relationship Type="http://schemas.openxmlformats.org/officeDocument/2006/relationships/presProps" Target="/ppt/presProps.xml" Id="Rde37cf16fed94dea" /><Relationship Type="http://schemas.openxmlformats.org/officeDocument/2006/relationships/tableStyles" Target="/ppt/tableStyles.xml" Id="Rff0d6fc393034e77" /><Relationship Type="http://schemas.openxmlformats.org/officeDocument/2006/relationships/slide" Target="/ppt/slides/slide1.xml" Id="R0ed909c3bed44554" /><Relationship Type="http://schemas.openxmlformats.org/officeDocument/2006/relationships/slide" Target="/ppt/slides/slide2.xml" Id="Rb56346e16a5443c7" /><Relationship Type="http://schemas.openxmlformats.org/officeDocument/2006/relationships/slide" Target="/ppt/slides/slide3.xml" Id="R06b6e97a03934ad0" /><Relationship Type="http://schemas.openxmlformats.org/officeDocument/2006/relationships/slide" Target="/ppt/slides/slide4.xml" Id="R726ffe88295a4c2b" /><Relationship Type="http://schemas.openxmlformats.org/officeDocument/2006/relationships/slide" Target="/ppt/slides/slide5.xml" Id="Rdcb452b674434a96" /><Relationship Type="http://schemas.openxmlformats.org/officeDocument/2006/relationships/slide" Target="/ppt/slides/slide6.xml" Id="Rcb1d0ba5ca9f4367" /><Relationship Type="http://schemas.openxmlformats.org/officeDocument/2006/relationships/slide" Target="/ppt/slides/slide7.xml" Id="R37575979ada047f8" /><Relationship Type="http://schemas.openxmlformats.org/officeDocument/2006/relationships/slide" Target="/ppt/slides/slide8.xml" Id="R93147d6c47354669" /><Relationship Type="http://schemas.openxmlformats.org/officeDocument/2006/relationships/slide" Target="/ppt/slides/slide9.xml" Id="Ra9ef5fc6616d405d" /><Relationship Type="http://schemas.openxmlformats.org/officeDocument/2006/relationships/slide" Target="/ppt/slides/slide10.xml" Id="R622989c40e4a4801" /><Relationship Type="http://schemas.openxmlformats.org/officeDocument/2006/relationships/slide" Target="/ppt/slides/slide11.xml" Id="R78c21a218c5d4d40" /><Relationship Type="http://schemas.openxmlformats.org/officeDocument/2006/relationships/slide" Target="/ppt/slides/slide12.xml" Id="R9222b97cb70c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e2d055037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d807a2eee4b7c" /><Relationship Type="http://schemas.openxmlformats.org/officeDocument/2006/relationships/notesMaster" Target="/ppt/notesMasters/notesMaster1.xml" Id="R5ab3d5b00c5849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2ac6939754a37" /><Relationship Type="http://schemas.openxmlformats.org/officeDocument/2006/relationships/notesMaster" Target="/ppt/notesMasters/notesMaster1.xml" Id="R906e3a2bff3e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0a07fc34654c8a" /><Relationship Type="http://schemas.openxmlformats.org/officeDocument/2006/relationships/notesMaster" Target="/ppt/notesMasters/notesMaster1.xml" Id="Rd1a91212540c42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34c71262dd480e" /><Relationship Type="http://schemas.openxmlformats.org/officeDocument/2006/relationships/notesMaster" Target="/ppt/notesMasters/notesMaster1.xml" Id="R13eb26804ade47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955de380e54d57" /><Relationship Type="http://schemas.openxmlformats.org/officeDocument/2006/relationships/notesMaster" Target="/ppt/notesMasters/notesMaster1.xml" Id="R552fc20d2fdc40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c792c17fc54a41" /><Relationship Type="http://schemas.openxmlformats.org/officeDocument/2006/relationships/notesMaster" Target="/ppt/notesMasters/notesMaster1.xml" Id="Ra5105a4113814e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f6d41937043c6" /><Relationship Type="http://schemas.openxmlformats.org/officeDocument/2006/relationships/notesMaster" Target="/ppt/notesMasters/notesMaster1.xml" Id="R151a0999af15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da654c58204925" /><Relationship Type="http://schemas.openxmlformats.org/officeDocument/2006/relationships/notesMaster" Target="/ppt/notesMasters/notesMaster1.xml" Id="R7ba595728a324a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ab81b874f24dab" /><Relationship Type="http://schemas.openxmlformats.org/officeDocument/2006/relationships/notesMaster" Target="/ppt/notesMasters/notesMaster1.xml" Id="R4d9b0689b8cd4a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7ab486435f4031" /><Relationship Type="http://schemas.openxmlformats.org/officeDocument/2006/relationships/notesMaster" Target="/ppt/notesMasters/notesMaster1.xml" Id="R20ed038c2adb43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f866a3fdb747e2" /><Relationship Type="http://schemas.openxmlformats.org/officeDocument/2006/relationships/notesMaster" Target="/ppt/notesMasters/notesMaster1.xml" Id="R40137e8248a44e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ca77382d194438" /><Relationship Type="http://schemas.openxmlformats.org/officeDocument/2006/relationships/notesMaster" Target="/ppt/notesMasters/notesMaster1.xml" Id="R74dec6c28b96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Dörtgöz, çoklu kamera akışında kritik olayı seçer. Kanıtı doğrular. Olayı operatöre gösterir. Sistem son kararı operatöre bırakır.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https://www.pexels.com/photo/a-man-looking-at-multiple-monitors-11783119/</a:t>
            </a:r>
          </a:p>
          <a:p xmlns:a="http://schemas.openxmlformats.org/drawingml/2006/main">
            <a:r>
              <a:t>- repo: docs/knowledge/project-state.md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Sorun operatörün yeteneği değil, aynı anda izlenmesi gereken akış sayısıdır. Dörtgöz kritik pencereyi öne alır. Ekrandaki 25 kamera arayüz kapasitesidir. Ölçülen güvenli analiz kapasitesi 9 kameradır.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docs/demo/kareler/14-canli-coklu-kamera.png</a:t>
            </a:r>
          </a:p>
          <a:p xmlns:a="http://schemas.openxmlformats.org/drawingml/2006/main">
            <a:r>
              <a:t>- repo: docs/demo/DEMO_SENARYOSU.md#bölüm-9-ölçek-çoklu-kamera-820-900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Sistem üç iş yapar: riskli pencereyi seçer, kanıtı doğrular ve operatöre gösterir. Dış müdahale kararı operatör ve kurum prosedüründedir.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https://www.pexels.com/photo/security-control-room-with-diverse-team-monitoring-30481728/</a:t>
            </a:r>
          </a:p>
          <a:p xmlns:a="http://schemas.openxmlformats.org/drawingml/2006/main">
            <a:r>
              <a:t>- repo: docs/MIMARI.md#ajan-bileşenleri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Sınırlar yalnız metin değildir. Ajan insan incelemesi yoksa dış aksiyon aracını çalıştıramaz. Onaydan sonra da yalnız yerel taslak hazırlanır.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docs/demo/kareler/07-yetki-siniri.png</a:t>
            </a:r>
          </a:p>
          <a:p xmlns:a="http://schemas.openxmlformats.org/drawingml/2006/main">
            <a:r>
              <a:t>- repo: docs/interface_design.md</a:t>
            </a:r>
          </a:p>
          <a:p xmlns:a="http://schemas.openxmlformats.org/drawingml/2006/main">
            <a:r>
              <a:t>- repo: backend/dortgoz/agent/actuators.py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Video zaman bilgisiyle alınır. Screening gerekli pencereleri seçer. VLM olayı çıkarır. Evidence Validator kare ve iddiayı eşleştirir. Ajan seçili kamera ve olay bağlamında çalışır. Son karar operatöre aittir.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docs/MIMARI.md#uçtan-uca-akış</a:t>
            </a:r>
          </a:p>
          <a:p xmlns:a="http://schemas.openxmlformats.org/drawingml/2006/main">
            <a:r>
              <a:t>- repo: docs/MIMARI.md#model-rolleri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Bileşenleri isim olarak saymayın. Her bileşenin hangi sorunu azalttığını söyleyin. Lisans kapısı nettir: yalnız Apache-2.0 ve MIT bileşenler kullanılır. AGPL bileşenler dışlanır.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docs/MIMARI.md</a:t>
            </a:r>
          </a:p>
          <a:p xmlns:a="http://schemas.openxmlformats.org/drawingml/2006/main">
            <a:r>
              <a:t>- repo: docs/knowledge/project-state.md#karar-günlüğü</a:t>
            </a:r>
          </a:p>
          <a:p xmlns:a="http://schemas.openxmlformats.org/drawingml/2006/main">
            <a:r>
              <a:t>- repo: THIRD_PARTY_NOTICES.md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Screening, ağır model çağrısından önce boş ve düşük değerli pencereleri eler. Ölçülen sonuç 11,29 kat gerçek zaman hızıdır. Tam üretim bölümünde 290 klip işlendi ve terminal hata oluşmadı.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docs/demo/kareler/02-analiz-akiyor.png</a:t>
            </a:r>
          </a:p>
          <a:p xmlns:a="http://schemas.openxmlformats.org/drawingml/2006/main">
            <a:r>
              <a:t>- repo: docs/demo/DEMO_SENARYOSU.md#anlatılacak-sayılar-ezber-kartı</a:t>
            </a:r>
          </a:p>
          <a:p xmlns:a="http://schemas.openxmlformats.org/drawingml/2006/main">
            <a:r>
              <a:t>- repo: docs/BENCHMARK_REPORT.md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Ajan her olayda üç genel soru üretir. Seçili kategoriye göre iki ek soru üretir. Araç çağrıları oturum, kamera ve olay kimliğiyle sınırlandırılır.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docs/demo/kareler/04-sohbet-arac-kullanimi.png</a:t>
            </a:r>
          </a:p>
          <a:p xmlns:a="http://schemas.openxmlformats.org/drawingml/2006/main">
            <a:r>
              <a:t>- repo: frontend/src/lib/investigationQuestions.ts</a:t>
            </a:r>
          </a:p>
          <a:p xmlns:a="http://schemas.openxmlformats.org/drawingml/2006/main">
            <a:r>
              <a:t>- repo: backend/dortgoz/agent/tools.py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Olay kaydı model çıktısını, kanıtı ve insan kararını ayrı saklar. Operatör risk seviyesini değiştirebilir. Değişiklik zaman ve kullanıcı bilgisiyle kaydedilir.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docs/demo/kareler/08-olay-inceleme-merkezi.png</a:t>
            </a:r>
          </a:p>
          <a:p xmlns:a="http://schemas.openxmlformats.org/drawingml/2006/main">
            <a:r>
              <a:t>- repo: docs/demo/kareler/09-operator-duzeltmesi.png</a:t>
            </a:r>
          </a:p>
          <a:p xmlns:a="http://schemas.openxmlformats.org/drawingml/2006/main">
            <a:r>
              <a:t>- repo: docs/interface_design.md#anomali-nöbet-kuyruğu-insan-döngüde-karar-katmanı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Yakalama ve yanlış alarm bandını birlikte verin. Kör set sonucunu ayrı belirtin. Dokuz kamera kapasitesi ölçülen sınırdır. Kısa olaylar ve hırsızlık alt sınıfları bilinen zayıflıklardır.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docs/demo/DEMO_SENARYOSU.md#anlatılacak-sayılar-ezber-kartı</a:t>
            </a:r>
          </a:p>
          <a:p xmlns:a="http://schemas.openxmlformats.org/drawingml/2006/main">
            <a:r>
              <a:t>- repo: docs/BENCHMARK_REPORT.md#10-üretim-sonuçları</a:t>
            </a:r>
          </a:p>
          <a:p xmlns:a="http://schemas.openxmlformats.org/drawingml/2006/main">
            <a:r>
              <a:t>- repo: docs/MIMARI.md#bilinen-sınırlar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alanlar mevcut kurulum değildir. Hedef kullanım örnekleridir. Her sahada kamera açısı, normal durum, eşik ve kurum prosedürü ayrı doğrulanmalıdır.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docs/demo/kareler/01-konsol-bos.png</a:t>
            </a:r>
          </a:p>
          <a:p xmlns:a="http://schemas.openxmlformats.org/drawingml/2006/main">
            <a:r>
              <a:t>- repo: docs/knowledge/project-state.md</a:t>
            </a:r>
          </a:p>
          <a:p xmlns:a="http://schemas.openxmlformats.org/drawingml/2006/main">
            <a:r>
              <a:t>- repo: docs/interface_design.md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 cümlesi nettir: Dörtgöz operatörün yerine geçmez. Kritik olayı daha hızlı bulmasına ve doğrulanmış kanıtla değerlendirmesine yardımcı olur.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https://www.pexels.com/photo/advanced-control-room-in-el-agustino-lima-32529341/</a:t>
            </a:r>
          </a:p>
          <a:p xmlns:a="http://schemas.openxmlformats.org/drawingml/2006/main">
            <a:r>
              <a:t>- repo: docs/demo/DEMO_SENARYOSU.md#bölüm-10-ölçüm-ve-kapanış-900-930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e0d2dbbe14f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1ffaea4a114167" /><Relationship Type="http://schemas.openxmlformats.org/officeDocument/2006/relationships/slideLayout" Target="/ppt/slideLayouts/slideLayout1.xml" Id="Rc6a6287b68e9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6287b68e9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bd04d0ebd4527" /><Relationship Type="http://schemas.openxmlformats.org/officeDocument/2006/relationships/image" Target="/ppt/media/image.jpeg" Id="R61eafaa3e1ae435c" /><Relationship Type="http://schemas.openxmlformats.org/officeDocument/2006/relationships/notesSlide" Target="/ppt/notesSlides/notesSlide1.xml" Id="Rb78ad7ca052245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fcf08eb9f449d" /><Relationship Type="http://schemas.openxmlformats.org/officeDocument/2006/relationships/image" Target="/ppt/media/image.png" Id="R3f12d9e522ba4cef" /><Relationship Type="http://schemas.openxmlformats.org/officeDocument/2006/relationships/notesSlide" Target="/ppt/notesSlides/notesSlide2.xml" Id="R35071b104077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32ae59a64d97" /><Relationship Type="http://schemas.openxmlformats.org/officeDocument/2006/relationships/image" Target="/ppt/media/image2.jpeg" Id="R83b0086f8e81427d" /><Relationship Type="http://schemas.openxmlformats.org/officeDocument/2006/relationships/notesSlide" Target="/ppt/notesSlides/notesSlide3.xml" Id="R5f9c35cbfe8141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cb8de88864c35" /><Relationship Type="http://schemas.openxmlformats.org/officeDocument/2006/relationships/image" Target="/ppt/media/image2.png" Id="Ra4a6c37516a54b70" /><Relationship Type="http://schemas.openxmlformats.org/officeDocument/2006/relationships/notesSlide" Target="/ppt/notesSlides/notesSlide4.xml" Id="R1fd6d01d1f214e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812599344bf5" /><Relationship Type="http://schemas.openxmlformats.org/officeDocument/2006/relationships/notesSlide" Target="/ppt/notesSlides/notesSlide5.xml" Id="Rd63872741d0a4e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70c84f9a54d11" /><Relationship Type="http://schemas.openxmlformats.org/officeDocument/2006/relationships/notesSlide" Target="/ppt/notesSlides/notesSlide6.xml" Id="Rbcafece1e3554e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f9a9188fd472a" /><Relationship Type="http://schemas.openxmlformats.org/officeDocument/2006/relationships/image" Target="/ppt/media/image3.png" Id="Rd431d7596a0e44b4" /><Relationship Type="http://schemas.openxmlformats.org/officeDocument/2006/relationships/notesSlide" Target="/ppt/notesSlides/notesSlide7.xml" Id="Rd9e7b5a43f2c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b362065e046b5" /><Relationship Type="http://schemas.openxmlformats.org/officeDocument/2006/relationships/image" Target="/ppt/media/image4.png" Id="R874faf3e1f514dd6" /><Relationship Type="http://schemas.openxmlformats.org/officeDocument/2006/relationships/notesSlide" Target="/ppt/notesSlides/notesSlide8.xml" Id="R91365be0aa8b44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d89cb0a724d4b" /><Relationship Type="http://schemas.openxmlformats.org/officeDocument/2006/relationships/image" Target="/ppt/media/image5.png" Id="Reae40d2a951b4c59" /><Relationship Type="http://schemas.openxmlformats.org/officeDocument/2006/relationships/image" Target="/ppt/media/image6.png" Id="R9d39f04b47b14141" /><Relationship Type="http://schemas.openxmlformats.org/officeDocument/2006/relationships/notesSlide" Target="/ppt/notesSlides/notesSlide9.xml" Id="Rc1545ffea2e545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19cf119784c30" /><Relationship Type="http://schemas.openxmlformats.org/officeDocument/2006/relationships/notesSlide" Target="/ppt/notesSlides/notesSlide10.xml" Id="Rbe0fff52a32548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27fabae54be6" /><Relationship Type="http://schemas.openxmlformats.org/officeDocument/2006/relationships/image" Target="/ppt/media/image7.png" Id="Ra90dd9c6906a4fb4" /><Relationship Type="http://schemas.openxmlformats.org/officeDocument/2006/relationships/notesSlide" Target="/ppt/notesSlides/notesSlide11.xml" Id="R70d3530e151246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6a60240064c86" /><Relationship Type="http://schemas.openxmlformats.org/officeDocument/2006/relationships/image" Target="/ppt/media/image3.jpeg" Id="R2f377688901845eb" /><Relationship Type="http://schemas.openxmlformats.org/officeDocument/2006/relationships/notesSlide" Target="/ppt/notesSlides/notesSlide12.xml" Id="R0ff1d1def729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afaa3e1ae435c"/>
          <a:srcRect xmlns:a="http://schemas.openxmlformats.org/drawingml/2006/main" l="20370" t="0" r="203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4AB94-AC53-4689-8AC4-5C0983B1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00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4"/>
          </a:solidFill>
          <a:ln xmlns:a="http://schemas.openxmlformats.org/drawingml/2006/main" w="0">
            <a:solidFill>
              <a:srgbClr val="123C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8A8D3-CE9F-4097-944E-C179661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C14D0-1BB6-4209-AEA9-82F09C6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5F30-FBD0-4666-8CE0-2D3CDF8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90027-2A9A-4815-B590-BEC14AB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2D7D0"/>
                </a:solidFill>
              </a:defRPr>
            </a:pPr>
            <a:r>
              <a:rPr sz="900" b="0" i="0">
                <a:solidFill>
                  <a:srgbClr val="C2D7D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7253E-0C3B-4CAE-8A7F-7FEE3D0E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33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Kritik kamera olayını</a:t>
            </a:r>
          </a:p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operatöre zamanında gösterir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C745C-7251-43F1-A63C-5ACD6003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6FC2AD"/>
                </a:solidFill>
              </a:defRPr>
            </a:pPr>
            <a:r>
              <a:rPr sz="2850" b="1" i="0">
                <a:solidFill>
                  <a:srgbClr val="6FC2AD"/>
                </a:solidFill>
              </a:rPr>
              <a:t>Dörtgöz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9BBA0-057B-40C0-95F4-F2CD094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5E0"/>
                </a:solidFill>
              </a:defRPr>
            </a:pPr>
            <a:r>
              <a:rPr sz="1500" b="0" i="0">
                <a:solidFill>
                  <a:srgbClr val="D6E5E0"/>
                </a:solidFill>
              </a:rPr>
              <a:t>Yerel çalışan, kanıt doğrulayan ve insan onayı kullanan video analiz sistemi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75188-5BF5-40D5-BA9A-4D536B1C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481-6909-4F09-8656-9D4BBF50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CEC7"/>
                </a:solidFill>
              </a:defRPr>
            </a:pPr>
            <a:r>
              <a:rPr sz="825" b="0" i="0">
                <a:solidFill>
                  <a:srgbClr val="B8CEC7"/>
                </a:solidFill>
              </a:rPr>
              <a:t>Mühendislik yaklaşımı ve toplumsal fayda · TEKNOFEST 2026</a:t>
            </a:r>
          </a:p>
        </p:txBody>
      </p:sp>
    </p:spTree>
    <p:extLst>
      <p:ext uri="{BB962C8B-B14F-4D97-AF65-F5344CB8AC3E}">
        <p14:creationId xmlns:p14="http://schemas.microsoft.com/office/powerpoint/2010/main" val="82983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C7800-F931-4419-83E4-0C74E735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DF49E-1F0B-4A70-9771-CECBED8D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D99EE-9243-462C-BFF3-E55D1E3F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6039C-A57F-4EBC-85CA-E9229CF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41E37-1443-4E9C-A310-F5218E6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Sorun: Operatör aynı anda tüm kameraları izleyemez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469BD-7751-4ACD-84B6-4AEFA01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Çok sayıda akış, uzun vardiya ve sürekli dikkat gereksinimi kritik anların kaçmasına neden olur.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2d9e522ba4cef"/>
          <a:stretch xmlns:a="http://schemas.openxmlformats.org/drawingml/2006/main"/>
        </p:blipFill>
        <p:spPr>
          <a:xfrm xmlns:a="http://schemas.openxmlformats.org/drawingml/2006/main">
            <a:off x="5391150" y="2173486"/>
            <a:ext cx="6191250" cy="3482578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9C465-D27D-4554-9C56-362546F6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806F"/>
                </a:solidFill>
              </a:defRPr>
            </a:pPr>
            <a:r>
              <a:rPr sz="1350" b="1" i="0">
                <a:solidFill>
                  <a:srgbClr val="1E806F"/>
                </a:solidFill>
              </a:rPr>
              <a:t>OPERATÖR YÜKÜ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E2E77-33F1-489C-A06F-F00971C3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51F"/>
                </a:solidFill>
              </a:defRPr>
            </a:pPr>
            <a:r>
              <a:rPr sz="2550" b="1" i="0">
                <a:solidFill>
                  <a:srgbClr val="10251F"/>
                </a:solidFill>
              </a:rPr>
              <a:t>Kamera sayısı arttıkça</a:t>
            </a:r>
          </a:p>
          <a:p xmlns:a="http://schemas.openxmlformats.org/drawingml/2006/main">
            <a:pPr algn="l">
              <a:defRPr sz="2550" b="1" i="0">
                <a:solidFill>
                  <a:srgbClr val="10251F"/>
                </a:solidFill>
              </a:defRPr>
            </a:pPr>
            <a:r>
              <a:rPr sz="2550" b="1" i="0">
                <a:solidFill>
                  <a:srgbClr val="10251F"/>
                </a:solidFill>
              </a:rPr>
              <a:t>izleme yükü de artar.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488B8-E7A4-4200-A7C0-FE0449A5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C"/>
          </a:solidFill>
          <a:ln xmlns:a="http://schemas.openxmlformats.org/drawingml/2006/main" w="0">
            <a:solidFill>
              <a:srgbClr val="E8DD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6643B-D770-4B15-BF76-CC074D52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36F"/>
                </a:solidFill>
              </a:defRPr>
            </a:pPr>
            <a:r>
              <a:rPr sz="1425" b="0" i="0">
                <a:solidFill>
                  <a:srgbClr val="66736F"/>
                </a:solidFill>
              </a:rPr>
              <a:t>Dörtgöz öncelikli kamerayı bulur. Riskli pencereyi seçer. Operatöre inceleme kuyruğu verir.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1B11A-07F3-4BC7-9E07-6FF9E7FB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F3D"/>
                </a:solidFill>
              </a:defRPr>
            </a:pPr>
            <a:r>
              <a:rPr sz="1350" b="1" i="0">
                <a:solidFill>
                  <a:srgbClr val="C95F3D"/>
                </a:solidFill>
              </a:rPr>
              <a:t>Fayda: Kritik olayın fark edilme süresini kısaltmayı hedefler.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C62B0-79D4-41A9-BC29-4310D86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Çoklu kamera görüntüsü gerçek üretim konsolundan alınmıştır.</a:t>
            </a:r>
          </a:p>
        </p:txBody>
      </p:sp>
    </p:spTree>
    <p:extLst>
      <p:ext uri="{BB962C8B-B14F-4D97-AF65-F5344CB8AC3E}">
        <p14:creationId xmlns:p14="http://schemas.microsoft.com/office/powerpoint/2010/main" val="2121737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0086f8e81427d"/>
          <a:srcRect xmlns:a="http://schemas.openxmlformats.org/drawingml/2006/main" l="17778" t="0" r="1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0"/>
            <a:ext cx="6629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4C26-E88F-4A73-B9AD-1B985676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4"/>
          </a:solidFill>
          <a:ln xmlns:a="http://schemas.openxmlformats.org/drawingml/2006/main" w="0">
            <a:solidFill>
              <a:srgbClr val="123C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3B1E7-4B0C-410A-8C54-492C82A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8E1F1-EF11-4764-B98F-63AA5A38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62F07-5BF8-4F4F-95AA-1435B86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63033-CD80-405C-8385-B89567D6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2D7D0"/>
                </a:solidFill>
              </a:defRPr>
            </a:pPr>
            <a:r>
              <a:rPr sz="900" b="0" i="0">
                <a:solidFill>
                  <a:srgbClr val="C2D7D0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9F0C1-98E5-4194-8F75-6389000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Hedef: Olayı erken bul,</a:t>
            </a:r>
          </a:p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kanıtla ve operatöre göster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E7C5F-2428-457D-8F4B-4EDE216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9A23B"/>
                </a:solidFill>
              </a:defRPr>
            </a:pPr>
            <a:r>
              <a:rPr sz="1125" b="1" i="0">
                <a:solidFill>
                  <a:srgbClr val="E9A23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91835-450F-4007-A4DA-A6A5608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FC2AD"/>
                </a:solidFill>
              </a:defRPr>
            </a:pPr>
            <a:r>
              <a:rPr sz="1275" b="1" i="0">
                <a:solidFill>
                  <a:srgbClr val="6FC2AD"/>
                </a:solidFill>
              </a:rPr>
              <a:t>FARK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A72F9-E892-4EFD-AF70-0718CC86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E4E0"/>
                </a:solidFill>
              </a:defRPr>
            </a:pPr>
            <a:r>
              <a:rPr sz="1275" b="0" i="0">
                <a:solidFill>
                  <a:srgbClr val="D8E4E0"/>
                </a:solidFill>
              </a:rPr>
              <a:t>Riskli video penceresini seç.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CB5B-08CF-4701-A6A1-D0ADB0B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9A23B"/>
                </a:solidFill>
              </a:defRPr>
            </a:pPr>
            <a:r>
              <a:rPr sz="1125" b="1" i="0">
                <a:solidFill>
                  <a:srgbClr val="E9A23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35E18-AA62-4803-ADF2-BD94AB1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FC2AD"/>
                </a:solidFill>
              </a:defRPr>
            </a:pPr>
            <a:r>
              <a:rPr sz="1275" b="1" i="0">
                <a:solidFill>
                  <a:srgbClr val="6FC2AD"/>
                </a:solidFill>
              </a:rPr>
              <a:t>DOĞRULA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699BA-4AFC-4C3A-99B1-C2B4A3C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E4E0"/>
                </a:solidFill>
              </a:defRPr>
            </a:pPr>
            <a:r>
              <a:rPr sz="1275" b="0" i="0">
                <a:solidFill>
                  <a:srgbClr val="D8E4E0"/>
                </a:solidFill>
              </a:rPr>
              <a:t>Kareyi, zamanı ve iddiayı eşleştir.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30005-AA53-4930-84C2-422706B4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9A23B"/>
                </a:solidFill>
              </a:defRPr>
            </a:pPr>
            <a:r>
              <a:rPr sz="1125" b="1" i="0">
                <a:solidFill>
                  <a:srgbClr val="E9A23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0D6ED-12EE-44FD-9785-C1E0BD51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FC2AD"/>
                </a:solidFill>
              </a:defRPr>
            </a:pPr>
            <a:r>
              <a:rPr sz="1275" b="1" i="0">
                <a:solidFill>
                  <a:srgbClr val="6FC2AD"/>
                </a:solidFill>
              </a:rPr>
              <a:t>YÖNLENDİR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B02FC-12AF-4A8B-93BB-6BAB843D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E4E0"/>
                </a:solidFill>
              </a:defRPr>
            </a:pPr>
            <a:r>
              <a:rPr sz="1275" b="0" i="0">
                <a:solidFill>
                  <a:srgbClr val="D8E4E0"/>
                </a:solidFill>
              </a:rPr>
              <a:t>Operatöre olay ve prosedür adımı sun.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F51DC-72DC-4FAF-A62D-4D607B5A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CEC7"/>
                </a:solidFill>
              </a:defRPr>
            </a:pPr>
            <a:r>
              <a:rPr sz="825" b="0" i="0">
                <a:solidFill>
                  <a:srgbClr val="B8CEC7"/>
                </a:solidFill>
              </a:rPr>
              <a:t>Sistem müdahale yapmaz. Operatörü doğru olaya ve doğru kanıta yönlendirir.</a:t>
            </a:r>
          </a:p>
        </p:txBody>
      </p:sp>
    </p:spTree>
    <p:extLst>
      <p:ext uri="{BB962C8B-B14F-4D97-AF65-F5344CB8AC3E}">
        <p14:creationId xmlns:p14="http://schemas.microsoft.com/office/powerpoint/2010/main" val="704979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BE8AD-110D-470D-BB31-BF214DDF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125B3-B564-4002-B434-EF1C7EE5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7C577-9586-4E5B-8902-056D53DF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4400F-6C17-471A-B0FA-10241E0A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042E1-AF9F-41EC-8453-698E7165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Sistem sınırları 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08878-D6D6-4EDB-92DF-08DC2A41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Dörtgöz görüntü bulgusu üretir. Kimlik, suçluluk veya tıbbi tanı üretmez.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6c37516a54b70"/>
          <a:stretch xmlns:a="http://schemas.openxmlformats.org/drawingml/2006/main"/>
        </p:blipFill>
        <p:spPr>
          <a:xfrm xmlns:a="http://schemas.openxmlformats.org/drawingml/2006/main">
            <a:off x="609600" y="2039541"/>
            <a:ext cx="6667500" cy="3750469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F1417-9BAE-4EA7-A1D0-F9DAC043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806F"/>
                </a:solidFill>
              </a:defRPr>
            </a:pPr>
            <a:r>
              <a:rPr sz="1800" b="1" i="0">
                <a:solidFill>
                  <a:srgbClr val="1E806F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6A673-467E-4053-BD9A-7A322E58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Kimlik çıkarmaz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E4CD0-B0EC-4214-9537-A8F8042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Kişileri geçici numaralarla ayırır.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9CC53-50C3-4758-BF6E-E394AF69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806F"/>
                </a:solidFill>
              </a:defRPr>
            </a:pPr>
            <a:r>
              <a:rPr sz="1800" b="1" i="0">
                <a:solidFill>
                  <a:srgbClr val="1E806F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FEF78-6E6B-496F-8647-E7962B4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62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Suçluluk kararı vermez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58A67-2D64-4CCE-9F44-96127A66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Görüntü bulgusunu hukuki karara dönüştürmez.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A9EB4-1F49-4476-AD29-97CCB26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806F"/>
                </a:solidFill>
              </a:defRPr>
            </a:pPr>
            <a:r>
              <a:rPr sz="1800" b="1" i="0">
                <a:solidFill>
                  <a:srgbClr val="1E806F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D9633-9864-4C5E-972E-023218F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Tıbbi tanı koymaz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90627-0E62-4BE9-B0AD-EA5E8714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Yalnız görünür risk işaretlerini aktarır.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84F70-945E-434B-93DF-D5E8954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196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95F3D"/>
                </a:solidFill>
              </a:defRPr>
            </a:pPr>
            <a:r>
              <a:rPr sz="1800" b="1" i="0">
                <a:solidFill>
                  <a:srgbClr val="C95F3D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C6A4F-FEA6-4156-9DDF-26F76E38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91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Dış sistemi otomatik çalıştırmaz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E82AA-6947-498F-9FBA-3C99A293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86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İnsan onayı olmadan bildirim üretmez.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9F6F7-6913-4B0E-B110-3CCA3AF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F3D"/>
                </a:solidFill>
              </a:defRPr>
            </a:pPr>
            <a:r>
              <a:rPr sz="1350" b="1" i="0">
                <a:solidFill>
                  <a:srgbClr val="C95F3D"/>
                </a:solidFill>
              </a:rPr>
              <a:t>external_side_effect = false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58AC4-F89E-4CA7-8004-681CC38F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Yetki sınırı araç sözleşmesinde uygulanır: external_side_effect = false</a:t>
            </a:r>
          </a:p>
        </p:txBody>
      </p:sp>
    </p:spTree>
    <p:extLst>
      <p:ext uri="{BB962C8B-B14F-4D97-AF65-F5344CB8AC3E}">
        <p14:creationId xmlns:p14="http://schemas.microsoft.com/office/powerpoint/2010/main" val="1428290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728A3-9068-42E7-9CFC-9F84F6F6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FC22A-BB77-4530-9B16-C49972E0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144E9-8AA9-4078-AAFF-C035ADF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C3610-BA2F-45D2-8A90-298F15AD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F5092-75D1-48F5-8036-2AA06D3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Sistem akışı: görüntüden operatör kararına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F502-8577-49AA-B575-2B386EA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Her aşama farklı bir hata türünü azaltır.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7AA67-A575-4229-9512-B07BFB3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C"/>
          </a:solidFill>
          <a:ln xmlns:a="http://schemas.openxmlformats.org/drawingml/2006/main" w="0">
            <a:solidFill>
              <a:srgbClr val="E8DD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4B23E-C0CF-4D93-BE1F-D19B6509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5A6"/>
          </a:solidFill>
          <a:ln xmlns:a="http://schemas.openxmlformats.org/drawingml/2006/main" w="0">
            <a:solidFill>
              <a:srgbClr val="3A75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17859-11D4-4CDE-A457-3AA3F516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71AFD-2123-49B5-A3FF-499D6F6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D627F-5608-4A28-8567-4F988D46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ffmpeg · video · zaman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53C0F-5E6E-48E9-BBF3-87E2A579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62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C0E9C-7CE9-4F8F-8B40-EDA5515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9966A-C8EE-4E4D-818D-623D1E4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TARA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558AE-2E00-4F1B-B7FC-30DDF2B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SigLIP-2 · D-FINE · kare seçimi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F0E92-EA2E-4D6D-A4A2-99181BA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62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6EB3"/>
          </a:solidFill>
          <a:ln xmlns:a="http://schemas.openxmlformats.org/drawingml/2006/main" w="0">
            <a:solidFill>
              <a:srgbClr val="6C6E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106DD-136F-4044-9B16-86815B8D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4DF59-3C7E-4954-A71D-D8306C58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ANLA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FA548-06D6-4556-B836-FBE63354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VLM · Türkçe · yapılandırılmış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0C13A-8579-417D-A10D-7693F66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62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09462-36D0-4376-B695-1AC824D0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0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659A7-60F6-4A3C-B768-B6B43C16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DOĞRULA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2E284-1DC1-4352-A52E-26B6545F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frame_id · zaman · SHA-256 · fail-closed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EDD12-5092-4DAA-898B-368C1EFB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F3D"/>
          </a:solidFill>
          <a:ln xmlns:a="http://schemas.openxmlformats.org/drawingml/2006/main" w="0">
            <a:solidFill>
              <a:srgbClr val="C95F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09BAC-E41F-4510-80ED-17B326AD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B41B1-8BEC-4FC1-983E-D66BAA45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BAĞLA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B4658-3F3D-4062-8C27-BD1E118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LangGraph · oturum · olay geçmişi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4EAE6-498D-480B-8D83-F905CAF1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621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0">
            <a:solidFill>
              <a:srgbClr val="123C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2F015-B1B9-4F3F-A708-86682CE0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0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E17F7A-BEB3-49AB-8004-63225637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43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KARAR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C9E634-6B13-4E8A-81E6-FE698D02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81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Ledger · prosedür · operatör onayı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659B0-E597-43E3-B506-A5FBAF6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A75A6"/>
                </a:solidFill>
              </a:defRPr>
            </a:pPr>
            <a:r>
              <a:rPr sz="975" b="1" i="0">
                <a:solidFill>
                  <a:srgbClr val="3A75A6"/>
                </a:solidFill>
              </a:rPr>
              <a:t>VİDEO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5CBC64-27AC-4841-8FD7-9E5A7640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95F3D"/>
                </a:solidFill>
              </a:defRPr>
            </a:pPr>
            <a:r>
              <a:rPr sz="975" b="1" i="0">
                <a:solidFill>
                  <a:srgbClr val="C95F3D"/>
                </a:solidFill>
              </a:rPr>
              <a:t>DOĞRULANMIŞ OLAY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D16DA1-3DE5-43D3-9FD9-F026B1B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62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23C34"/>
                </a:solidFill>
              </a:defRPr>
            </a:pPr>
            <a:r>
              <a:rPr sz="975" b="1" i="0">
                <a:solidFill>
                  <a:srgbClr val="123C34"/>
                </a:solidFill>
              </a:rPr>
              <a:t>OPERATÖR KARARI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3BEA5B-9C4E-4766-B1E6-F5AD007D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51F"/>
                </a:solidFill>
              </a:defRPr>
            </a:pPr>
            <a:r>
              <a:rPr sz="1500" b="1" i="0">
                <a:solidFill>
                  <a:srgbClr val="10251F"/>
                </a:solidFill>
              </a:rPr>
              <a:t>Kaynak kare ve zaman bilgisi doğrulanmadan olay kesin bulgu olarak sunulmaz.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B2FF17-EBDB-4EC5-870C-E90A896E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Üretim çıkarımı EVREN vLLM servisleriyle; algı katmanı SigLIP-2 ve D-FINE ile çalışır.</a:t>
            </a:r>
          </a:p>
        </p:txBody>
      </p:sp>
    </p:spTree>
    <p:extLst>
      <p:ext uri="{BB962C8B-B14F-4D97-AF65-F5344CB8AC3E}">
        <p14:creationId xmlns:p14="http://schemas.microsoft.com/office/powerpoint/2010/main" val="1050547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2B8E7-C185-4B18-8CE8-F4AC1307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951A4-6C6C-4474-9376-C9E615C9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69B1C-A621-414C-8351-C44590F1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596A8-3527-4E1B-9313-0AB3D8E2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2D7D0"/>
                </a:solidFill>
              </a:defRPr>
            </a:pPr>
            <a:r>
              <a:rPr sz="900" b="0" i="0">
                <a:solidFill>
                  <a:srgbClr val="C2D7D0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70D95-738D-4C15-A869-8F71228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Bileşenleri doğrudan soruna göre seçtik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CDB49-7CBE-489A-BE6E-3C0A95E2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3E1DD"/>
                </a:solidFill>
              </a:defRPr>
            </a:pPr>
            <a:r>
              <a:rPr sz="1350" b="0" i="0">
                <a:solidFill>
                  <a:srgbClr val="D3E1DD"/>
                </a:solidFill>
              </a:rPr>
              <a:t>Her bileşen belirli bir yükü, hatayı veya güvenlik riskini azaltır.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ECC73-0C96-4EEE-9849-5438D42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FC2AD"/>
                </a:solidFill>
              </a:defRPr>
            </a:pPr>
            <a:r>
              <a:rPr sz="1500" b="1" i="0">
                <a:solidFill>
                  <a:srgbClr val="6FC2AD"/>
                </a:solidFill>
              </a:rPr>
              <a:t>SigLIP-2 + D-FINE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49923-686D-4CBC-A7DB-6FA40FCB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2DE"/>
                </a:solidFill>
              </a:defRPr>
            </a:pPr>
            <a:r>
              <a:rPr sz="1275" b="0" i="0">
                <a:solidFill>
                  <a:srgbClr val="D5E2DE"/>
                </a:solidFill>
              </a:rPr>
              <a:t>Boş pencereleri eler. Kişi içeren kritik pencereleri korur.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E75B3-82B6-4E5C-863B-DCA2E463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FEEA8-E4DA-4969-992A-520FDA7E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C77D"/>
                </a:solidFill>
              </a:defRPr>
            </a:pPr>
            <a:r>
              <a:rPr sz="1500" b="1" i="0">
                <a:solidFill>
                  <a:srgbClr val="F2C77D"/>
                </a:solidFill>
              </a:rPr>
              <a:t>VLM + llm-fast / llm-large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6DCC5-CA28-46A9-88DF-BD160C9C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2DE"/>
                </a:solidFill>
              </a:defRPr>
            </a:pPr>
            <a:r>
              <a:rPr sz="1275" b="0" i="0">
                <a:solidFill>
                  <a:srgbClr val="D5E2DE"/>
                </a:solidFill>
              </a:rPr>
              <a:t>Olayı Türkçe ve yapılandırılmış çıkarır. Gerektiğinde ikinci görüş verir.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C1448-087E-4B87-9BF4-C390C720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15ACF-64C0-4787-9A2F-BB99C7E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FC2AD"/>
                </a:solidFill>
              </a:defRPr>
            </a:pPr>
            <a:r>
              <a:rPr sz="1500" b="1" i="0">
                <a:solidFill>
                  <a:srgbClr val="6FC2AD"/>
                </a:solidFill>
              </a:rPr>
              <a:t>Evidence Validator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998B9-E416-4F6D-B5D6-8BC5C89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2DE"/>
                </a:solidFill>
              </a:defRPr>
            </a:pPr>
            <a:r>
              <a:rPr sz="1275" b="0" i="0">
                <a:solidFill>
                  <a:srgbClr val="D5E2DE"/>
                </a:solidFill>
              </a:rPr>
              <a:t>Frame, zaman ve SHA-256 eşleşmesini doğrular. Hatalı kanıtı düşürür.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7D395-FA5B-4B98-A057-AF1F11ED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F0E2E-327A-4085-BFC2-AFE5659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C77D"/>
                </a:solidFill>
              </a:defRPr>
            </a:pPr>
            <a:r>
              <a:rPr sz="1500" b="1" i="0">
                <a:solidFill>
                  <a:srgbClr val="F2C77D"/>
                </a:solidFill>
              </a:rPr>
              <a:t>Ledger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36976-75B7-4308-9086-B15C184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2DE"/>
                </a:solidFill>
              </a:defRPr>
            </a:pPr>
            <a:r>
              <a:rPr sz="1275" b="0" i="0">
                <a:solidFill>
                  <a:srgbClr val="D5E2DE"/>
                </a:solidFill>
              </a:rPr>
              <a:t>Aynı olaya ait pencereleri birleştirir. Olay geçmişini korur.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9DBBE-D797-4F5E-8BBC-AD7C0643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F8584-DB78-43CB-A4C7-8A6572B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FC2AD"/>
                </a:solidFill>
              </a:defRPr>
            </a:pPr>
            <a:r>
              <a:rPr sz="1500" b="1" i="0">
                <a:solidFill>
                  <a:srgbClr val="6FC2AD"/>
                </a:solidFill>
              </a:rPr>
              <a:t>LangGraph ajan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CA043-8BA1-4CC3-BCE9-7943694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2DE"/>
                </a:solidFill>
              </a:defRPr>
            </a:pPr>
            <a:r>
              <a:rPr sz="1275" b="0" i="0">
                <a:solidFill>
                  <a:srgbClr val="D5E2DE"/>
                </a:solidFill>
              </a:rPr>
              <a:t>Araçları seçili kamera ve olay bağlamında çalıştırır.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9A7A8-0D95-4C9C-B845-25D948E4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0396F-9450-4A9D-B994-FCED388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C77D"/>
                </a:solidFill>
              </a:defRPr>
            </a:pPr>
            <a:r>
              <a:rPr sz="1500" b="1" i="0">
                <a:solidFill>
                  <a:srgbClr val="F2C77D"/>
                </a:solidFill>
              </a:rPr>
              <a:t>REST / WebSocket konsolu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BCE27-04A2-4BDE-87CE-1DF9B1D7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2DE"/>
                </a:solidFill>
              </a:defRPr>
            </a:pPr>
            <a:r>
              <a:rPr sz="1275" b="0" i="0">
                <a:solidFill>
                  <a:srgbClr val="D5E2DE"/>
                </a:solidFill>
              </a:rPr>
              <a:t>Analiz, kanıt, sohbet ve insan kararını tek ekranda birleştirir.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02C88-FB07-4238-8B05-E35969BB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CEC7"/>
                </a:solidFill>
              </a:defRPr>
            </a:pPr>
            <a:r>
              <a:rPr sz="825" b="0" i="0">
                <a:solidFill>
                  <a:srgbClr val="B8CEC7"/>
                </a:solidFill>
              </a:rPr>
              <a:t>Apache-2.0/MIT lisans politikası bileşen seçiminde zorunlu kapıdır.</a:t>
            </a:r>
          </a:p>
        </p:txBody>
      </p:sp>
    </p:spTree>
    <p:extLst>
      <p:ext uri="{BB962C8B-B14F-4D97-AF65-F5344CB8AC3E}">
        <p14:creationId xmlns:p14="http://schemas.microsoft.com/office/powerpoint/2010/main" val="1308872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22C1C-0590-4B2C-9E94-8B47EFC0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D3E58-A194-4F90-90BA-F5A26CC3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A46C0-D0A3-484B-9933-3A20ABCB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72A25-C256-4A7B-B50F-71FA86E3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723BD-E34E-4323-96F7-062B3726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Screening işlem yükünü azaltır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BB4DA-F331-4928-B5C1-97CADA2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Ağır model yalnız gerekli pencerelerde çalışır. Analiz kuyruğu gerçek zamanın gerisinde kalmaz.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1d7596a0e44b4"/>
          <a:stretch xmlns:a="http://schemas.openxmlformats.org/drawingml/2006/main"/>
        </p:blipFill>
        <p:spPr>
          <a:xfrm xmlns:a="http://schemas.openxmlformats.org/drawingml/2006/main">
            <a:off x="609600" y="2058591"/>
            <a:ext cx="6667500" cy="3750469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6BD53-2E15-452A-9936-6D6622A0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806F"/>
                </a:solidFill>
              </a:defRPr>
            </a:pPr>
            <a:r>
              <a:rPr sz="2325" b="1" i="0">
                <a:solidFill>
                  <a:srgbClr val="1E806F"/>
                </a:solidFill>
              </a:rPr>
              <a:t>11,29×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6526D-0CF8-4EB6-AF6A-4B2346D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F3D"/>
                </a:solidFill>
              </a:defRPr>
            </a:pPr>
            <a:r>
              <a:rPr sz="975" b="1" i="0">
                <a:solidFill>
                  <a:srgbClr val="C95F3D"/>
                </a:solidFill>
              </a:rPr>
              <a:t>GERÇEK ZAMAN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D5845-3AB2-418C-A892-25F989C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10,3 saat video / 54,8 dakika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BC078-89A4-426D-A046-D4461706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EAB37-997F-4272-A865-77FCA43A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806F"/>
                </a:solidFill>
              </a:defRPr>
            </a:pPr>
            <a:r>
              <a:rPr sz="2325" b="1" i="0">
                <a:solidFill>
                  <a:srgbClr val="1E806F"/>
                </a:solidFill>
              </a:rPr>
              <a:t>%2,5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F8F23-E882-45DF-B861-7CA0E3B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F3D"/>
                </a:solidFill>
              </a:defRPr>
            </a:pPr>
            <a:r>
              <a:rPr sz="975" b="1" i="0">
                <a:solidFill>
                  <a:srgbClr val="C95F3D"/>
                </a:solidFill>
              </a:rPr>
              <a:t>YEREL ALGI PAYI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ECBB8-F0AD-4A9A-88E2-DDED5396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ölçülen toplam çalışma süresi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DD09D-55A8-42F7-B04E-8095321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FD401-AC15-4413-911F-A0FC925B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806F"/>
                </a:solidFill>
              </a:defRPr>
            </a:pPr>
            <a:r>
              <a:rPr sz="2325" b="1" i="0">
                <a:solidFill>
                  <a:srgbClr val="1E806F"/>
                </a:solidFill>
              </a:rPr>
              <a:t>0 / 290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F9128-0789-490A-AE02-F3C2545C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F3D"/>
                </a:solidFill>
              </a:defRPr>
            </a:pPr>
            <a:r>
              <a:rPr sz="975" b="1" i="0">
                <a:solidFill>
                  <a:srgbClr val="C95F3D"/>
                </a:solidFill>
              </a:rPr>
              <a:t>TERMINAL HATA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A46AD-09EF-4388-B5EE-EF2040F4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7205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F"/>
                </a:solidFill>
              </a:defRPr>
            </a:pPr>
            <a:r>
              <a:rPr sz="1200" b="0" i="0">
                <a:solidFill>
                  <a:srgbClr val="66736F"/>
                </a:solidFill>
              </a:rPr>
              <a:t>tam üretim test bölmesi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7597B-19AB-42B0-B210-456906C1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816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51F"/>
                </a:solidFill>
              </a:defRPr>
            </a:pPr>
            <a:r>
              <a:rPr sz="1275" b="1" i="0">
                <a:solidFill>
                  <a:srgbClr val="10251F"/>
                </a:solidFill>
              </a:rPr>
              <a:t>Sonuç: Daha az gereksiz çıkarım ve daha yönetilebilir operatör kuyruğu.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4D547-8074-4955-8F33-E62AA72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Tek bir iyi koşu değil, tekrar bandı ve tam bölüm ölçümü raporlanır.</a:t>
            </a:r>
          </a:p>
        </p:txBody>
      </p:sp>
    </p:spTree>
    <p:extLst>
      <p:ext uri="{BB962C8B-B14F-4D97-AF65-F5344CB8AC3E}">
        <p14:creationId xmlns:p14="http://schemas.microsoft.com/office/powerpoint/2010/main" val="440032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8E176-FB56-448B-849A-5EBF4F5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B84CD-7C0B-45B3-890A-28F24683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6F5FE-D64E-481D-99CA-E8966654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4AE7E-5D45-44F1-9016-7FAED37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239A8-754C-426E-B745-6544510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Ajan doğru kamera ve olay bağlamında çalışır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3BA03-3194-405C-A0B9-BEA4AD4C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Oturum, seçili kamera ve seçili olay bilgisi her araç çağrısına taşınır.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faf3e1f514dd6"/>
          <a:stretch xmlns:a="http://schemas.openxmlformats.org/drawingml/2006/main"/>
        </p:blipFill>
        <p:spPr>
          <a:xfrm xmlns:a="http://schemas.openxmlformats.org/drawingml/2006/main">
            <a:off x="609600" y="2193727"/>
            <a:ext cx="6153150" cy="3461147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162EE-E77D-4668-9BEE-379F8EC5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14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806F"/>
                </a:solidFill>
              </a:defRPr>
            </a:pPr>
            <a:r>
              <a:rPr sz="975" b="1" i="0">
                <a:solidFill>
                  <a:srgbClr val="1E806F"/>
                </a:solidFill>
              </a:rPr>
              <a:t>3 GENEL SORU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80C7C-193A-4F9A-B2E0-1F9EC976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806F"/>
                </a:solidFill>
              </a:defRPr>
            </a:pPr>
            <a:r>
              <a:rPr sz="1050" b="1" i="0">
                <a:solidFill>
                  <a:srgbClr val="1E80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FD08F-970C-41B2-A505-0F97884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51F"/>
                </a:solidFill>
              </a:defRPr>
            </a:pPr>
            <a:r>
              <a:rPr sz="1350" b="1" i="0">
                <a:solidFill>
                  <a:srgbClr val="10251F"/>
                </a:solidFill>
              </a:rPr>
              <a:t>Kim, kime / neye, ne yaptı?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8EF92-7CDE-4309-95F1-34B1674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806F"/>
                </a:solidFill>
              </a:defRPr>
            </a:pPr>
            <a:r>
              <a:rPr sz="1050" b="1" i="0">
                <a:solidFill>
                  <a:srgbClr val="1E806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9D4F8-B86F-4CEF-8FF0-675018F1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51F"/>
                </a:solidFill>
              </a:defRPr>
            </a:pPr>
            <a:r>
              <a:rPr sz="1350" b="1" i="0">
                <a:solidFill>
                  <a:srgbClr val="10251F"/>
                </a:solidFill>
              </a:rPr>
              <a:t>Olayın tam zinciri nedir?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288CB-BB43-40CE-80D0-E7CF3AB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806F"/>
                </a:solidFill>
              </a:defRPr>
            </a:pPr>
            <a:r>
              <a:rPr sz="1050" b="1" i="0">
                <a:solidFill>
                  <a:srgbClr val="1E806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66601-24CD-4AA1-9CFF-03A8CAA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51F"/>
                </a:solidFill>
              </a:defRPr>
            </a:pPr>
            <a:r>
              <a:rPr sz="1350" b="1" i="0">
                <a:solidFill>
                  <a:srgbClr val="10251F"/>
                </a:solidFill>
              </a:rPr>
              <a:t>Görüntü neyi kanıtlıyor?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77B5A-9BD7-4850-8BBD-685AE9E3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529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C"/>
          </a:solidFill>
          <a:ln xmlns:a="http://schemas.openxmlformats.org/drawingml/2006/main" w="0">
            <a:solidFill>
              <a:srgbClr val="E8DD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16457-1270-49D7-8D8E-477FB04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F3D"/>
                </a:solidFill>
              </a:defRPr>
            </a:pPr>
            <a:r>
              <a:rPr sz="975" b="1" i="0">
                <a:solidFill>
                  <a:srgbClr val="C95F3D"/>
                </a:solidFill>
              </a:rPr>
              <a:t>2 KATEGORİ SORUSU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3E5E7-3036-4888-BEAB-F77615AF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05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51F"/>
                </a:solidFill>
              </a:defRPr>
            </a:pPr>
            <a:r>
              <a:rPr sz="1350" b="1" i="0">
                <a:solidFill>
                  <a:srgbClr val="10251F"/>
                </a:solidFill>
              </a:rPr>
              <a:t>Karşılıklı mı, tek taraflı mı?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30460-8F25-4F89-B248-0F069CEE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4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51F"/>
                </a:solidFill>
              </a:defRPr>
            </a:pPr>
            <a:r>
              <a:rPr sz="1350" b="1" i="0">
                <a:solidFill>
                  <a:srgbClr val="10251F"/>
                </a:solidFill>
              </a:rPr>
              <a:t>Kim katıldı, kim müdahale etti?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3334D-5A36-4FB2-B698-F2D5FFB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38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Kategoriler olay tipine göre değişir. Kimlik çıkarımı yoktur.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56C58-0B90-4277-93E4-2F71836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Her oturum birbirinden izole edilir. Kamera ve olay bağlamı karışmaz.</a:t>
            </a:r>
          </a:p>
        </p:txBody>
      </p:sp>
    </p:spTree>
    <p:extLst>
      <p:ext uri="{BB962C8B-B14F-4D97-AF65-F5344CB8AC3E}">
        <p14:creationId xmlns:p14="http://schemas.microsoft.com/office/powerpoint/2010/main" val="183924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8E097-B279-4D89-AB86-6DE587C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6129C-568B-498B-9599-0E1C414C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224A4-8C7B-460A-9CE5-7EBE790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F2305-1583-4871-A394-9C13A25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4573A-6058-432B-BB62-A12A9EC4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Her karar kayıt altındadır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CE95C-2A16-4561-BC73-C7927A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Model çıktısı, doğrulanmış kanıt ve operatör kararı ayrı tutulur.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40d2a951b4c59"/>
          <a:stretch xmlns:a="http://schemas.openxmlformats.org/drawingml/2006/main"/>
        </p:blipFill>
        <p:spPr>
          <a:xfrm xmlns:a="http://schemas.openxmlformats.org/drawingml/2006/main">
            <a:off x="609600" y="2128838"/>
            <a:ext cx="5334000" cy="30003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9f04b47b14141"/>
          <a:stretch xmlns:a="http://schemas.openxmlformats.org/drawingml/2006/main"/>
        </p:blipFill>
        <p:spPr>
          <a:xfrm xmlns:a="http://schemas.openxmlformats.org/drawingml/2006/main">
            <a:off x="6248400" y="2128838"/>
            <a:ext cx="5334000" cy="30003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8976B-9830-435A-B685-A5D9513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806F"/>
                </a:solidFill>
              </a:defRPr>
            </a:pPr>
            <a:r>
              <a:rPr sz="1050" b="1" i="0">
                <a:solidFill>
                  <a:srgbClr val="1E806F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A1246-0031-4D43-8C1E-D026319C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67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1F"/>
                </a:solidFill>
              </a:defRPr>
            </a:pPr>
            <a:r>
              <a:rPr sz="1200" b="0" i="0">
                <a:solidFill>
                  <a:srgbClr val="10251F"/>
                </a:solidFill>
              </a:rPr>
              <a:t>Olay sınıfı, risk ve belirsizlik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99FE1-AE34-437A-99B9-2A3C8E2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05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806F"/>
                </a:solidFill>
              </a:defRPr>
            </a:pPr>
            <a:r>
              <a:rPr sz="1050" b="1" i="0">
                <a:solidFill>
                  <a:srgbClr val="1E806F"/>
                </a:solidFill>
              </a:rPr>
              <a:t>KANIT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ACAC2-E852-4842-8AA5-B435C48D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67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1F"/>
                </a:solidFill>
              </a:defRPr>
            </a:pPr>
            <a:r>
              <a:rPr sz="1200" b="0" i="0">
                <a:solidFill>
                  <a:srgbClr val="10251F"/>
                </a:solidFill>
              </a:rPr>
              <a:t>Doğrulanmış kare, zaman ve iddia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F49E0-070F-4DEC-9D53-378B440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05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F3D"/>
                </a:solidFill>
              </a:defRPr>
            </a:pPr>
            <a:r>
              <a:rPr sz="1050" b="1" i="0">
                <a:solidFill>
                  <a:srgbClr val="C95F3D"/>
                </a:solidFill>
              </a:rPr>
              <a:t>OPERATÖR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28A12-C889-42C6-B05D-9FC1FAE9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467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1F"/>
                </a:solidFill>
              </a:defRPr>
            </a:pPr>
            <a:r>
              <a:rPr sz="1200" b="0" i="0">
                <a:solidFill>
                  <a:srgbClr val="10251F"/>
                </a:solidFill>
              </a:rPr>
              <a:t>Düzeltme, not ve kalıcı karar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63422-2D81-47AE-B04F-149139CD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İnsan düzeltmesi otomatik eğitim değildir; her öğrenme adımı ayrıca onaylanır.</a:t>
            </a:r>
          </a:p>
        </p:txBody>
      </p:sp>
    </p:spTree>
    <p:extLst>
      <p:ext uri="{BB962C8B-B14F-4D97-AF65-F5344CB8AC3E}">
        <p14:creationId xmlns:p14="http://schemas.microsoft.com/office/powerpoint/2010/main" val="785415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1F5D1A-4E5C-40DB-B704-C3F2BF99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9A22-DC70-4174-ADD1-61BF947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01789-25D3-41FE-AC7F-C5EA7DB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26EB9-830E-4C36-BD35-E02004C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2D7D0"/>
                </a:solidFill>
              </a:defRPr>
            </a:pPr>
            <a:r>
              <a:rPr sz="900" b="0" i="0">
                <a:solidFill>
                  <a:srgbClr val="C2D7D0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0EAE4-B864-4095-A951-36E53982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Ölçülen sonuçlar ve sınırlar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301C1-EC9B-4F5D-B730-5EE77F0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3E1DD"/>
                </a:solidFill>
              </a:defRPr>
            </a:pPr>
            <a:r>
              <a:rPr sz="1350" b="0" i="0">
                <a:solidFill>
                  <a:srgbClr val="D3E1DD"/>
                </a:solidFill>
              </a:rPr>
              <a:t>Yakalama, yanlış alarm, kör set ve canlı kapasite birlikte değerlendirilir.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67D38-E826-46D5-98EB-471AFA8F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6FC2AD"/>
                </a:solidFill>
              </a:defRPr>
            </a:pPr>
            <a:r>
              <a:rPr sz="2400" b="1" i="0">
                <a:solidFill>
                  <a:srgbClr val="6FC2AD"/>
                </a:solidFill>
              </a:rPr>
              <a:t>%85,0–87,9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05F76-BC81-4430-8430-05F48CA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1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C2AD"/>
                </a:solidFill>
              </a:defRPr>
            </a:pPr>
            <a:r>
              <a:rPr sz="975" b="1" i="0">
                <a:solidFill>
                  <a:srgbClr val="6FC2AD"/>
                </a:solidFill>
              </a:rPr>
              <a:t>KRITIK OLAY YAKALAMA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7F8D7-D2BB-429D-8F9C-41139F4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3DF"/>
                </a:solidFill>
              </a:defRPr>
            </a:pPr>
            <a:r>
              <a:rPr sz="1350" b="0" i="0">
                <a:solidFill>
                  <a:srgbClr val="D7E3DF"/>
                </a:solidFill>
              </a:rPr>
              <a:t>Üretim koşularında bulunan kritik olay oranı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25B60-1EF3-4965-8643-B9562656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BB5D6-76E0-4228-A9EC-AEF4CAC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C16B"/>
                </a:solidFill>
              </a:defRPr>
            </a:pPr>
            <a:r>
              <a:rPr sz="2400" b="1" i="0">
                <a:solidFill>
                  <a:srgbClr val="F0C16B"/>
                </a:solidFill>
              </a:rPr>
              <a:t>%12,0–18,7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C5F0D-3779-4C5D-AD7E-452FC9DC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0C16B"/>
                </a:solidFill>
              </a:defRPr>
            </a:pPr>
            <a:r>
              <a:rPr sz="975" b="1" i="0">
                <a:solidFill>
                  <a:srgbClr val="F0C16B"/>
                </a:solidFill>
              </a:rPr>
              <a:t>EYLEME KONU YANLIŞ ALARM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4FC9D-F41A-48BB-9970-074E1AD0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3DF"/>
                </a:solidFill>
              </a:defRPr>
            </a:pPr>
            <a:r>
              <a:rPr sz="1350" b="0" i="0">
                <a:solidFill>
                  <a:srgbClr val="D7E3DF"/>
                </a:solidFill>
              </a:rPr>
              <a:t>Operatöre gereksiz giden inceleme oranı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B4CD5-A9A6-440B-B198-3FBF13D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62EBB-A17C-4113-9EEB-9DEDA74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FA5E8"/>
                </a:solidFill>
              </a:defRPr>
            </a:pPr>
            <a:r>
              <a:rPr sz="2400" b="1" i="0">
                <a:solidFill>
                  <a:srgbClr val="9FA5E8"/>
                </a:solidFill>
              </a:rPr>
              <a:t>%90,0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CFF46-D6D5-4BDD-87D5-662A4E4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FA5E8"/>
                </a:solidFill>
              </a:defRPr>
            </a:pPr>
            <a:r>
              <a:rPr sz="975" b="1" i="0">
                <a:solidFill>
                  <a:srgbClr val="9FA5E8"/>
                </a:solidFill>
              </a:rPr>
              <a:t>KÖR SETTE YAKALAMA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D1E1A-395F-4C3F-A8BD-458C497B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481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3DF"/>
                </a:solidFill>
              </a:defRPr>
            </a:pPr>
            <a:r>
              <a:rPr sz="1350" b="0" i="0">
                <a:solidFill>
                  <a:srgbClr val="D7E3DF"/>
                </a:solidFill>
              </a:rPr>
              <a:t>Geliştirmede kullanılmamış 80 klipte sonuç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1EF2E-68CC-43EA-9009-D3E2F99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B51"/>
          </a:solidFill>
          <a:ln xmlns:a="http://schemas.openxmlformats.org/drawingml/2006/main" w="0">
            <a:solidFill>
              <a:srgbClr val="2B5B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A6E23-04DD-4AF2-B7B0-8934E88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18A70"/>
                </a:solidFill>
              </a:defRPr>
            </a:pPr>
            <a:r>
              <a:rPr sz="2400" b="1" i="0">
                <a:solidFill>
                  <a:srgbClr val="F18A70"/>
                </a:solidFill>
              </a:rPr>
              <a:t>9 kamera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4BD46-E96C-4F82-A2FF-7359496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18A70"/>
                </a:solidFill>
              </a:defRPr>
            </a:pPr>
            <a:r>
              <a:rPr sz="975" b="1" i="0">
                <a:solidFill>
                  <a:srgbClr val="F18A70"/>
                </a:solidFill>
              </a:rPr>
              <a:t>ÖLÇÜLEN GÜVENLI KAPASITE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E7FFF-A342-4DC1-9857-E3919E53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197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3DF"/>
                </a:solidFill>
              </a:defRPr>
            </a:pPr>
            <a:r>
              <a:rPr sz="1350" b="0" i="0">
                <a:solidFill>
                  <a:srgbClr val="D7E3DF"/>
                </a:solidFill>
              </a:rPr>
              <a:t>0 kare düşürme · en fazla 18 sn gecikme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326EB-0240-43BE-9D3E-DE3D5867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Sınırları da raporluyoruz: kısa olaylar ve hırsızlık alt sınıfları hâlâ zayıf.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AF628-2834-4007-8EFA-7D424EDD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CEC7"/>
                </a:solidFill>
              </a:defRPr>
            </a:pPr>
            <a:r>
              <a:rPr sz="825" b="0" i="0">
                <a:solidFill>
                  <a:srgbClr val="B8CEC7"/>
                </a:solidFill>
              </a:rPr>
              <a:t>Tek koşu değil, dört üretim koşusunun bandı sunulur.</a:t>
            </a:r>
          </a:p>
        </p:txBody>
      </p:sp>
    </p:spTree>
    <p:extLst>
      <p:ext uri="{BB962C8B-B14F-4D97-AF65-F5344CB8AC3E}">
        <p14:creationId xmlns:p14="http://schemas.microsoft.com/office/powerpoint/2010/main" val="2026839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D4B38-6B22-43A9-9956-049FEE2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F81E6-9B44-4917-917A-789F7C1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5629F-4B03-48DC-991B-C049A58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51F"/>
                </a:solidFill>
              </a:defRPr>
            </a:pPr>
            <a:r>
              <a:rPr sz="1125" b="1" i="0">
                <a:solidFill>
                  <a:srgbClr val="10251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28186-2AFE-4861-B467-F9C8B16E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36F"/>
                </a:solidFill>
              </a:defRPr>
            </a:pPr>
            <a:r>
              <a:rPr sz="900" b="0" i="0">
                <a:solidFill>
                  <a:srgbClr val="66736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CE266-5EEA-4415-824D-35F85BDA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51F"/>
                </a:solidFill>
              </a:defRPr>
            </a:pPr>
            <a:r>
              <a:rPr sz="2850" b="1" i="0">
                <a:solidFill>
                  <a:srgbClr val="10251F"/>
                </a:solidFill>
              </a:rPr>
              <a:t>Hedef kullanım alanları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44FBE-2760-4BC2-B9D6-08214744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F"/>
                </a:solidFill>
              </a:defRPr>
            </a:pPr>
            <a:r>
              <a:rPr sz="1350" b="0" i="0">
                <a:solidFill>
                  <a:srgbClr val="66736F"/>
                </a:solidFill>
              </a:rPr>
              <a:t>Her sahada yerel veri, eşik ve prosedür doğrulaması gerekir.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dd9c6906a4fb4"/>
          <a:stretch xmlns:a="http://schemas.openxmlformats.org/drawingml/2006/main"/>
        </p:blipFill>
        <p:spPr>
          <a:xfrm xmlns:a="http://schemas.openxmlformats.org/drawingml/2006/main">
            <a:off x="609600" y="2226469"/>
            <a:ext cx="5562600" cy="3128963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D6BAB-B730-4D4C-AAE3-566F5060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806F"/>
                </a:solidFill>
              </a:defRPr>
            </a:pPr>
            <a:r>
              <a:rPr sz="1125" b="1" i="0">
                <a:solidFill>
                  <a:srgbClr val="1E806F"/>
                </a:solidFill>
              </a:rPr>
              <a:t>KAMPÜS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7EA4B-FBA2-4CDE-958A-BE5CC27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51F"/>
                </a:solidFill>
              </a:defRPr>
            </a:pPr>
            <a:r>
              <a:rPr sz="1275" b="0" i="0">
                <a:solidFill>
                  <a:srgbClr val="10251F"/>
                </a:solidFill>
              </a:rPr>
              <a:t>Kavga, saldırı, yangın ve izinsiz giriş incelemesi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58116-F46A-4775-BE0F-C3BC3A2E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7DBFC-0AF1-498E-8622-FD77C85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5F3D"/>
                </a:solidFill>
              </a:defRPr>
            </a:pPr>
            <a:r>
              <a:rPr sz="1125" b="1" i="0">
                <a:solidFill>
                  <a:srgbClr val="C95F3D"/>
                </a:solidFill>
              </a:rPr>
              <a:t>ULAŞIM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AAB25-BAB2-430E-8563-1FA1273A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51F"/>
                </a:solidFill>
              </a:defRPr>
            </a:pPr>
            <a:r>
              <a:rPr sz="1275" b="0" i="0">
                <a:solidFill>
                  <a:srgbClr val="10251F"/>
                </a:solidFill>
              </a:rPr>
              <a:t>Kaza, yoğunluk ve devam eden saha riski incelemesi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086F7-5F7C-4725-92C2-6561EFD2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8D5A7-CF21-4C19-8961-096E62A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806F"/>
                </a:solidFill>
              </a:defRPr>
            </a:pPr>
            <a:r>
              <a:rPr sz="1125" b="1" i="0">
                <a:solidFill>
                  <a:srgbClr val="1E806F"/>
                </a:solidFill>
              </a:rPr>
              <a:t>KAMU BİNASI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F377A-6208-4E00-8213-5AAE063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51F"/>
                </a:solidFill>
              </a:defRPr>
            </a:pPr>
            <a:r>
              <a:rPr sz="1275" b="0" i="0">
                <a:solidFill>
                  <a:srgbClr val="10251F"/>
                </a:solidFill>
              </a:rPr>
              <a:t>Çoklu kamerada olay önceliklendirme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8A239-4A04-4B92-89A0-6429A38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6C562-BDDC-494B-A77F-DC8014C7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5F3D"/>
                </a:solidFill>
              </a:defRPr>
            </a:pPr>
            <a:r>
              <a:rPr sz="1125" b="1" i="0">
                <a:solidFill>
                  <a:srgbClr val="C95F3D"/>
                </a:solidFill>
              </a:rPr>
              <a:t>ENDÜSTRİYEL SAHA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1C5F4-A0DB-45E1-ADF9-B91E82A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51F"/>
                </a:solidFill>
              </a:defRPr>
            </a:pPr>
            <a:r>
              <a:rPr sz="1275" b="0" i="0">
                <a:solidFill>
                  <a:srgbClr val="10251F"/>
                </a:solidFill>
              </a:rPr>
              <a:t>Yangın, patlama ve vandalizm incelemesi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84A8E-1AFE-43E9-BF8F-877DE022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007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36F"/>
                </a:solidFill>
              </a:defRPr>
            </a:pPr>
            <a:r>
              <a:rPr sz="1125" b="0" i="0">
                <a:solidFill>
                  <a:srgbClr val="66736F"/>
                </a:solidFill>
              </a:rPr>
              <a:t>Bu alanlar hedef uygulama örnekleridir; mevcut saha kurulumu iddiası değildir.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7EE2F-FBA7-42C8-B001-32347B5F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A8581"/>
                </a:solidFill>
              </a:defRPr>
            </a:pPr>
            <a:r>
              <a:rPr sz="825" b="0" i="0">
                <a:solidFill>
                  <a:srgbClr val="7A8581"/>
                </a:solidFill>
              </a:rPr>
              <a:t>Kamera başına eşik ve prosedür yerel veriyle doğrulanmadan otomatik devreye alınmaz.</a:t>
            </a:r>
          </a:p>
        </p:txBody>
      </p:sp>
    </p:spTree>
    <p:extLst>
      <p:ext uri="{BB962C8B-B14F-4D97-AF65-F5344CB8AC3E}">
        <p14:creationId xmlns:p14="http://schemas.microsoft.com/office/powerpoint/2010/main" val="10766108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77688901845eb"/>
          <a:srcRect xmlns:a="http://schemas.openxmlformats.org/drawingml/2006/main" l="18241" t="0" r="18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0"/>
            <a:ext cx="65341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6BD03-2DD9-4816-9ADE-189FC68C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4"/>
          </a:solidFill>
          <a:ln xmlns:a="http://schemas.openxmlformats.org/drawingml/2006/main" w="0">
            <a:solidFill>
              <a:srgbClr val="123C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B03AA-DF09-4CF6-904B-5FC7300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06F"/>
          </a:solidFill>
          <a:ln xmlns:a="http://schemas.openxmlformats.org/drawingml/2006/main" w="0">
            <a:solidFill>
              <a:srgbClr val="1E8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2EEC-E7D5-41B1-A059-BC01D12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solidFill>
              <a:srgbClr val="E9A2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C0971-9DD3-498F-AF12-6F3FFCE5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2A9C0-0180-4BE8-A81C-C274E42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6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2D7D0"/>
                </a:solidFill>
              </a:defRPr>
            </a:pPr>
            <a:r>
              <a:rPr sz="900" b="0" i="0">
                <a:solidFill>
                  <a:srgbClr val="C2D7D0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FBEB4-9023-48C9-8470-491E361B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Dörtgöz operatörün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yerine geçmez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A3155-04C8-49CC-B034-A1738A38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E9A23B"/>
                </a:solidFill>
              </a:defRPr>
            </a:pPr>
            <a:r>
              <a:rPr sz="2175" b="1" i="0">
                <a:solidFill>
                  <a:srgbClr val="E9A23B"/>
                </a:solidFill>
              </a:rPr>
              <a:t>Kritik olayı daha hızlı bulmasını sağlar.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C6EB6-F260-4B4E-A4CF-279D58F5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2E0DC"/>
                </a:solidFill>
              </a:defRPr>
            </a:pPr>
            <a:r>
              <a:rPr sz="1500" b="0" i="0">
                <a:solidFill>
                  <a:srgbClr val="D2E0DC"/>
                </a:solidFill>
              </a:rPr>
              <a:t>Video · doğrulanmış olay · operatör kararı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CF5DE-6837-4481-947E-085FEFD6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2AD"/>
          </a:solidFill>
          <a:ln xmlns:a="http://schemas.openxmlformats.org/drawingml/2006/main" w="0">
            <a:solidFill>
              <a:srgbClr val="6FC2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2DBC3-E3F4-48A4-A2A3-648CE5B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Toplumsal fayda: Kritik olayın gözden kaçma riskini azaltmak ve operatöre doğrulanmış kanıt sunmak.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A76DD-2607-4713-B362-F4B514BB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8CEC7"/>
                </a:solidFill>
              </a:defRPr>
            </a:pPr>
            <a:r>
              <a:rPr sz="825" b="0" i="0">
                <a:solidFill>
                  <a:srgbClr val="B8CEC7"/>
                </a:solidFill>
              </a:rPr>
              <a:t>Dörtgöz · insan-döngüde video analiz ve karar destek sistemi</a:t>
            </a:r>
          </a:p>
        </p:txBody>
      </p:sp>
    </p:spTree>
    <p:extLst>
      <p:ext uri="{BB962C8B-B14F-4D97-AF65-F5344CB8AC3E}">
        <p14:creationId xmlns:p14="http://schemas.microsoft.com/office/powerpoint/2010/main" val="131352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2026-08-26T14:48:30.2920000Z</dcterms:created>
  <dcterms:modified xsi:type="dcterms:W3CDTF">2026-08-26T14:48:30.2920000Z</dcterms:modified>
</coreProperties>
</file>