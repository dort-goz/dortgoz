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0c25570d964118" /><Relationship Type="http://schemas.openxmlformats.org/officeDocument/2006/relationships/extended-properties" Target="/docProps/app.xml" Id="R8dd738c21be74867" /><Relationship Type="http://schemas.openxmlformats.org/officeDocument/2006/relationships/officeDocument" Target="/ppt/presentation.xml" Id="R94b0a6ae8e274082" /></Relationships>
</file>

<file path=ppt/presentation.xml><?xml version="1.0" encoding="utf-8"?>
<p:presentation xmlns:p="http://schemas.openxmlformats.org/presentationml/2006/main">
  <p:sldMasterIdLst>
    <p:sldMasterId xmlns:r="http://schemas.openxmlformats.org/officeDocument/2006/relationships" id="2147483648" r:id="Rdea2cfd9c08b45fc"/>
  </p:sldMasterIdLst>
  <p:notesMasterIdLst>
    <p:notesMasterId xmlns:r="http://schemas.openxmlformats.org/officeDocument/2006/relationships" r:id="R09972ee6957b4f39"/>
  </p:notesMasterIdLst>
  <p:sldIdLst>
    <p:sldId xmlns:r="http://schemas.openxmlformats.org/officeDocument/2006/relationships" id="256" r:id="R7e709610075348c2"/>
    <p:sldId xmlns:r="http://schemas.openxmlformats.org/officeDocument/2006/relationships" id="257" r:id="Re6b8d744b51c4609"/>
    <p:sldId xmlns:r="http://schemas.openxmlformats.org/officeDocument/2006/relationships" id="258" r:id="R5b4631a8413c4105"/>
    <p:sldId xmlns:r="http://schemas.openxmlformats.org/officeDocument/2006/relationships" id="259" r:id="R4205ac69acc343d8"/>
    <p:sldId xmlns:r="http://schemas.openxmlformats.org/officeDocument/2006/relationships" id="260" r:id="R94fbae0303dd4622"/>
    <p:sldId xmlns:r="http://schemas.openxmlformats.org/officeDocument/2006/relationships" id="261" r:id="R54a0fdf78d6d47f1"/>
    <p:sldId xmlns:r="http://schemas.openxmlformats.org/officeDocument/2006/relationships" id="262" r:id="Re98c1260951043c1"/>
    <p:sldId xmlns:r="http://schemas.openxmlformats.org/officeDocument/2006/relationships" id="263" r:id="R3c7c8e5d4c1b4088"/>
    <p:sldId xmlns:r="http://schemas.openxmlformats.org/officeDocument/2006/relationships" id="264" r:id="R79440ac5a308473e"/>
    <p:sldId xmlns:r="http://schemas.openxmlformats.org/officeDocument/2006/relationships" id="265" r:id="R39434cbc226a4e70"/>
    <p:sldId xmlns:r="http://schemas.openxmlformats.org/officeDocument/2006/relationships" id="266" r:id="Rbbad74c131e243ae"/>
    <p:sldId xmlns:r="http://schemas.openxmlformats.org/officeDocument/2006/relationships" id="267" r:id="R5480816d6d7e41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e8b121408a4810" /><Relationship Type="http://schemas.openxmlformats.org/officeDocument/2006/relationships/slideMaster" Target="/ppt/slideMasters/slideMaster1.xml" Id="Rdea2cfd9c08b45fc" /><Relationship Type="http://schemas.openxmlformats.org/officeDocument/2006/relationships/notesMaster" Target="/ppt/notesMasters/notesMaster1.xml" Id="R09972ee6957b4f39" /><Relationship Type="http://schemas.openxmlformats.org/officeDocument/2006/relationships/presProps" Target="/ppt/presProps.xml" Id="R5fe4247a22f84d99" /><Relationship Type="http://schemas.openxmlformats.org/officeDocument/2006/relationships/tableStyles" Target="/ppt/tableStyles.xml" Id="R9c829c20476a4951" /><Relationship Type="http://schemas.openxmlformats.org/officeDocument/2006/relationships/slide" Target="/ppt/slides/slide1.xml" Id="R7e709610075348c2" /><Relationship Type="http://schemas.openxmlformats.org/officeDocument/2006/relationships/slide" Target="/ppt/slides/slide2.xml" Id="Re6b8d744b51c4609" /><Relationship Type="http://schemas.openxmlformats.org/officeDocument/2006/relationships/slide" Target="/ppt/slides/slide3.xml" Id="R5b4631a8413c4105" /><Relationship Type="http://schemas.openxmlformats.org/officeDocument/2006/relationships/slide" Target="/ppt/slides/slide4.xml" Id="R4205ac69acc343d8" /><Relationship Type="http://schemas.openxmlformats.org/officeDocument/2006/relationships/slide" Target="/ppt/slides/slide5.xml" Id="R94fbae0303dd4622" /><Relationship Type="http://schemas.openxmlformats.org/officeDocument/2006/relationships/slide" Target="/ppt/slides/slide6.xml" Id="R54a0fdf78d6d47f1" /><Relationship Type="http://schemas.openxmlformats.org/officeDocument/2006/relationships/slide" Target="/ppt/slides/slide7.xml" Id="Re98c1260951043c1" /><Relationship Type="http://schemas.openxmlformats.org/officeDocument/2006/relationships/slide" Target="/ppt/slides/slide8.xml" Id="R3c7c8e5d4c1b4088" /><Relationship Type="http://schemas.openxmlformats.org/officeDocument/2006/relationships/slide" Target="/ppt/slides/slide9.xml" Id="R79440ac5a308473e" /><Relationship Type="http://schemas.openxmlformats.org/officeDocument/2006/relationships/slide" Target="/ppt/slides/slide10.xml" Id="R39434cbc226a4e70" /><Relationship Type="http://schemas.openxmlformats.org/officeDocument/2006/relationships/slide" Target="/ppt/slides/slide11.xml" Id="Rbbad74c131e243ae" /><Relationship Type="http://schemas.openxmlformats.org/officeDocument/2006/relationships/slide" Target="/ppt/slides/slide12.xml" Id="R5480816d6d7e41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1e2553e8204b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24036141b14463" /><Relationship Type="http://schemas.openxmlformats.org/officeDocument/2006/relationships/notesMaster" Target="/ppt/notesMasters/notesMaster1.xml" Id="Rda29e63b74c74b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046cc0f7fb463c" /><Relationship Type="http://schemas.openxmlformats.org/officeDocument/2006/relationships/notesMaster" Target="/ppt/notesMasters/notesMaster1.xml" Id="R22ffacd1286c41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4922aefc34491d" /><Relationship Type="http://schemas.openxmlformats.org/officeDocument/2006/relationships/notesMaster" Target="/ppt/notesMasters/notesMaster1.xml" Id="R20cbaaaae7044b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e88c04f9a04287" /><Relationship Type="http://schemas.openxmlformats.org/officeDocument/2006/relationships/notesMaster" Target="/ppt/notesMasters/notesMaster1.xml" Id="R0185d3d7cd3542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9cd944831e4e03" /><Relationship Type="http://schemas.openxmlformats.org/officeDocument/2006/relationships/notesMaster" Target="/ppt/notesMasters/notesMaster1.xml" Id="R0d60c71e6e9d4d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36ecc8330b4825" /><Relationship Type="http://schemas.openxmlformats.org/officeDocument/2006/relationships/notesMaster" Target="/ppt/notesMasters/notesMaster1.xml" Id="Rde1d0788d5bc4f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243c40351441b1" /><Relationship Type="http://schemas.openxmlformats.org/officeDocument/2006/relationships/notesMaster" Target="/ppt/notesMasters/notesMaster1.xml" Id="R1d0ce68b3f2048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f2ff33d18f4ec1" /><Relationship Type="http://schemas.openxmlformats.org/officeDocument/2006/relationships/notesMaster" Target="/ppt/notesMasters/notesMaster1.xml" Id="Rb8be04e716ca46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c800476d514b83" /><Relationship Type="http://schemas.openxmlformats.org/officeDocument/2006/relationships/notesMaster" Target="/ppt/notesMasters/notesMaster1.xml" Id="R6f4a0d3b950a42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4cd070e7ef4318" /><Relationship Type="http://schemas.openxmlformats.org/officeDocument/2006/relationships/notesMaster" Target="/ppt/notesMasters/notesMaster1.xml" Id="Ree70b31a60eb42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a18b59a6cd425a" /><Relationship Type="http://schemas.openxmlformats.org/officeDocument/2006/relationships/notesMaster" Target="/ppt/notesMasters/notesMaster1.xml" Id="R324eaa59fe284e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a2deaf6485473b" /><Relationship Type="http://schemas.openxmlformats.org/officeDocument/2006/relationships/notesMaster" Target="/ppt/notesMasters/notesMaster1.xml" Id="Rc16e35042fc74a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Açılışı teknolojiyle değil toplumla yapın. Dörtgöz'ün hedefi daha çok insan izlemek değildir. Hedef, kritik bir olayın insan dikkatinden kaçmasını önlemektir.</a:t>
            </a:r>
          </a:p>
          <a:p xmlns:a="http://schemas.openxmlformats.org/drawingml/2006/main">
            <a:r>
              <a:t/>
            </a:r>
          </a:p>
          <a:p xmlns:a="http://schemas.openxmlformats.org/drawingml/2006/main">
            <a:r>
              <a:t>[Sources]</a:t>
            </a:r>
          </a:p>
          <a:p xmlns:a="http://schemas.openxmlformats.org/drawingml/2006/main">
            <a:r>
              <a:t>- https://www.pexels.com/photo/a-crowd-in-a-public-square-in-city-16620479/</a:t>
            </a:r>
          </a:p>
          <a:p xmlns:a="http://schemas.openxmlformats.org/drawingml/2006/main">
            <a:r>
              <a:t>- repo: docs/knowledge/project-state.md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Burada insan hatasını suçlamayın. Sorun, insan dikkatinin doğal sınırıdır. Dörtgöz operatörün yerine karar vermek yerine dikkat yükünü yönetir. Ekrandaki 25 kamera kapasite gösterimidir; ölçülen güvenli kapasite 9 kameradır.</a:t>
            </a:r>
          </a:p>
          <a:p xmlns:a="http://schemas.openxmlformats.org/drawingml/2006/main">
            <a:r>
              <a:t/>
            </a:r>
          </a:p>
          <a:p xmlns:a="http://schemas.openxmlformats.org/drawingml/2006/main">
            <a:r>
              <a:t>[Sources]</a:t>
            </a:r>
          </a:p>
          <a:p xmlns:a="http://schemas.openxmlformats.org/drawingml/2006/main">
            <a:r>
              <a:t>- repo: docs/demo/kareler/14-canli-coklu-kamera.png</a:t>
            </a:r>
          </a:p>
          <a:p xmlns:a="http://schemas.openxmlformats.org/drawingml/2006/main">
            <a:r>
              <a:t>- repo: docs/demo/DEMO_SENARYOSU.md#bölüm-9-ölçek-çoklu-kamera-820-900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görsel amaçlanan toplumsal faydayı anlatır. Sistem doğrudan sağlık müdahalesi yapmaz ve tıbbi tanı koymaz. Riskli anı öne çıkarır, kanıtı gösterir ve operatörün yardım zincirini daha erken başlatmasına destek olur.</a:t>
            </a:r>
          </a:p>
          <a:p xmlns:a="http://schemas.openxmlformats.org/drawingml/2006/main">
            <a:r>
              <a:t/>
            </a:r>
          </a:p>
          <a:p xmlns:a="http://schemas.openxmlformats.org/drawingml/2006/main">
            <a:r>
              <a:t>[Sources]</a:t>
            </a:r>
          </a:p>
          <a:p xmlns:a="http://schemas.openxmlformats.org/drawingml/2006/main">
            <a:r>
              <a:t>- https://www.pexels.com/photo/paramedics-rescuing-a-man-6520049/</a:t>
            </a:r>
          </a:p>
          <a:p xmlns:a="http://schemas.openxmlformats.org/drawingml/2006/main">
            <a:r>
              <a:t>- repo: docs/MIMARI.md#ajan-bileşenleri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slayt projenin etik iddiasını teknik bir gerçekle bağlar. Ajan emniyet bildirimi istediğinde insan incelemesi yoksa araç reddedilir. Onaydan sonra da yalnız yerel taslak hazırlanır.</a:t>
            </a:r>
          </a:p>
          <a:p xmlns:a="http://schemas.openxmlformats.org/drawingml/2006/main">
            <a:r>
              <a:t/>
            </a:r>
          </a:p>
          <a:p xmlns:a="http://schemas.openxmlformats.org/drawingml/2006/main">
            <a:r>
              <a:t>[Sources]</a:t>
            </a:r>
          </a:p>
          <a:p xmlns:a="http://schemas.openxmlformats.org/drawingml/2006/main">
            <a:r>
              <a:t>- repo: docs/demo/kareler/07-yetki-siniri.png</a:t>
            </a:r>
          </a:p>
          <a:p xmlns:a="http://schemas.openxmlformats.org/drawingml/2006/main">
            <a:r>
              <a:t>- repo: docs/interface_design.md</a:t>
            </a:r>
          </a:p>
          <a:p xmlns:a="http://schemas.openxmlformats.org/drawingml/2006/main">
            <a:r>
              <a:t>- repo: backend/dortgoz/agent/actuators.py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Mimariyi model isimleri olarak değil güven zinciri olarak anlatın. Alım zamanı korur. Screening dikkat yükünü azaltır. VLM olayı anlatır. Kanıt doğrulayıcı geçersiz iddiayı düşürür. Ajan eksik soruyu bulur. İnsan kapısı kararı sınırlar.</a:t>
            </a:r>
          </a:p>
          <a:p xmlns:a="http://schemas.openxmlformats.org/drawingml/2006/main">
            <a:r>
              <a:t/>
            </a:r>
          </a:p>
          <a:p xmlns:a="http://schemas.openxmlformats.org/drawingml/2006/main">
            <a:r>
              <a:t>[Sources]</a:t>
            </a:r>
          </a:p>
          <a:p xmlns:a="http://schemas.openxmlformats.org/drawingml/2006/main">
            <a:r>
              <a:t>- repo: docs/MIMARI.md#uçtan-uca-akış</a:t>
            </a:r>
          </a:p>
          <a:p xmlns:a="http://schemas.openxmlformats.org/drawingml/2006/main">
            <a:r>
              <a:t>- repo: docs/MIMARI.md#model-rolleri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Teknolojileri hızlıca sayın ve hemen insan karşılığını verin. Lisans politikasını ayrıca vurgulayın: AGPL bileşenler bilinçli olarak dışlandı. Sistem açık ve yeniden kullanılabilir bir temel olmayı hedefler.</a:t>
            </a:r>
          </a:p>
          <a:p xmlns:a="http://schemas.openxmlformats.org/drawingml/2006/main">
            <a:r>
              <a:t/>
            </a:r>
          </a:p>
          <a:p xmlns:a="http://schemas.openxmlformats.org/drawingml/2006/main">
            <a:r>
              <a:t>[Sources]</a:t>
            </a:r>
          </a:p>
          <a:p xmlns:a="http://schemas.openxmlformats.org/drawingml/2006/main">
            <a:r>
              <a:t>- repo: docs/MIMARI.md</a:t>
            </a:r>
          </a:p>
          <a:p xmlns:a="http://schemas.openxmlformats.org/drawingml/2006/main">
            <a:r>
              <a:t>- repo: docs/knowledge/project-state.md#karar-günlüğü</a:t>
            </a:r>
          </a:p>
          <a:p xmlns:a="http://schemas.openxmlformats.org/drawingml/2006/main">
            <a:r>
              <a:t>- repo: THIRD_PARTY_NOTICES.md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Hız metriğini yalnız performans olarak anlatmayın. Asıl anlamı, analiz kuyruğunun gerçek olayların gerisinde kalmamasıdır. Yerel algı, uzak model çağrısından önce gürültüyü azaltır.</a:t>
            </a:r>
          </a:p>
          <a:p xmlns:a="http://schemas.openxmlformats.org/drawingml/2006/main">
            <a:r>
              <a:t/>
            </a:r>
          </a:p>
          <a:p xmlns:a="http://schemas.openxmlformats.org/drawingml/2006/main">
            <a:r>
              <a:t>[Sources]</a:t>
            </a:r>
          </a:p>
          <a:p xmlns:a="http://schemas.openxmlformats.org/drawingml/2006/main">
            <a:r>
              <a:t>- repo: docs/demo/kareler/02-analiz-akiyor.png</a:t>
            </a:r>
          </a:p>
          <a:p xmlns:a="http://schemas.openxmlformats.org/drawingml/2006/main">
            <a:r>
              <a:t>- repo: docs/demo/DEMO_SENARYOSU.md#anlatılacak-sayılar-ezber-kartı</a:t>
            </a:r>
          </a:p>
          <a:p xmlns:a="http://schemas.openxmlformats.org/drawingml/2006/main">
            <a:r>
              <a:t>- repo: docs/BENCHMARK_REPORT.md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yetenek, kullanıcıya daha fazla metin üretmek için değil doğru inceleme sorusunu önermek için eklendi. Kategori soruları kavga, saldırı, yangın, patlama, araç kazası ve diğer odaklara göre değişir.</a:t>
            </a:r>
          </a:p>
          <a:p xmlns:a="http://schemas.openxmlformats.org/drawingml/2006/main">
            <a:r>
              <a:t/>
            </a:r>
          </a:p>
          <a:p xmlns:a="http://schemas.openxmlformats.org/drawingml/2006/main">
            <a:r>
              <a:t>[Sources]</a:t>
            </a:r>
          </a:p>
          <a:p xmlns:a="http://schemas.openxmlformats.org/drawingml/2006/main">
            <a:r>
              <a:t>- repo: docs/demo/kareler/04-sohbet-arac-kullanimi.png</a:t>
            </a:r>
          </a:p>
          <a:p xmlns:a="http://schemas.openxmlformats.org/drawingml/2006/main">
            <a:r>
              <a:t>- repo: frontend/src/lib/investigationQuestions.ts</a:t>
            </a:r>
          </a:p>
          <a:p xmlns:a="http://schemas.openxmlformats.org/drawingml/2006/main">
            <a:r>
              <a:t>- repo: backend/dortgoz/agent/tools.py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Hesap verilebilirliği uzun bir model açıklaması olarak tanımlamayın. Operatörün açabildiği kare, zaman, iddia, belirsizlik ve insan kararıdır. Operatör modelin orta risk kararını yüksek riske çıkarabilir.</a:t>
            </a:r>
          </a:p>
          <a:p xmlns:a="http://schemas.openxmlformats.org/drawingml/2006/main">
            <a:r>
              <a:t/>
            </a:r>
          </a:p>
          <a:p xmlns:a="http://schemas.openxmlformats.org/drawingml/2006/main">
            <a:r>
              <a:t>[Sources]</a:t>
            </a:r>
          </a:p>
          <a:p xmlns:a="http://schemas.openxmlformats.org/drawingml/2006/main">
            <a:r>
              <a:t>- repo: docs/demo/kareler/08-olay-inceleme-merkezi.png</a:t>
            </a:r>
          </a:p>
          <a:p xmlns:a="http://schemas.openxmlformats.org/drawingml/2006/main">
            <a:r>
              <a:t>- repo: docs/demo/kareler/09-operator-duzeltmesi.png</a:t>
            </a:r>
          </a:p>
          <a:p xmlns:a="http://schemas.openxmlformats.org/drawingml/2006/main">
            <a:r>
              <a:t>- repo: docs/interface_design.md#anomali-nöbet-kuyruğu-insan-döngüde-karar-katmanı</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Yakalama ve yanlış alarm bandını birlikte söyleyin. Kör seti ayrı verin. Canlı kapasiteyi ölçülen sınır olarak sunun. Kısa olaylar ve hırsızlık alt sınıflarındaki zayıflığı saklamayın.</a:t>
            </a:r>
          </a:p>
          <a:p xmlns:a="http://schemas.openxmlformats.org/drawingml/2006/main">
            <a:r>
              <a:t/>
            </a:r>
          </a:p>
          <a:p xmlns:a="http://schemas.openxmlformats.org/drawingml/2006/main">
            <a:r>
              <a:t>[Sources]</a:t>
            </a:r>
          </a:p>
          <a:p xmlns:a="http://schemas.openxmlformats.org/drawingml/2006/main">
            <a:r>
              <a:t>- repo: docs/demo/DEMO_SENARYOSU.md#anlatılacak-sayılar-ezber-kartı</a:t>
            </a:r>
          </a:p>
          <a:p xmlns:a="http://schemas.openxmlformats.org/drawingml/2006/main">
            <a:r>
              <a:t>- repo: docs/BENCHMARK_REPORT.md#10-üretim-sonuçları</a:t>
            </a:r>
          </a:p>
          <a:p xmlns:a="http://schemas.openxmlformats.org/drawingml/2006/main">
            <a:r>
              <a:t>- repo: docs/MIMARI.md#bilinen-sınırlar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alanları mevcut müşteri veya saha kurulumu gibi sunmayın. Bunlar mimarinin uyarlanabileceği hedef bağlamlardır. Her kamera için normal durum ve eşik verisi toplanmalıdır.</a:t>
            </a:r>
          </a:p>
          <a:p xmlns:a="http://schemas.openxmlformats.org/drawingml/2006/main">
            <a:r>
              <a:t/>
            </a:r>
          </a:p>
          <a:p xmlns:a="http://schemas.openxmlformats.org/drawingml/2006/main">
            <a:r>
              <a:t>[Sources]</a:t>
            </a:r>
          </a:p>
          <a:p xmlns:a="http://schemas.openxmlformats.org/drawingml/2006/main">
            <a:r>
              <a:t>- repo: docs/demo/kareler/01-konsol-bos.png</a:t>
            </a:r>
          </a:p>
          <a:p xmlns:a="http://schemas.openxmlformats.org/drawingml/2006/main">
            <a:r>
              <a:t>- repo: docs/knowledge/project-state.md</a:t>
            </a:r>
          </a:p>
          <a:p xmlns:a="http://schemas.openxmlformats.org/drawingml/2006/main">
            <a:r>
              <a:t>- repo: docs/interface_design.md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Kapanışta açılıştaki toplum görüntüsüne dönün. Son cümle: Dörtgöz'ün insanlığa faydası makinenin daha çok hüküm vermesi değil, insanın daha az şeyi kaçırmasıdır.</a:t>
            </a:r>
          </a:p>
          <a:p xmlns:a="http://schemas.openxmlformats.org/drawingml/2006/main">
            <a:r>
              <a:t/>
            </a:r>
          </a:p>
          <a:p xmlns:a="http://schemas.openxmlformats.org/drawingml/2006/main">
            <a:r>
              <a:t>[Sources]</a:t>
            </a:r>
          </a:p>
          <a:p xmlns:a="http://schemas.openxmlformats.org/drawingml/2006/main">
            <a:r>
              <a:t>- https://www.pexels.com/photo/women-meeting-on-city-street-14505976/</a:t>
            </a:r>
          </a:p>
          <a:p xmlns:a="http://schemas.openxmlformats.org/drawingml/2006/main">
            <a:r>
              <a:t>- repo: docs/demo/DEMO_SENARYOSU.md#bölüm-10-ölçüm-ve-kapanış-900-930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bc7eeaa19741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5fe72ce0734baa" /><Relationship Type="http://schemas.openxmlformats.org/officeDocument/2006/relationships/slideLayout" Target="/ppt/slideLayouts/slideLayout1.xml" Id="R06de86fb3c6846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de86fb3c6846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c1b87208144df5" /><Relationship Type="http://schemas.openxmlformats.org/officeDocument/2006/relationships/image" Target="/ppt/media/image.jpeg" Id="R72ace6aea52d4fd7" /><Relationship Type="http://schemas.openxmlformats.org/officeDocument/2006/relationships/notesSlide" Target="/ppt/notesSlides/notesSlide1.xml" Id="Rd7980866a7704a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0da8ac9ea849e0" /><Relationship Type="http://schemas.openxmlformats.org/officeDocument/2006/relationships/image" Target="/ppt/media/image.png" Id="Rf605e07329e24f3a" /><Relationship Type="http://schemas.openxmlformats.org/officeDocument/2006/relationships/notesSlide" Target="/ppt/notesSlides/notesSlide2.xml" Id="R5631dad79a3d46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bbb2273baa4c0b" /><Relationship Type="http://schemas.openxmlformats.org/officeDocument/2006/relationships/image" Target="/ppt/media/image2.jpeg" Id="R2138aac3e09344ff" /><Relationship Type="http://schemas.openxmlformats.org/officeDocument/2006/relationships/notesSlide" Target="/ppt/notesSlides/notesSlide3.xml" Id="Rab27ff45897443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74fc4eda9f4cf7" /><Relationship Type="http://schemas.openxmlformats.org/officeDocument/2006/relationships/image" Target="/ppt/media/image2.png" Id="R32bd95f16b2948b5" /><Relationship Type="http://schemas.openxmlformats.org/officeDocument/2006/relationships/notesSlide" Target="/ppt/notesSlides/notesSlide4.xml" Id="R5492c97aa96646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58725ea939461f" /><Relationship Type="http://schemas.openxmlformats.org/officeDocument/2006/relationships/notesSlide" Target="/ppt/notesSlides/notesSlide5.xml" Id="R90704437b01347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74b16fa94d4763" /><Relationship Type="http://schemas.openxmlformats.org/officeDocument/2006/relationships/notesSlide" Target="/ppt/notesSlides/notesSlide6.xml" Id="Rfcb7ba98357740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3fc0be6f2d459b" /><Relationship Type="http://schemas.openxmlformats.org/officeDocument/2006/relationships/image" Target="/ppt/media/image3.png" Id="Rdbb16f125f9f4755" /><Relationship Type="http://schemas.openxmlformats.org/officeDocument/2006/relationships/notesSlide" Target="/ppt/notesSlides/notesSlide7.xml" Id="R8387287696d14f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b4de61570b4947" /><Relationship Type="http://schemas.openxmlformats.org/officeDocument/2006/relationships/image" Target="/ppt/media/image4.png" Id="R649299691320477a" /><Relationship Type="http://schemas.openxmlformats.org/officeDocument/2006/relationships/notesSlide" Target="/ppt/notesSlides/notesSlide8.xml" Id="R7767446553bb4d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4a9920b05e40bc" /><Relationship Type="http://schemas.openxmlformats.org/officeDocument/2006/relationships/image" Target="/ppt/media/image5.png" Id="R3a0769f0080f4b4b" /><Relationship Type="http://schemas.openxmlformats.org/officeDocument/2006/relationships/image" Target="/ppt/media/image6.png" Id="Ra9a963e8fdc04fbc" /><Relationship Type="http://schemas.openxmlformats.org/officeDocument/2006/relationships/notesSlide" Target="/ppt/notesSlides/notesSlide9.xml" Id="R3352d6e0a09c4a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0bb74e47484a90" /><Relationship Type="http://schemas.openxmlformats.org/officeDocument/2006/relationships/notesSlide" Target="/ppt/notesSlides/notesSlide10.xml" Id="R02816267644f4c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6a85bc3f03e4732" /><Relationship Type="http://schemas.openxmlformats.org/officeDocument/2006/relationships/image" Target="/ppt/media/image7.png" Id="R60bd7f4baba54a52" /><Relationship Type="http://schemas.openxmlformats.org/officeDocument/2006/relationships/notesSlide" Target="/ppt/notesSlides/notesSlide11.xml" Id="R8c2d6309a57f45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37b890e9aa4913" /><Relationship Type="http://schemas.openxmlformats.org/officeDocument/2006/relationships/image" Target="/ppt/media/image3.jpeg" Id="R1116683741e74cbe" /><Relationship Type="http://schemas.openxmlformats.org/officeDocument/2006/relationships/notesSlide" Target="/ppt/notesSlides/notesSlide12.xml" Id="R00919d99fc634688" /></Relationships>
</file>

<file path=ppt/slides/slide1.xml><?xml version="1.0" encoding="utf-8"?>
<p:sld xmlns:p="http://schemas.openxmlformats.org/presentationml/2006/main">
  <p:cSld>
    <p:bg>
      <p:bgPr>
        <a:solidFill xmlns:a="http://schemas.openxmlformats.org/drawingml/2006/main">
          <a:srgbClr val="123C34"/>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2ace6aea52d4fd7"/>
          <a:srcRect xmlns:a="http://schemas.openxmlformats.org/drawingml/2006/main" l="20242" t="0" r="20242" b="0"/>
          <a:stretch xmlns:a="http://schemas.openxmlformats.org/drawingml/2006/main">
            <a:fillRect l="0" t="0" r="0" b="0"/>
          </a:stretch>
        </p:blipFill>
        <p:spPr>
          <a:xfrm xmlns:a="http://schemas.openxmlformats.org/drawingml/2006/main">
            <a:off x="6096000" y="0"/>
            <a:ext cx="6096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0EE2CF-0FB1-4BA0-8A5C-6294AF8115E1}"/>
              </a:ext>
            </a:extLst>
          </p:cNvPr>
          <p:cNvSpPr>
            <a:spLocks xmlns:a="http://schemas.openxmlformats.org/drawingml/2006/main" noGrp="1"/>
          </p:cNvSpPr>
          <p:nvPr/>
        </p:nvSpPr>
        <p:spPr>
          <a:xfrm xmlns:a="http://schemas.openxmlformats.org/drawingml/2006/main">
            <a:off x="0" y="0"/>
            <a:ext cx="6400800" cy="6858000"/>
          </a:xfrm>
          <a:prstGeom xmlns:a="http://schemas.openxmlformats.org/drawingml/2006/main" prst="rect">
            <a:avLst/>
          </a:prstGeom>
          <a:solidFill xmlns:a="http://schemas.openxmlformats.org/drawingml/2006/main">
            <a:srgbClr val="123C34"/>
          </a:solidFill>
          <a:ln xmlns:a="http://schemas.openxmlformats.org/drawingml/2006/main" w="0">
            <a:solidFill>
              <a:srgbClr val="123C34"/>
            </a:solidFill>
            <a:prstDash val="solid"/>
          </a:ln>
        </p:spPr>
      </p:sp>
      <p:sp>
        <p:nvSpPr>
          <p:cNvPr id="3" name="">
            <a:extLst xmlns:a="http://schemas.openxmlformats.org/drawingml/2006/main">
              <a:ext uri="{FF2B5EF4-FFF2-40B4-BE49-F238E27FC236}">
                <a16:creationId xmlns:a16="http://schemas.microsoft.com/office/drawing/2014/main" id="{61087BA3-C530-4E5E-8740-41AA56EEBE4A}"/>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4" name="">
            <a:extLst xmlns:a="http://schemas.openxmlformats.org/drawingml/2006/main">
              <a:ext uri="{FF2B5EF4-FFF2-40B4-BE49-F238E27FC236}">
                <a16:creationId xmlns:a16="http://schemas.microsoft.com/office/drawing/2014/main" id="{81818E7C-0714-4690-9071-401DEAE4B80A}"/>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5" name="">
            <a:extLst xmlns:a="http://schemas.openxmlformats.org/drawingml/2006/main">
              <a:ext uri="{FF2B5EF4-FFF2-40B4-BE49-F238E27FC236}">
                <a16:creationId xmlns:a16="http://schemas.microsoft.com/office/drawing/2014/main" id="{C0A26F01-7903-4169-8647-0E0C0D6B5144}"/>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FFFFFF"/>
                </a:solidFill>
              </a:defRPr>
            </a:pPr>
            <a:r>
              <a:rPr sz="1125" b="1" i="0">
                <a:solidFill>
                  <a:srgbClr val="FFFFFF"/>
                </a:solidFill>
              </a:rPr>
              <a:t>DÖRTGÖZ</a:t>
            </a:r>
          </a:p>
        </p:txBody>
      </p:sp>
      <p:sp>
        <p:nvSpPr>
          <p:cNvPr id="6" name="">
            <a:extLst xmlns:a="http://schemas.openxmlformats.org/drawingml/2006/main">
              <a:ext uri="{FF2B5EF4-FFF2-40B4-BE49-F238E27FC236}">
                <a16:creationId xmlns:a16="http://schemas.microsoft.com/office/drawing/2014/main" id="{173CE0C2-FB91-4E87-BD4E-2B1EDCA65037}"/>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C2D7D0"/>
                </a:solidFill>
              </a:defRPr>
            </a:pPr>
            <a:r>
              <a:rPr sz="900" b="0" i="0">
                <a:solidFill>
                  <a:srgbClr val="C2D7D0"/>
                </a:solidFill>
              </a:rPr>
              <a:t>01</a:t>
            </a:r>
          </a:p>
        </p:txBody>
      </p:sp>
      <p:sp>
        <p:nvSpPr>
          <p:cNvPr id="7" name="">
            <a:extLst xmlns:a="http://schemas.openxmlformats.org/drawingml/2006/main">
              <a:ext uri="{FF2B5EF4-FFF2-40B4-BE49-F238E27FC236}">
                <a16:creationId xmlns:a16="http://schemas.microsoft.com/office/drawing/2014/main" id="{0CF7641E-B447-48C4-8763-55EB782F9209}"/>
              </a:ext>
            </a:extLst>
          </p:cNvPr>
          <p:cNvSpPr>
            <a:spLocks xmlns:a="http://schemas.openxmlformats.org/drawingml/2006/main" noGrp="1"/>
          </p:cNvSpPr>
          <p:nvPr/>
        </p:nvSpPr>
        <p:spPr>
          <a:xfrm xmlns:a="http://schemas.openxmlformats.org/drawingml/2006/main">
            <a:off x="742950" y="1619250"/>
            <a:ext cx="5334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i="0">
                <a:solidFill>
                  <a:srgbClr val="FFFFFF"/>
                </a:solidFill>
              </a:defRPr>
            </a:pPr>
            <a:r>
              <a:rPr sz="3900" b="1" i="0">
                <a:solidFill>
                  <a:srgbClr val="FFFFFF"/>
                </a:solidFill>
              </a:rPr>
              <a:t>Bir olayın</a:t>
            </a:r>
          </a:p>
          <a:p xmlns:a="http://schemas.openxmlformats.org/drawingml/2006/main">
            <a:pPr algn="l">
              <a:defRPr sz="3900" b="1" i="0">
                <a:solidFill>
                  <a:srgbClr val="FFFFFF"/>
                </a:solidFill>
              </a:defRPr>
            </a:pPr>
            <a:r>
              <a:rPr sz="3900" b="1" i="0">
                <a:solidFill>
                  <a:srgbClr val="FFFFFF"/>
                </a:solidFill>
              </a:rPr>
              <a:t>gözden kaçmaması için</a:t>
            </a:r>
          </a:p>
        </p:txBody>
      </p:sp>
      <p:sp>
        <p:nvSpPr>
          <p:cNvPr id="8" name="">
            <a:extLst xmlns:a="http://schemas.openxmlformats.org/drawingml/2006/main">
              <a:ext uri="{FF2B5EF4-FFF2-40B4-BE49-F238E27FC236}">
                <a16:creationId xmlns:a16="http://schemas.microsoft.com/office/drawing/2014/main" id="{37821E71-3EF7-4C6A-9DAE-CA1664F7A7F6}"/>
              </a:ext>
            </a:extLst>
          </p:cNvPr>
          <p:cNvSpPr>
            <a:spLocks xmlns:a="http://schemas.openxmlformats.org/drawingml/2006/main" noGrp="1"/>
          </p:cNvSpPr>
          <p:nvPr/>
        </p:nvSpPr>
        <p:spPr>
          <a:xfrm xmlns:a="http://schemas.openxmlformats.org/drawingml/2006/main">
            <a:off x="742950" y="31051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6FC2AD"/>
                </a:solidFill>
              </a:defRPr>
            </a:pPr>
            <a:r>
              <a:rPr sz="2850" b="1" i="0">
                <a:solidFill>
                  <a:srgbClr val="6FC2AD"/>
                </a:solidFill>
              </a:rPr>
              <a:t>Dörtgöz</a:t>
            </a:r>
          </a:p>
        </p:txBody>
      </p:sp>
      <p:sp>
        <p:nvSpPr>
          <p:cNvPr id="9" name="">
            <a:extLst xmlns:a="http://schemas.openxmlformats.org/drawingml/2006/main">
              <a:ext uri="{FF2B5EF4-FFF2-40B4-BE49-F238E27FC236}">
                <a16:creationId xmlns:a16="http://schemas.microsoft.com/office/drawing/2014/main" id="{E4D15DA8-EF1B-4ED9-9C70-68AD56FFB382}"/>
              </a:ext>
            </a:extLst>
          </p:cNvPr>
          <p:cNvSpPr>
            <a:spLocks xmlns:a="http://schemas.openxmlformats.org/drawingml/2006/main" noGrp="1"/>
          </p:cNvSpPr>
          <p:nvPr/>
        </p:nvSpPr>
        <p:spPr>
          <a:xfrm xmlns:a="http://schemas.openxmlformats.org/drawingml/2006/main">
            <a:off x="742950" y="4048125"/>
            <a:ext cx="4857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i="0">
                <a:solidFill>
                  <a:srgbClr val="D6E5E0"/>
                </a:solidFill>
              </a:defRPr>
            </a:pPr>
            <a:r>
              <a:rPr sz="1500" b="0" i="0">
                <a:solidFill>
                  <a:srgbClr val="D6E5E0"/>
                </a:solidFill>
              </a:rPr>
              <a:t>İnsan dikkatini güçlendiren, kanıta dayalı video analiz ve karar destek sistemi</a:t>
            </a:r>
          </a:p>
        </p:txBody>
      </p:sp>
      <p:sp>
        <p:nvSpPr>
          <p:cNvPr id="10" name="">
            <a:extLst xmlns:a="http://schemas.openxmlformats.org/drawingml/2006/main">
              <a:ext uri="{FF2B5EF4-FFF2-40B4-BE49-F238E27FC236}">
                <a16:creationId xmlns:a16="http://schemas.microsoft.com/office/drawing/2014/main" id="{31428077-CF70-43D0-AF16-8024854AB665}"/>
              </a:ext>
            </a:extLst>
          </p:cNvPr>
          <p:cNvSpPr>
            <a:spLocks xmlns:a="http://schemas.openxmlformats.org/drawingml/2006/main" noGrp="1"/>
          </p:cNvSpPr>
          <p:nvPr/>
        </p:nvSpPr>
        <p:spPr>
          <a:xfrm xmlns:a="http://schemas.openxmlformats.org/drawingml/2006/main">
            <a:off x="742950" y="5334000"/>
            <a:ext cx="1714500" cy="57150"/>
          </a:xfrm>
          <a:prstGeom xmlns:a="http://schemas.openxmlformats.org/drawingml/2006/main" prst="rect">
            <a:avLst/>
          </a:prstGeom>
          <a:solidFill xmlns:a="http://schemas.openxmlformats.org/drawingml/2006/main">
            <a:srgbClr val="E9A23B"/>
          </a:solidFill>
          <a:ln xmlns:a="http://schemas.openxmlformats.org/drawingml/2006/main" w="0">
            <a:solidFill>
              <a:srgbClr val="E9A23B"/>
            </a:solidFill>
            <a:prstDash val="solid"/>
          </a:ln>
        </p:spPr>
      </p:sp>
      <p:sp>
        <p:nvSpPr>
          <p:cNvPr id="11" name="">
            <a:extLst xmlns:a="http://schemas.openxmlformats.org/drawingml/2006/main">
              <a:ext uri="{FF2B5EF4-FFF2-40B4-BE49-F238E27FC236}">
                <a16:creationId xmlns:a16="http://schemas.microsoft.com/office/drawing/2014/main" id="{803C741C-0A0B-40CE-B79C-F1E8B1FB16CC}"/>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B8CEC7"/>
                </a:solidFill>
              </a:defRPr>
            </a:pPr>
            <a:r>
              <a:rPr sz="825" b="0" i="0">
                <a:solidFill>
                  <a:srgbClr val="B8CEC7"/>
                </a:solidFill>
              </a:rPr>
              <a:t>Toplumsal değer ve teknoloji · TEKNOFEST 2026</a:t>
            </a:r>
          </a:p>
        </p:txBody>
      </p:sp>
    </p:spTree>
    <p:extLst>
      <p:ext uri="{BB962C8B-B14F-4D97-AF65-F5344CB8AC3E}">
        <p14:creationId xmlns:p14="http://schemas.microsoft.com/office/powerpoint/2010/main" val="768845400"/>
      </p:ext>
    </p:extLst>
  </p:cSld>
</p:sld>
</file>

<file path=ppt/slides/slide2.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B5F77EF-72E6-487B-B2EF-74A207A223C5}"/>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2" name="">
            <a:extLst xmlns:a="http://schemas.openxmlformats.org/drawingml/2006/main">
              <a:ext uri="{FF2B5EF4-FFF2-40B4-BE49-F238E27FC236}">
                <a16:creationId xmlns:a16="http://schemas.microsoft.com/office/drawing/2014/main" id="{925E3BF4-FB64-498B-A39D-7E87F62B9106}"/>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3" name="">
            <a:extLst xmlns:a="http://schemas.openxmlformats.org/drawingml/2006/main">
              <a:ext uri="{FF2B5EF4-FFF2-40B4-BE49-F238E27FC236}">
                <a16:creationId xmlns:a16="http://schemas.microsoft.com/office/drawing/2014/main" id="{A30C350A-62A0-43E0-92EC-F8DFD577CF50}"/>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10251F"/>
                </a:solidFill>
              </a:defRPr>
            </a:pPr>
            <a:r>
              <a:rPr sz="1125" b="1" i="0">
                <a:solidFill>
                  <a:srgbClr val="10251F"/>
                </a:solidFill>
              </a:rPr>
              <a:t>DÖRTGÖZ</a:t>
            </a:r>
          </a:p>
        </p:txBody>
      </p:sp>
      <p:sp>
        <p:nvSpPr>
          <p:cNvPr id="4" name="">
            <a:extLst xmlns:a="http://schemas.openxmlformats.org/drawingml/2006/main">
              <a:ext uri="{FF2B5EF4-FFF2-40B4-BE49-F238E27FC236}">
                <a16:creationId xmlns:a16="http://schemas.microsoft.com/office/drawing/2014/main" id="{AD1B5722-B23F-473A-A5F4-EB99ED384B95}"/>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66736F"/>
                </a:solidFill>
              </a:defRPr>
            </a:pPr>
            <a:r>
              <a:rPr sz="900" b="0" i="0">
                <a:solidFill>
                  <a:srgbClr val="66736F"/>
                </a:solidFill>
              </a:rPr>
              <a:t>02</a:t>
            </a:r>
          </a:p>
        </p:txBody>
      </p:sp>
      <p:sp>
        <p:nvSpPr>
          <p:cNvPr id="5" name="">
            <a:extLst xmlns:a="http://schemas.openxmlformats.org/drawingml/2006/main">
              <a:ext uri="{FF2B5EF4-FFF2-40B4-BE49-F238E27FC236}">
                <a16:creationId xmlns:a16="http://schemas.microsoft.com/office/drawing/2014/main" id="{D833FD89-E4FA-434D-8C0C-A4D4AC1FEC91}"/>
              </a:ext>
            </a:extLst>
          </p:cNvPr>
          <p:cNvSpPr>
            <a:spLocks xmlns:a="http://schemas.openxmlformats.org/drawingml/2006/main" noGrp="1"/>
          </p:cNvSpPr>
          <p:nvPr/>
        </p:nvSpPr>
        <p:spPr>
          <a:xfrm xmlns:a="http://schemas.openxmlformats.org/drawingml/2006/main">
            <a:off x="609600" y="7810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10251F"/>
                </a:solidFill>
              </a:defRPr>
            </a:pPr>
            <a:r>
              <a:rPr sz="2850" b="1" i="0">
                <a:solidFill>
                  <a:srgbClr val="10251F"/>
                </a:solidFill>
              </a:rPr>
              <a:t>Kamera sayısı artarken insan dikkati artmıyor</a:t>
            </a:r>
          </a:p>
        </p:txBody>
      </p:sp>
      <p:sp>
        <p:nvSpPr>
          <p:cNvPr id="6" name="">
            <a:extLst xmlns:a="http://schemas.openxmlformats.org/drawingml/2006/main">
              <a:ext uri="{FF2B5EF4-FFF2-40B4-BE49-F238E27FC236}">
                <a16:creationId xmlns:a16="http://schemas.microsoft.com/office/drawing/2014/main" id="{C966FA0D-6E0E-459B-8A46-0C790EDB32B6}"/>
              </a:ext>
            </a:extLst>
          </p:cNvPr>
          <p:cNvSpPr>
            <a:spLocks xmlns:a="http://schemas.openxmlformats.org/drawingml/2006/main" noGrp="1"/>
          </p:cNvSpPr>
          <p:nvPr/>
        </p:nvSpPr>
        <p:spPr>
          <a:xfrm xmlns:a="http://schemas.openxmlformats.org/drawingml/2006/main">
            <a:off x="609600" y="1333500"/>
            <a:ext cx="1093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66736F"/>
                </a:solidFill>
              </a:defRPr>
            </a:pPr>
            <a:r>
              <a:rPr sz="1350" b="0" i="0">
                <a:solidFill>
                  <a:srgbClr val="66736F"/>
                </a:solidFill>
              </a:rPr>
              <a:t>Toplumsal güvenlikte eksik olan çoğu zaman görüntü değil, doğru ana yetişebilen dikkattir.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605e07329e24f3a"/>
          <a:stretch xmlns:a="http://schemas.openxmlformats.org/drawingml/2006/main"/>
        </p:blipFill>
        <p:spPr>
          <a:xfrm xmlns:a="http://schemas.openxmlformats.org/drawingml/2006/main">
            <a:off x="5391150" y="2173486"/>
            <a:ext cx="6191250" cy="3482578"/>
          </a:xfrm>
          <a:prstGeom xmlns:a="http://schemas.openxmlformats.org/drawingml/2006/main" prst="roundRect">
            <a:avLst>
              <a:gd name="adj" fmla="val 2899"/>
            </a:avLst>
          </a:prstGeom>
        </p:spPr>
      </p:pic>
      <p:sp>
        <p:nvSpPr>
          <p:cNvPr id="8" name="">
            <a:extLst xmlns:a="http://schemas.openxmlformats.org/drawingml/2006/main">
              <a:ext uri="{FF2B5EF4-FFF2-40B4-BE49-F238E27FC236}">
                <a16:creationId xmlns:a16="http://schemas.microsoft.com/office/drawing/2014/main" id="{994039E6-6AB4-44F0-99D6-B821A23D514D}"/>
              </a:ext>
            </a:extLst>
          </p:cNvPr>
          <p:cNvSpPr>
            <a:spLocks xmlns:a="http://schemas.openxmlformats.org/drawingml/2006/main" noGrp="1"/>
          </p:cNvSpPr>
          <p:nvPr/>
        </p:nvSpPr>
        <p:spPr>
          <a:xfrm xmlns:a="http://schemas.openxmlformats.org/drawingml/2006/main">
            <a:off x="647700" y="2209800"/>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E806F"/>
                </a:solidFill>
              </a:defRPr>
            </a:pPr>
            <a:r>
              <a:rPr sz="1650" b="1" i="0">
                <a:solidFill>
                  <a:srgbClr val="1E806F"/>
                </a:solidFill>
              </a:rPr>
              <a:t>Bir operatör</a:t>
            </a:r>
          </a:p>
        </p:txBody>
      </p:sp>
      <p:sp>
        <p:nvSpPr>
          <p:cNvPr id="9" name="">
            <a:extLst xmlns:a="http://schemas.openxmlformats.org/drawingml/2006/main">
              <a:ext uri="{FF2B5EF4-FFF2-40B4-BE49-F238E27FC236}">
                <a16:creationId xmlns:a16="http://schemas.microsoft.com/office/drawing/2014/main" id="{745B1CEF-FF1F-496B-ABC0-4FF490603AE7}"/>
              </a:ext>
            </a:extLst>
          </p:cNvPr>
          <p:cNvSpPr>
            <a:spLocks xmlns:a="http://schemas.openxmlformats.org/drawingml/2006/main" noGrp="1"/>
          </p:cNvSpPr>
          <p:nvPr/>
        </p:nvSpPr>
        <p:spPr>
          <a:xfrm xmlns:a="http://schemas.openxmlformats.org/drawingml/2006/main">
            <a:off x="647700" y="2647950"/>
            <a:ext cx="4286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i="0">
                <a:solidFill>
                  <a:srgbClr val="10251F"/>
                </a:solidFill>
              </a:defRPr>
            </a:pPr>
            <a:r>
              <a:rPr sz="2550" b="1" i="0">
                <a:solidFill>
                  <a:srgbClr val="10251F"/>
                </a:solidFill>
              </a:rPr>
              <a:t>aynı anda onlarca akışta</a:t>
            </a:r>
          </a:p>
          <a:p xmlns:a="http://schemas.openxmlformats.org/drawingml/2006/main">
            <a:pPr algn="l">
              <a:defRPr sz="2550" b="1" i="0">
                <a:solidFill>
                  <a:srgbClr val="10251F"/>
                </a:solidFill>
              </a:defRPr>
            </a:pPr>
            <a:r>
              <a:rPr sz="2550" b="1" i="0">
                <a:solidFill>
                  <a:srgbClr val="10251F"/>
                </a:solidFill>
              </a:rPr>
              <a:t>aynı dikkati sürdüremez.</a:t>
            </a:r>
          </a:p>
        </p:txBody>
      </p:sp>
      <p:sp>
        <p:nvSpPr>
          <p:cNvPr id="10" name="">
            <a:extLst xmlns:a="http://schemas.openxmlformats.org/drawingml/2006/main">
              <a:ext uri="{FF2B5EF4-FFF2-40B4-BE49-F238E27FC236}">
                <a16:creationId xmlns:a16="http://schemas.microsoft.com/office/drawing/2014/main" id="{0836AF49-79FA-45A9-9A5E-55565B593B3D}"/>
              </a:ext>
            </a:extLst>
          </p:cNvPr>
          <p:cNvSpPr>
            <a:spLocks xmlns:a="http://schemas.openxmlformats.org/drawingml/2006/main" noGrp="1"/>
          </p:cNvSpPr>
          <p:nvPr/>
        </p:nvSpPr>
        <p:spPr>
          <a:xfrm xmlns:a="http://schemas.openxmlformats.org/drawingml/2006/main">
            <a:off x="647700" y="4000500"/>
            <a:ext cx="3619500" cy="19050"/>
          </a:xfrm>
          <a:prstGeom xmlns:a="http://schemas.openxmlformats.org/drawingml/2006/main" prst="rect">
            <a:avLst/>
          </a:prstGeom>
          <a:solidFill xmlns:a="http://schemas.openxmlformats.org/drawingml/2006/main">
            <a:srgbClr val="E8DDCC"/>
          </a:solidFill>
          <a:ln xmlns:a="http://schemas.openxmlformats.org/drawingml/2006/main" w="0">
            <a:solidFill>
              <a:srgbClr val="E8DDCC"/>
            </a:solidFill>
            <a:prstDash val="solid"/>
          </a:ln>
        </p:spPr>
      </p:sp>
      <p:sp>
        <p:nvSpPr>
          <p:cNvPr id="11" name="">
            <a:extLst xmlns:a="http://schemas.openxmlformats.org/drawingml/2006/main">
              <a:ext uri="{FF2B5EF4-FFF2-40B4-BE49-F238E27FC236}">
                <a16:creationId xmlns:a16="http://schemas.microsoft.com/office/drawing/2014/main" id="{28CE0F51-5583-4B8E-B931-762A304844DB}"/>
              </a:ext>
            </a:extLst>
          </p:cNvPr>
          <p:cNvSpPr>
            <a:spLocks xmlns:a="http://schemas.openxmlformats.org/drawingml/2006/main" noGrp="1"/>
          </p:cNvSpPr>
          <p:nvPr/>
        </p:nvSpPr>
        <p:spPr>
          <a:xfrm xmlns:a="http://schemas.openxmlformats.org/drawingml/2006/main">
            <a:off x="647700" y="4248150"/>
            <a:ext cx="4095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i="0">
                <a:solidFill>
                  <a:srgbClr val="66736F"/>
                </a:solidFill>
              </a:defRPr>
            </a:pPr>
            <a:r>
              <a:rPr sz="1425" b="0" i="0">
                <a:solidFill>
                  <a:srgbClr val="66736F"/>
                </a:solidFill>
              </a:rPr>
              <a:t>Dörtgöz görüntüyü izlemekten önce, operatörün hangi görüntüye bakması gerektiğini bulur.</a:t>
            </a:r>
          </a:p>
        </p:txBody>
      </p:sp>
      <p:sp>
        <p:nvSpPr>
          <p:cNvPr id="12" name="">
            <a:extLst xmlns:a="http://schemas.openxmlformats.org/drawingml/2006/main">
              <a:ext uri="{FF2B5EF4-FFF2-40B4-BE49-F238E27FC236}">
                <a16:creationId xmlns:a16="http://schemas.microsoft.com/office/drawing/2014/main" id="{2D4EECEB-6E7C-43D7-8E2B-E568AA4DE9AA}"/>
              </a:ext>
            </a:extLst>
          </p:cNvPr>
          <p:cNvSpPr>
            <a:spLocks xmlns:a="http://schemas.openxmlformats.org/drawingml/2006/main" noGrp="1"/>
          </p:cNvSpPr>
          <p:nvPr/>
        </p:nvSpPr>
        <p:spPr>
          <a:xfrm xmlns:a="http://schemas.openxmlformats.org/drawingml/2006/main">
            <a:off x="647700" y="55626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C95F3D"/>
                </a:solidFill>
              </a:defRPr>
            </a:pPr>
            <a:r>
              <a:rPr sz="1350" b="1" i="0">
                <a:solidFill>
                  <a:srgbClr val="C95F3D"/>
                </a:solidFill>
              </a:rPr>
              <a:t>Toplumsal karşılığı: daha erken fark edilen risk, daha bilinçli müdahale.</a:t>
            </a:r>
          </a:p>
        </p:txBody>
      </p:sp>
      <p:sp>
        <p:nvSpPr>
          <p:cNvPr id="13" name="">
            <a:extLst xmlns:a="http://schemas.openxmlformats.org/drawingml/2006/main">
              <a:ext uri="{FF2B5EF4-FFF2-40B4-BE49-F238E27FC236}">
                <a16:creationId xmlns:a16="http://schemas.microsoft.com/office/drawing/2014/main" id="{BB286384-7C6E-4FD3-8308-A3A0DBF8C9ED}"/>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7A8581"/>
                </a:solidFill>
              </a:defRPr>
            </a:pPr>
            <a:r>
              <a:rPr sz="825" b="0" i="0">
                <a:solidFill>
                  <a:srgbClr val="7A8581"/>
                </a:solidFill>
              </a:rPr>
              <a:t>Çoklu kamera görüntüsü gerçek üretim konsolundan alınmıştır.</a:t>
            </a:r>
          </a:p>
        </p:txBody>
      </p:sp>
    </p:spTree>
    <p:extLst>
      <p:ext uri="{BB962C8B-B14F-4D97-AF65-F5344CB8AC3E}">
        <p14:creationId xmlns:p14="http://schemas.microsoft.com/office/powerpoint/2010/main" val="170034053"/>
      </p:ext>
    </p:extLst>
  </p:cSld>
</p:sld>
</file>

<file path=ppt/slides/slide3.xml><?xml version="1.0" encoding="utf-8"?>
<p:sld xmlns:p="http://schemas.openxmlformats.org/presentationml/2006/main">
  <p:cSld>
    <p:bg>
      <p:bgPr>
        <a:solidFill xmlns:a="http://schemas.openxmlformats.org/drawingml/2006/main">
          <a:srgbClr val="123C34"/>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138aac3e09344ff"/>
          <a:srcRect xmlns:a="http://schemas.openxmlformats.org/drawingml/2006/main" l="17775" t="0" r="17775" b="0"/>
          <a:stretch xmlns:a="http://schemas.openxmlformats.org/drawingml/2006/main">
            <a:fillRect l="0" t="0" r="0" b="0"/>
          </a:stretch>
        </p:blipFill>
        <p:spPr>
          <a:xfrm xmlns:a="http://schemas.openxmlformats.org/drawingml/2006/main">
            <a:off x="5562600" y="0"/>
            <a:ext cx="6629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BC7A01-21E3-41B4-A78F-E06D5FDBA791}"/>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23C34"/>
          </a:solidFill>
          <a:ln xmlns:a="http://schemas.openxmlformats.org/drawingml/2006/main" w="0">
            <a:solidFill>
              <a:srgbClr val="123C34"/>
            </a:solidFill>
            <a:prstDash val="solid"/>
          </a:ln>
        </p:spPr>
      </p:sp>
      <p:sp>
        <p:nvSpPr>
          <p:cNvPr id="3" name="">
            <a:extLst xmlns:a="http://schemas.openxmlformats.org/drawingml/2006/main">
              <a:ext uri="{FF2B5EF4-FFF2-40B4-BE49-F238E27FC236}">
                <a16:creationId xmlns:a16="http://schemas.microsoft.com/office/drawing/2014/main" id="{AC425C6B-98BC-41F9-8E6B-F39336443EAB}"/>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4" name="">
            <a:extLst xmlns:a="http://schemas.openxmlformats.org/drawingml/2006/main">
              <a:ext uri="{FF2B5EF4-FFF2-40B4-BE49-F238E27FC236}">
                <a16:creationId xmlns:a16="http://schemas.microsoft.com/office/drawing/2014/main" id="{5AEFFD27-5DF3-4AC4-A8BC-129A5CDBAD8A}"/>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5" name="">
            <a:extLst xmlns:a="http://schemas.openxmlformats.org/drawingml/2006/main">
              <a:ext uri="{FF2B5EF4-FFF2-40B4-BE49-F238E27FC236}">
                <a16:creationId xmlns:a16="http://schemas.microsoft.com/office/drawing/2014/main" id="{44DC4B55-C880-4F64-81DA-81469C0F4E5E}"/>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FFFFFF"/>
                </a:solidFill>
              </a:defRPr>
            </a:pPr>
            <a:r>
              <a:rPr sz="1125" b="1" i="0">
                <a:solidFill>
                  <a:srgbClr val="FFFFFF"/>
                </a:solidFill>
              </a:rPr>
              <a:t>DÖRTGÖZ</a:t>
            </a:r>
          </a:p>
        </p:txBody>
      </p:sp>
      <p:sp>
        <p:nvSpPr>
          <p:cNvPr id="6" name="">
            <a:extLst xmlns:a="http://schemas.openxmlformats.org/drawingml/2006/main">
              <a:ext uri="{FF2B5EF4-FFF2-40B4-BE49-F238E27FC236}">
                <a16:creationId xmlns:a16="http://schemas.microsoft.com/office/drawing/2014/main" id="{64A635EB-BEB1-4CBB-8771-EE7A7410D081}"/>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C2D7D0"/>
                </a:solidFill>
              </a:defRPr>
            </a:pPr>
            <a:r>
              <a:rPr sz="900" b="0" i="0">
                <a:solidFill>
                  <a:srgbClr val="C2D7D0"/>
                </a:solidFill>
              </a:rPr>
              <a:t>03</a:t>
            </a:r>
          </a:p>
        </p:txBody>
      </p:sp>
      <p:sp>
        <p:nvSpPr>
          <p:cNvPr id="7" name="">
            <a:extLst xmlns:a="http://schemas.openxmlformats.org/drawingml/2006/main">
              <a:ext uri="{FF2B5EF4-FFF2-40B4-BE49-F238E27FC236}">
                <a16:creationId xmlns:a16="http://schemas.microsoft.com/office/drawing/2014/main" id="{287AB0FC-1708-4B33-AB58-448D75854DE5}"/>
              </a:ext>
            </a:extLst>
          </p:cNvPr>
          <p:cNvSpPr>
            <a:spLocks xmlns:a="http://schemas.openxmlformats.org/drawingml/2006/main" noGrp="1"/>
          </p:cNvSpPr>
          <p:nvPr/>
        </p:nvSpPr>
        <p:spPr>
          <a:xfrm xmlns:a="http://schemas.openxmlformats.org/drawingml/2006/main">
            <a:off x="704850" y="131445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FFFFFF"/>
                </a:solidFill>
              </a:defRPr>
            </a:pPr>
            <a:r>
              <a:rPr sz="2850" b="1" i="0">
                <a:solidFill>
                  <a:srgbClr val="FFFFFF"/>
                </a:solidFill>
              </a:rPr>
              <a:t>Amaç bir alarm üretmek değil,</a:t>
            </a:r>
          </a:p>
          <a:p xmlns:a="http://schemas.openxmlformats.org/drawingml/2006/main">
            <a:pPr algn="l">
              <a:defRPr sz="2850" b="1" i="0">
                <a:solidFill>
                  <a:srgbClr val="FFFFFF"/>
                </a:solidFill>
              </a:defRPr>
            </a:pPr>
            <a:r>
              <a:rPr sz="2850" b="1" i="0">
                <a:solidFill>
                  <a:srgbClr val="FFFFFF"/>
                </a:solidFill>
              </a:rPr>
              <a:t>yardım zincirini geciktirmemek</a:t>
            </a:r>
          </a:p>
        </p:txBody>
      </p:sp>
      <p:sp>
        <p:nvSpPr>
          <p:cNvPr id="8" name="">
            <a:extLst xmlns:a="http://schemas.openxmlformats.org/drawingml/2006/main">
              <a:ext uri="{FF2B5EF4-FFF2-40B4-BE49-F238E27FC236}">
                <a16:creationId xmlns:a16="http://schemas.microsoft.com/office/drawing/2014/main" id="{FBB26CA8-8662-4677-8ECE-7A8433661B47}"/>
              </a:ext>
            </a:extLst>
          </p:cNvPr>
          <p:cNvSpPr>
            <a:spLocks xmlns:a="http://schemas.openxmlformats.org/drawingml/2006/main" noGrp="1"/>
          </p:cNvSpPr>
          <p:nvPr/>
        </p:nvSpPr>
        <p:spPr>
          <a:xfrm xmlns:a="http://schemas.openxmlformats.org/drawingml/2006/main">
            <a:off x="723900" y="30289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E9A23B"/>
                </a:solidFill>
              </a:defRPr>
            </a:pPr>
            <a:r>
              <a:rPr sz="1125" b="1" i="0">
                <a:solidFill>
                  <a:srgbClr val="E9A23B"/>
                </a:solidFill>
              </a:rPr>
              <a:t>01</a:t>
            </a:r>
          </a:p>
        </p:txBody>
      </p:sp>
      <p:sp>
        <p:nvSpPr>
          <p:cNvPr id="9" name="">
            <a:extLst xmlns:a="http://schemas.openxmlformats.org/drawingml/2006/main">
              <a:ext uri="{FF2B5EF4-FFF2-40B4-BE49-F238E27FC236}">
                <a16:creationId xmlns:a16="http://schemas.microsoft.com/office/drawing/2014/main" id="{C815E7D5-6132-4CBD-81D2-1CE72A9B2C02}"/>
              </a:ext>
            </a:extLst>
          </p:cNvPr>
          <p:cNvSpPr>
            <a:spLocks xmlns:a="http://schemas.openxmlformats.org/drawingml/2006/main" noGrp="1"/>
          </p:cNvSpPr>
          <p:nvPr/>
        </p:nvSpPr>
        <p:spPr>
          <a:xfrm xmlns:a="http://schemas.openxmlformats.org/drawingml/2006/main">
            <a:off x="1257300" y="29908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6FC2AD"/>
                </a:solidFill>
              </a:defRPr>
            </a:pPr>
            <a:r>
              <a:rPr sz="1275" b="1" i="0">
                <a:solidFill>
                  <a:srgbClr val="6FC2AD"/>
                </a:solidFill>
              </a:rPr>
              <a:t>FARK ET</a:t>
            </a:r>
          </a:p>
        </p:txBody>
      </p:sp>
      <p:sp>
        <p:nvSpPr>
          <p:cNvPr id="10" name="">
            <a:extLst xmlns:a="http://schemas.openxmlformats.org/drawingml/2006/main">
              <a:ext uri="{FF2B5EF4-FFF2-40B4-BE49-F238E27FC236}">
                <a16:creationId xmlns:a16="http://schemas.microsoft.com/office/drawing/2014/main" id="{5CB6D812-A88C-4C53-88C2-130AA51F78F1}"/>
              </a:ext>
            </a:extLst>
          </p:cNvPr>
          <p:cNvSpPr>
            <a:spLocks xmlns:a="http://schemas.openxmlformats.org/drawingml/2006/main" noGrp="1"/>
          </p:cNvSpPr>
          <p:nvPr/>
        </p:nvSpPr>
        <p:spPr>
          <a:xfrm xmlns:a="http://schemas.openxmlformats.org/drawingml/2006/main">
            <a:off x="2571750" y="2990850"/>
            <a:ext cx="274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D8E4E0"/>
                </a:solidFill>
              </a:defRPr>
            </a:pPr>
            <a:r>
              <a:rPr sz="1275" b="0" i="0">
                <a:solidFill>
                  <a:srgbClr val="D8E4E0"/>
                </a:solidFill>
              </a:rPr>
              <a:t>Riskli anı zamanında görünür kıl.</a:t>
            </a:r>
          </a:p>
        </p:txBody>
      </p:sp>
      <p:sp>
        <p:nvSpPr>
          <p:cNvPr id="11" name="">
            <a:extLst xmlns:a="http://schemas.openxmlformats.org/drawingml/2006/main">
              <a:ext uri="{FF2B5EF4-FFF2-40B4-BE49-F238E27FC236}">
                <a16:creationId xmlns:a16="http://schemas.microsoft.com/office/drawing/2014/main" id="{56371B00-A0FA-4D0D-9173-5EB8BB150415}"/>
              </a:ext>
            </a:extLst>
          </p:cNvPr>
          <p:cNvSpPr>
            <a:spLocks xmlns:a="http://schemas.openxmlformats.org/drawingml/2006/main" noGrp="1"/>
          </p:cNvSpPr>
          <p:nvPr/>
        </p:nvSpPr>
        <p:spPr>
          <a:xfrm xmlns:a="http://schemas.openxmlformats.org/drawingml/2006/main">
            <a:off x="723900" y="38481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E9A23B"/>
                </a:solidFill>
              </a:defRPr>
            </a:pPr>
            <a:r>
              <a:rPr sz="1125" b="1" i="0">
                <a:solidFill>
                  <a:srgbClr val="E9A23B"/>
                </a:solidFill>
              </a:rPr>
              <a:t>02</a:t>
            </a:r>
          </a:p>
        </p:txBody>
      </p:sp>
      <p:sp>
        <p:nvSpPr>
          <p:cNvPr id="12" name="">
            <a:extLst xmlns:a="http://schemas.openxmlformats.org/drawingml/2006/main">
              <a:ext uri="{FF2B5EF4-FFF2-40B4-BE49-F238E27FC236}">
                <a16:creationId xmlns:a16="http://schemas.microsoft.com/office/drawing/2014/main" id="{88A73149-A8DA-4B16-AAEA-D34695B582E1}"/>
              </a:ext>
            </a:extLst>
          </p:cNvPr>
          <p:cNvSpPr>
            <a:spLocks xmlns:a="http://schemas.openxmlformats.org/drawingml/2006/main" noGrp="1"/>
          </p:cNvSpPr>
          <p:nvPr/>
        </p:nvSpPr>
        <p:spPr>
          <a:xfrm xmlns:a="http://schemas.openxmlformats.org/drawingml/2006/main">
            <a:off x="1257300" y="38100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6FC2AD"/>
                </a:solidFill>
              </a:defRPr>
            </a:pPr>
            <a:r>
              <a:rPr sz="1275" b="1" i="0">
                <a:solidFill>
                  <a:srgbClr val="6FC2AD"/>
                </a:solidFill>
              </a:rPr>
              <a:t>DOĞRULA</a:t>
            </a:r>
          </a:p>
        </p:txBody>
      </p:sp>
      <p:sp>
        <p:nvSpPr>
          <p:cNvPr id="13" name="">
            <a:extLst xmlns:a="http://schemas.openxmlformats.org/drawingml/2006/main">
              <a:ext uri="{FF2B5EF4-FFF2-40B4-BE49-F238E27FC236}">
                <a16:creationId xmlns:a16="http://schemas.microsoft.com/office/drawing/2014/main" id="{F4C247C7-2428-4733-AA29-B1B137C6C5F7}"/>
              </a:ext>
            </a:extLst>
          </p:cNvPr>
          <p:cNvSpPr>
            <a:spLocks xmlns:a="http://schemas.openxmlformats.org/drawingml/2006/main" noGrp="1"/>
          </p:cNvSpPr>
          <p:nvPr/>
        </p:nvSpPr>
        <p:spPr>
          <a:xfrm xmlns:a="http://schemas.openxmlformats.org/drawingml/2006/main">
            <a:off x="2571750" y="3810000"/>
            <a:ext cx="274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D8E4E0"/>
                </a:solidFill>
              </a:defRPr>
            </a:pPr>
            <a:r>
              <a:rPr sz="1275" b="0" i="0">
                <a:solidFill>
                  <a:srgbClr val="D8E4E0"/>
                </a:solidFill>
              </a:rPr>
              <a:t>Kanıtı ve belirsizliği operatöre göster.</a:t>
            </a:r>
          </a:p>
        </p:txBody>
      </p:sp>
      <p:sp>
        <p:nvSpPr>
          <p:cNvPr id="14" name="">
            <a:extLst xmlns:a="http://schemas.openxmlformats.org/drawingml/2006/main">
              <a:ext uri="{FF2B5EF4-FFF2-40B4-BE49-F238E27FC236}">
                <a16:creationId xmlns:a16="http://schemas.microsoft.com/office/drawing/2014/main" id="{C007C688-2218-4455-962C-E44306FE9EE5}"/>
              </a:ext>
            </a:extLst>
          </p:cNvPr>
          <p:cNvSpPr>
            <a:spLocks xmlns:a="http://schemas.openxmlformats.org/drawingml/2006/main" noGrp="1"/>
          </p:cNvSpPr>
          <p:nvPr/>
        </p:nvSpPr>
        <p:spPr>
          <a:xfrm xmlns:a="http://schemas.openxmlformats.org/drawingml/2006/main">
            <a:off x="723900" y="46672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E9A23B"/>
                </a:solidFill>
              </a:defRPr>
            </a:pPr>
            <a:r>
              <a:rPr sz="1125" b="1" i="0">
                <a:solidFill>
                  <a:srgbClr val="E9A23B"/>
                </a:solidFill>
              </a:rPr>
              <a:t>03</a:t>
            </a:r>
          </a:p>
        </p:txBody>
      </p:sp>
      <p:sp>
        <p:nvSpPr>
          <p:cNvPr id="15" name="">
            <a:extLst xmlns:a="http://schemas.openxmlformats.org/drawingml/2006/main">
              <a:ext uri="{FF2B5EF4-FFF2-40B4-BE49-F238E27FC236}">
                <a16:creationId xmlns:a16="http://schemas.microsoft.com/office/drawing/2014/main" id="{086442D9-8699-4BE1-B0CD-F77468EE9D39}"/>
              </a:ext>
            </a:extLst>
          </p:cNvPr>
          <p:cNvSpPr>
            <a:spLocks xmlns:a="http://schemas.openxmlformats.org/drawingml/2006/main" noGrp="1"/>
          </p:cNvSpPr>
          <p:nvPr/>
        </p:nvSpPr>
        <p:spPr>
          <a:xfrm xmlns:a="http://schemas.openxmlformats.org/drawingml/2006/main">
            <a:off x="1257300" y="4629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6FC2AD"/>
                </a:solidFill>
              </a:defRPr>
            </a:pPr>
            <a:r>
              <a:rPr sz="1275" b="1" i="0">
                <a:solidFill>
                  <a:srgbClr val="6FC2AD"/>
                </a:solidFill>
              </a:rPr>
              <a:t>YÖNLENDİR</a:t>
            </a:r>
          </a:p>
        </p:txBody>
      </p:sp>
      <p:sp>
        <p:nvSpPr>
          <p:cNvPr id="16" name="">
            <a:extLst xmlns:a="http://schemas.openxmlformats.org/drawingml/2006/main">
              <a:ext uri="{FF2B5EF4-FFF2-40B4-BE49-F238E27FC236}">
                <a16:creationId xmlns:a16="http://schemas.microsoft.com/office/drawing/2014/main" id="{478CDC7B-DFB4-42F8-991F-A8524BED3778}"/>
              </a:ext>
            </a:extLst>
          </p:cNvPr>
          <p:cNvSpPr>
            <a:spLocks xmlns:a="http://schemas.openxmlformats.org/drawingml/2006/main" noGrp="1"/>
          </p:cNvSpPr>
          <p:nvPr/>
        </p:nvSpPr>
        <p:spPr>
          <a:xfrm xmlns:a="http://schemas.openxmlformats.org/drawingml/2006/main">
            <a:off x="2571750" y="4629150"/>
            <a:ext cx="274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D8E4E0"/>
                </a:solidFill>
              </a:defRPr>
            </a:pPr>
            <a:r>
              <a:rPr sz="1275" b="0" i="0">
                <a:solidFill>
                  <a:srgbClr val="D8E4E0"/>
                </a:solidFill>
              </a:rPr>
              <a:t>İnsan kararını uygun prosedüre bağla.</a:t>
            </a:r>
          </a:p>
        </p:txBody>
      </p:sp>
      <p:sp>
        <p:nvSpPr>
          <p:cNvPr id="17" name="">
            <a:extLst xmlns:a="http://schemas.openxmlformats.org/drawingml/2006/main">
              <a:ext uri="{FF2B5EF4-FFF2-40B4-BE49-F238E27FC236}">
                <a16:creationId xmlns:a16="http://schemas.microsoft.com/office/drawing/2014/main" id="{BFFA2B8A-D3FD-4A50-8A60-C7D2D0DD72EB}"/>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B8CEC7"/>
                </a:solidFill>
              </a:defRPr>
            </a:pPr>
            <a:r>
              <a:rPr sz="825" b="0" i="0">
                <a:solidFill>
                  <a:srgbClr val="B8CEC7"/>
                </a:solidFill>
              </a:rPr>
              <a:t>Bu bir ölçülmüş sağlık sonucu iddiası değil; sistemin hedeflediği insan faydasıdır.</a:t>
            </a:r>
          </a:p>
        </p:txBody>
      </p:sp>
    </p:spTree>
    <p:extLst>
      <p:ext uri="{BB962C8B-B14F-4D97-AF65-F5344CB8AC3E}">
        <p14:creationId xmlns:p14="http://schemas.microsoft.com/office/powerpoint/2010/main" val="1248509658"/>
      </p:ext>
    </p:extLst>
  </p:cSld>
</p:sld>
</file>

<file path=ppt/slides/slide4.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9B7CFA5-6E31-401A-8ED7-C9F1D57E5F09}"/>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2" name="">
            <a:extLst xmlns:a="http://schemas.openxmlformats.org/drawingml/2006/main">
              <a:ext uri="{FF2B5EF4-FFF2-40B4-BE49-F238E27FC236}">
                <a16:creationId xmlns:a16="http://schemas.microsoft.com/office/drawing/2014/main" id="{6701CB08-A7E1-4E01-B208-7209FB077EE6}"/>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3" name="">
            <a:extLst xmlns:a="http://schemas.openxmlformats.org/drawingml/2006/main">
              <a:ext uri="{FF2B5EF4-FFF2-40B4-BE49-F238E27FC236}">
                <a16:creationId xmlns:a16="http://schemas.microsoft.com/office/drawing/2014/main" id="{FD6D9A1F-B21D-4B74-89F9-B9FC49F475F8}"/>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10251F"/>
                </a:solidFill>
              </a:defRPr>
            </a:pPr>
            <a:r>
              <a:rPr sz="1125" b="1" i="0">
                <a:solidFill>
                  <a:srgbClr val="10251F"/>
                </a:solidFill>
              </a:rPr>
              <a:t>DÖRTGÖZ</a:t>
            </a:r>
          </a:p>
        </p:txBody>
      </p:sp>
      <p:sp>
        <p:nvSpPr>
          <p:cNvPr id="4" name="">
            <a:extLst xmlns:a="http://schemas.openxmlformats.org/drawingml/2006/main">
              <a:ext uri="{FF2B5EF4-FFF2-40B4-BE49-F238E27FC236}">
                <a16:creationId xmlns:a16="http://schemas.microsoft.com/office/drawing/2014/main" id="{292AD1B5-5EC7-48CC-BA8E-39862E197BDC}"/>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66736F"/>
                </a:solidFill>
              </a:defRPr>
            </a:pPr>
            <a:r>
              <a:rPr sz="900" b="0" i="0">
                <a:solidFill>
                  <a:srgbClr val="66736F"/>
                </a:solidFill>
              </a:rPr>
              <a:t>04</a:t>
            </a:r>
          </a:p>
        </p:txBody>
      </p:sp>
      <p:sp>
        <p:nvSpPr>
          <p:cNvPr id="5" name="">
            <a:extLst xmlns:a="http://schemas.openxmlformats.org/drawingml/2006/main">
              <a:ext uri="{FF2B5EF4-FFF2-40B4-BE49-F238E27FC236}">
                <a16:creationId xmlns:a16="http://schemas.microsoft.com/office/drawing/2014/main" id="{81E8D016-230A-404A-B750-641B1D2F0DEB}"/>
              </a:ext>
            </a:extLst>
          </p:cNvPr>
          <p:cNvSpPr>
            <a:spLocks xmlns:a="http://schemas.openxmlformats.org/drawingml/2006/main" noGrp="1"/>
          </p:cNvSpPr>
          <p:nvPr/>
        </p:nvSpPr>
        <p:spPr>
          <a:xfrm xmlns:a="http://schemas.openxmlformats.org/drawingml/2006/main">
            <a:off x="609600" y="7810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10251F"/>
                </a:solidFill>
              </a:defRPr>
            </a:pPr>
            <a:r>
              <a:rPr sz="2850" b="1" i="0">
                <a:solidFill>
                  <a:srgbClr val="10251F"/>
                </a:solidFill>
              </a:rPr>
              <a:t>İnsan onuru bir ilke değil, çalışan bir sınırdır</a:t>
            </a:r>
          </a:p>
        </p:txBody>
      </p:sp>
      <p:sp>
        <p:nvSpPr>
          <p:cNvPr id="6" name="">
            <a:extLst xmlns:a="http://schemas.openxmlformats.org/drawingml/2006/main">
              <a:ext uri="{FF2B5EF4-FFF2-40B4-BE49-F238E27FC236}">
                <a16:creationId xmlns:a16="http://schemas.microsoft.com/office/drawing/2014/main" id="{C997A0CA-E399-40EF-9A37-385A0820E4A5}"/>
              </a:ext>
            </a:extLst>
          </p:cNvPr>
          <p:cNvSpPr>
            <a:spLocks xmlns:a="http://schemas.openxmlformats.org/drawingml/2006/main" noGrp="1"/>
          </p:cNvSpPr>
          <p:nvPr/>
        </p:nvSpPr>
        <p:spPr>
          <a:xfrm xmlns:a="http://schemas.openxmlformats.org/drawingml/2006/main">
            <a:off x="609600" y="1333500"/>
            <a:ext cx="1093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66736F"/>
                </a:solidFill>
              </a:defRPr>
            </a:pPr>
            <a:r>
              <a:rPr sz="1350" b="0" i="0">
                <a:solidFill>
                  <a:srgbClr val="66736F"/>
                </a:solidFill>
              </a:rPr>
              <a:t>Sistem ciddi iddialarda gördüğünü söyler; görmediğini insan hakkında varsaymaz.</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2bd95f16b2948b5"/>
          <a:stretch xmlns:a="http://schemas.openxmlformats.org/drawingml/2006/main"/>
        </p:blipFill>
        <p:spPr>
          <a:xfrm xmlns:a="http://schemas.openxmlformats.org/drawingml/2006/main">
            <a:off x="609600" y="2039541"/>
            <a:ext cx="6667500" cy="3750469"/>
          </a:xfrm>
          <a:prstGeom xmlns:a="http://schemas.openxmlformats.org/drawingml/2006/main" prst="roundRect">
            <a:avLst>
              <a:gd name="adj" fmla="val 2985"/>
            </a:avLst>
          </a:prstGeom>
        </p:spPr>
      </p:pic>
      <p:sp>
        <p:nvSpPr>
          <p:cNvPr id="8" name="">
            <a:extLst xmlns:a="http://schemas.openxmlformats.org/drawingml/2006/main">
              <a:ext uri="{FF2B5EF4-FFF2-40B4-BE49-F238E27FC236}">
                <a16:creationId xmlns:a16="http://schemas.microsoft.com/office/drawing/2014/main" id="{F2D5B5BF-7AB5-4ABD-A3D6-F9A8788A9854}"/>
              </a:ext>
            </a:extLst>
          </p:cNvPr>
          <p:cNvSpPr>
            <a:spLocks xmlns:a="http://schemas.openxmlformats.org/drawingml/2006/main" noGrp="1"/>
          </p:cNvSpPr>
          <p:nvPr/>
        </p:nvSpPr>
        <p:spPr>
          <a:xfrm xmlns:a="http://schemas.openxmlformats.org/drawingml/2006/main">
            <a:off x="7791450" y="20764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1E806F"/>
                </a:solidFill>
              </a:defRPr>
            </a:pPr>
            <a:r>
              <a:rPr sz="1800" b="1" i="0">
                <a:solidFill>
                  <a:srgbClr val="1E806F"/>
                </a:solidFill>
              </a:rPr>
              <a:t>—</a:t>
            </a:r>
          </a:p>
        </p:txBody>
      </p:sp>
      <p:sp>
        <p:nvSpPr>
          <p:cNvPr id="9" name="">
            <a:extLst xmlns:a="http://schemas.openxmlformats.org/drawingml/2006/main">
              <a:ext uri="{FF2B5EF4-FFF2-40B4-BE49-F238E27FC236}">
                <a16:creationId xmlns:a16="http://schemas.microsoft.com/office/drawing/2014/main" id="{A7F71BCD-7FD3-43AA-86B6-C80FE2029A12}"/>
              </a:ext>
            </a:extLst>
          </p:cNvPr>
          <p:cNvSpPr>
            <a:spLocks xmlns:a="http://schemas.openxmlformats.org/drawingml/2006/main" noGrp="1"/>
          </p:cNvSpPr>
          <p:nvPr/>
        </p:nvSpPr>
        <p:spPr>
          <a:xfrm xmlns:a="http://schemas.openxmlformats.org/drawingml/2006/main">
            <a:off x="8172450" y="20478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0251F"/>
                </a:solidFill>
              </a:defRPr>
            </a:pPr>
            <a:r>
              <a:rPr sz="1500" b="1" i="0">
                <a:solidFill>
                  <a:srgbClr val="10251F"/>
                </a:solidFill>
              </a:rPr>
              <a:t>Kimlik çıkarmaz</a:t>
            </a:r>
          </a:p>
        </p:txBody>
      </p:sp>
      <p:sp>
        <p:nvSpPr>
          <p:cNvPr id="10" name="">
            <a:extLst xmlns:a="http://schemas.openxmlformats.org/drawingml/2006/main">
              <a:ext uri="{FF2B5EF4-FFF2-40B4-BE49-F238E27FC236}">
                <a16:creationId xmlns:a16="http://schemas.microsoft.com/office/drawing/2014/main" id="{D35CCFAE-1928-4778-A838-27214809880F}"/>
              </a:ext>
            </a:extLst>
          </p:cNvPr>
          <p:cNvSpPr>
            <a:spLocks xmlns:a="http://schemas.openxmlformats.org/drawingml/2006/main" noGrp="1"/>
          </p:cNvSpPr>
          <p:nvPr/>
        </p:nvSpPr>
        <p:spPr>
          <a:xfrm xmlns:a="http://schemas.openxmlformats.org/drawingml/2006/main">
            <a:off x="8172450" y="2343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66736F"/>
                </a:solidFill>
              </a:defRPr>
            </a:pPr>
            <a:r>
              <a:rPr sz="1200" b="0" i="0">
                <a:solidFill>
                  <a:srgbClr val="66736F"/>
                </a:solidFill>
              </a:rPr>
              <a:t>Kişileri geçici numaralarla ayırır.</a:t>
            </a:r>
          </a:p>
        </p:txBody>
      </p:sp>
      <p:sp>
        <p:nvSpPr>
          <p:cNvPr id="11" name="">
            <a:extLst xmlns:a="http://schemas.openxmlformats.org/drawingml/2006/main">
              <a:ext uri="{FF2B5EF4-FFF2-40B4-BE49-F238E27FC236}">
                <a16:creationId xmlns:a16="http://schemas.microsoft.com/office/drawing/2014/main" id="{DF7E964B-7762-42B3-98C4-D500F6C8FED7}"/>
              </a:ext>
            </a:extLst>
          </p:cNvPr>
          <p:cNvSpPr>
            <a:spLocks xmlns:a="http://schemas.openxmlformats.org/drawingml/2006/main" noGrp="1"/>
          </p:cNvSpPr>
          <p:nvPr/>
        </p:nvSpPr>
        <p:spPr>
          <a:xfrm xmlns:a="http://schemas.openxmlformats.org/drawingml/2006/main">
            <a:off x="7791450" y="29908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1E806F"/>
                </a:solidFill>
              </a:defRPr>
            </a:pPr>
            <a:r>
              <a:rPr sz="1800" b="1" i="0">
                <a:solidFill>
                  <a:srgbClr val="1E806F"/>
                </a:solidFill>
              </a:rPr>
              <a:t>—</a:t>
            </a:r>
          </a:p>
        </p:txBody>
      </p:sp>
      <p:sp>
        <p:nvSpPr>
          <p:cNvPr id="12" name="">
            <a:extLst xmlns:a="http://schemas.openxmlformats.org/drawingml/2006/main">
              <a:ext uri="{FF2B5EF4-FFF2-40B4-BE49-F238E27FC236}">
                <a16:creationId xmlns:a16="http://schemas.microsoft.com/office/drawing/2014/main" id="{BE6DEA1A-CDD3-4631-A6CD-BD62979EAB1F}"/>
              </a:ext>
            </a:extLst>
          </p:cNvPr>
          <p:cNvSpPr>
            <a:spLocks xmlns:a="http://schemas.openxmlformats.org/drawingml/2006/main" noGrp="1"/>
          </p:cNvSpPr>
          <p:nvPr/>
        </p:nvSpPr>
        <p:spPr>
          <a:xfrm xmlns:a="http://schemas.openxmlformats.org/drawingml/2006/main">
            <a:off x="8172450" y="29622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0251F"/>
                </a:solidFill>
              </a:defRPr>
            </a:pPr>
            <a:r>
              <a:rPr sz="1500" b="1" i="0">
                <a:solidFill>
                  <a:srgbClr val="10251F"/>
                </a:solidFill>
              </a:rPr>
              <a:t>Suçluluk hükmü vermez</a:t>
            </a:r>
          </a:p>
        </p:txBody>
      </p:sp>
      <p:sp>
        <p:nvSpPr>
          <p:cNvPr id="13" name="">
            <a:extLst xmlns:a="http://schemas.openxmlformats.org/drawingml/2006/main">
              <a:ext uri="{FF2B5EF4-FFF2-40B4-BE49-F238E27FC236}">
                <a16:creationId xmlns:a16="http://schemas.microsoft.com/office/drawing/2014/main" id="{578CA87B-2DD3-498B-A260-A366549CEB84}"/>
              </a:ext>
            </a:extLst>
          </p:cNvPr>
          <p:cNvSpPr>
            <a:spLocks xmlns:a="http://schemas.openxmlformats.org/drawingml/2006/main" noGrp="1"/>
          </p:cNvSpPr>
          <p:nvPr/>
        </p:nvSpPr>
        <p:spPr>
          <a:xfrm xmlns:a="http://schemas.openxmlformats.org/drawingml/2006/main">
            <a:off x="8172450" y="32575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66736F"/>
                </a:solidFill>
              </a:defRPr>
            </a:pPr>
            <a:r>
              <a:rPr sz="1200" b="0" i="0">
                <a:solidFill>
                  <a:srgbClr val="66736F"/>
                </a:solidFill>
              </a:rPr>
              <a:t>Görüntü bulgusunu hukuki karara dönüştürmez.</a:t>
            </a:r>
          </a:p>
        </p:txBody>
      </p:sp>
      <p:sp>
        <p:nvSpPr>
          <p:cNvPr id="14" name="">
            <a:extLst xmlns:a="http://schemas.openxmlformats.org/drawingml/2006/main">
              <a:ext uri="{FF2B5EF4-FFF2-40B4-BE49-F238E27FC236}">
                <a16:creationId xmlns:a16="http://schemas.microsoft.com/office/drawing/2014/main" id="{9E9615CE-F0B0-4DD3-895C-00A021171240}"/>
              </a:ext>
            </a:extLst>
          </p:cNvPr>
          <p:cNvSpPr>
            <a:spLocks xmlns:a="http://schemas.openxmlformats.org/drawingml/2006/main" noGrp="1"/>
          </p:cNvSpPr>
          <p:nvPr/>
        </p:nvSpPr>
        <p:spPr>
          <a:xfrm xmlns:a="http://schemas.openxmlformats.org/drawingml/2006/main">
            <a:off x="7791450" y="39052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1E806F"/>
                </a:solidFill>
              </a:defRPr>
            </a:pPr>
            <a:r>
              <a:rPr sz="1800" b="1" i="0">
                <a:solidFill>
                  <a:srgbClr val="1E806F"/>
                </a:solidFill>
              </a:rPr>
              <a:t>—</a:t>
            </a:r>
          </a:p>
        </p:txBody>
      </p:sp>
      <p:sp>
        <p:nvSpPr>
          <p:cNvPr id="15" name="">
            <a:extLst xmlns:a="http://schemas.openxmlformats.org/drawingml/2006/main">
              <a:ext uri="{FF2B5EF4-FFF2-40B4-BE49-F238E27FC236}">
                <a16:creationId xmlns:a16="http://schemas.microsoft.com/office/drawing/2014/main" id="{F0E6E158-37AB-4607-926D-3247D9DBF0C4}"/>
              </a:ext>
            </a:extLst>
          </p:cNvPr>
          <p:cNvSpPr>
            <a:spLocks xmlns:a="http://schemas.openxmlformats.org/drawingml/2006/main" noGrp="1"/>
          </p:cNvSpPr>
          <p:nvPr/>
        </p:nvSpPr>
        <p:spPr>
          <a:xfrm xmlns:a="http://schemas.openxmlformats.org/drawingml/2006/main">
            <a:off x="8172450" y="38766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0251F"/>
                </a:solidFill>
              </a:defRPr>
            </a:pPr>
            <a:r>
              <a:rPr sz="1500" b="1" i="0">
                <a:solidFill>
                  <a:srgbClr val="10251F"/>
                </a:solidFill>
              </a:rPr>
              <a:t>Tıbbi tanı koymaz</a:t>
            </a:r>
          </a:p>
        </p:txBody>
      </p:sp>
      <p:sp>
        <p:nvSpPr>
          <p:cNvPr id="16" name="">
            <a:extLst xmlns:a="http://schemas.openxmlformats.org/drawingml/2006/main">
              <a:ext uri="{FF2B5EF4-FFF2-40B4-BE49-F238E27FC236}">
                <a16:creationId xmlns:a16="http://schemas.microsoft.com/office/drawing/2014/main" id="{F62EFDFA-488E-42E0-AF06-2FFFA90F41BE}"/>
              </a:ext>
            </a:extLst>
          </p:cNvPr>
          <p:cNvSpPr>
            <a:spLocks xmlns:a="http://schemas.openxmlformats.org/drawingml/2006/main" noGrp="1"/>
          </p:cNvSpPr>
          <p:nvPr/>
        </p:nvSpPr>
        <p:spPr>
          <a:xfrm xmlns:a="http://schemas.openxmlformats.org/drawingml/2006/main">
            <a:off x="8172450" y="41719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66736F"/>
                </a:solidFill>
              </a:defRPr>
            </a:pPr>
            <a:r>
              <a:rPr sz="1200" b="0" i="0">
                <a:solidFill>
                  <a:srgbClr val="66736F"/>
                </a:solidFill>
              </a:rPr>
              <a:t>Yalnız görünür risk işaretlerini aktarır.</a:t>
            </a:r>
          </a:p>
        </p:txBody>
      </p:sp>
      <p:sp>
        <p:nvSpPr>
          <p:cNvPr id="17" name="">
            <a:extLst xmlns:a="http://schemas.openxmlformats.org/drawingml/2006/main">
              <a:ext uri="{FF2B5EF4-FFF2-40B4-BE49-F238E27FC236}">
                <a16:creationId xmlns:a16="http://schemas.microsoft.com/office/drawing/2014/main" id="{05A2C3FC-005F-4AF0-A47D-A6081CFFB23B}"/>
              </a:ext>
            </a:extLst>
          </p:cNvPr>
          <p:cNvSpPr>
            <a:spLocks xmlns:a="http://schemas.openxmlformats.org/drawingml/2006/main" noGrp="1"/>
          </p:cNvSpPr>
          <p:nvPr/>
        </p:nvSpPr>
        <p:spPr>
          <a:xfrm xmlns:a="http://schemas.openxmlformats.org/drawingml/2006/main">
            <a:off x="7791450" y="48196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C95F3D"/>
                </a:solidFill>
              </a:defRPr>
            </a:pPr>
            <a:r>
              <a:rPr sz="1800" b="1" i="0">
                <a:solidFill>
                  <a:srgbClr val="C95F3D"/>
                </a:solidFill>
              </a:rPr>
              <a:t>—</a:t>
            </a:r>
          </a:p>
        </p:txBody>
      </p:sp>
      <p:sp>
        <p:nvSpPr>
          <p:cNvPr id="18" name="">
            <a:extLst xmlns:a="http://schemas.openxmlformats.org/drawingml/2006/main">
              <a:ext uri="{FF2B5EF4-FFF2-40B4-BE49-F238E27FC236}">
                <a16:creationId xmlns:a16="http://schemas.microsoft.com/office/drawing/2014/main" id="{C5129E3B-09F7-4BDC-9D5C-29DEE98BD0F8}"/>
              </a:ext>
            </a:extLst>
          </p:cNvPr>
          <p:cNvSpPr>
            <a:spLocks xmlns:a="http://schemas.openxmlformats.org/drawingml/2006/main" noGrp="1"/>
          </p:cNvSpPr>
          <p:nvPr/>
        </p:nvSpPr>
        <p:spPr>
          <a:xfrm xmlns:a="http://schemas.openxmlformats.org/drawingml/2006/main">
            <a:off x="8172450" y="47910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0251F"/>
                </a:solidFill>
              </a:defRPr>
            </a:pPr>
            <a:r>
              <a:rPr sz="1500" b="1" i="0">
                <a:solidFill>
                  <a:srgbClr val="10251F"/>
                </a:solidFill>
              </a:rPr>
              <a:t>Dış aksiyon çalıştırmaz</a:t>
            </a:r>
          </a:p>
        </p:txBody>
      </p:sp>
      <p:sp>
        <p:nvSpPr>
          <p:cNvPr id="19" name="">
            <a:extLst xmlns:a="http://schemas.openxmlformats.org/drawingml/2006/main">
              <a:ext uri="{FF2B5EF4-FFF2-40B4-BE49-F238E27FC236}">
                <a16:creationId xmlns:a16="http://schemas.microsoft.com/office/drawing/2014/main" id="{45C24DA5-041B-4DFE-8C11-E4038B8DD918}"/>
              </a:ext>
            </a:extLst>
          </p:cNvPr>
          <p:cNvSpPr>
            <a:spLocks xmlns:a="http://schemas.openxmlformats.org/drawingml/2006/main" noGrp="1"/>
          </p:cNvSpPr>
          <p:nvPr/>
        </p:nvSpPr>
        <p:spPr>
          <a:xfrm xmlns:a="http://schemas.openxmlformats.org/drawingml/2006/main">
            <a:off x="8172450" y="50863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66736F"/>
                </a:solidFill>
              </a:defRPr>
            </a:pPr>
            <a:r>
              <a:rPr sz="1200" b="0" i="0">
                <a:solidFill>
                  <a:srgbClr val="66736F"/>
                </a:solidFill>
              </a:rPr>
              <a:t>Onay sonrası bile yalnız yerel taslak üretir.</a:t>
            </a:r>
          </a:p>
        </p:txBody>
      </p:sp>
      <p:sp>
        <p:nvSpPr>
          <p:cNvPr id="20" name="">
            <a:extLst xmlns:a="http://schemas.openxmlformats.org/drawingml/2006/main">
              <a:ext uri="{FF2B5EF4-FFF2-40B4-BE49-F238E27FC236}">
                <a16:creationId xmlns:a16="http://schemas.microsoft.com/office/drawing/2014/main" id="{48A02CC7-9BE5-4D46-9053-A104ECF12814}"/>
              </a:ext>
            </a:extLst>
          </p:cNvPr>
          <p:cNvSpPr>
            <a:spLocks xmlns:a="http://schemas.openxmlformats.org/drawingml/2006/main" noGrp="1"/>
          </p:cNvSpPr>
          <p:nvPr/>
        </p:nvSpPr>
        <p:spPr>
          <a:xfrm xmlns:a="http://schemas.openxmlformats.org/drawingml/2006/main">
            <a:off x="7791450" y="56578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C95F3D"/>
                </a:solidFill>
              </a:defRPr>
            </a:pPr>
            <a:r>
              <a:rPr sz="1350" b="1" i="0">
                <a:solidFill>
                  <a:srgbClr val="C95F3D"/>
                </a:solidFill>
              </a:rPr>
              <a:t>external_side_effect = false</a:t>
            </a:r>
          </a:p>
        </p:txBody>
      </p:sp>
      <p:sp>
        <p:nvSpPr>
          <p:cNvPr id="21" name="">
            <a:extLst xmlns:a="http://schemas.openxmlformats.org/drawingml/2006/main">
              <a:ext uri="{FF2B5EF4-FFF2-40B4-BE49-F238E27FC236}">
                <a16:creationId xmlns:a16="http://schemas.microsoft.com/office/drawing/2014/main" id="{71C619E5-83DB-49FE-B0DC-00C53C372179}"/>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7A8581"/>
                </a:solidFill>
              </a:defRPr>
            </a:pPr>
            <a:r>
              <a:rPr sz="825" b="0" i="0">
                <a:solidFill>
                  <a:srgbClr val="7A8581"/>
                </a:solidFill>
              </a:rPr>
              <a:t>Yetki sınırı ajan cevabında değil, araç sözleşmesinde uygulanır.</a:t>
            </a:r>
          </a:p>
        </p:txBody>
      </p:sp>
    </p:spTree>
    <p:extLst>
      <p:ext uri="{BB962C8B-B14F-4D97-AF65-F5344CB8AC3E}">
        <p14:creationId xmlns:p14="http://schemas.microsoft.com/office/powerpoint/2010/main" val="344633513"/>
      </p:ext>
    </p:extLst>
  </p:cSld>
</p:sld>
</file>

<file path=ppt/slides/slide5.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C676AEF-3F83-46D6-8C7C-B405503581EF}"/>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2" name="">
            <a:extLst xmlns:a="http://schemas.openxmlformats.org/drawingml/2006/main">
              <a:ext uri="{FF2B5EF4-FFF2-40B4-BE49-F238E27FC236}">
                <a16:creationId xmlns:a16="http://schemas.microsoft.com/office/drawing/2014/main" id="{F525E32D-008E-4CD8-A91A-B2DB22988ED3}"/>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3" name="">
            <a:extLst xmlns:a="http://schemas.openxmlformats.org/drawingml/2006/main">
              <a:ext uri="{FF2B5EF4-FFF2-40B4-BE49-F238E27FC236}">
                <a16:creationId xmlns:a16="http://schemas.microsoft.com/office/drawing/2014/main" id="{241A4503-C422-4BA5-A8B6-15B7E8B4409E}"/>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10251F"/>
                </a:solidFill>
              </a:defRPr>
            </a:pPr>
            <a:r>
              <a:rPr sz="1125" b="1" i="0">
                <a:solidFill>
                  <a:srgbClr val="10251F"/>
                </a:solidFill>
              </a:rPr>
              <a:t>DÖRTGÖZ</a:t>
            </a:r>
          </a:p>
        </p:txBody>
      </p:sp>
      <p:sp>
        <p:nvSpPr>
          <p:cNvPr id="4" name="">
            <a:extLst xmlns:a="http://schemas.openxmlformats.org/drawingml/2006/main">
              <a:ext uri="{FF2B5EF4-FFF2-40B4-BE49-F238E27FC236}">
                <a16:creationId xmlns:a16="http://schemas.microsoft.com/office/drawing/2014/main" id="{68D78892-34AB-4AA5-B9EA-6346054534EB}"/>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66736F"/>
                </a:solidFill>
              </a:defRPr>
            </a:pPr>
            <a:r>
              <a:rPr sz="900" b="0" i="0">
                <a:solidFill>
                  <a:srgbClr val="66736F"/>
                </a:solidFill>
              </a:rPr>
              <a:t>05</a:t>
            </a:r>
          </a:p>
        </p:txBody>
      </p:sp>
      <p:sp>
        <p:nvSpPr>
          <p:cNvPr id="5" name="">
            <a:extLst xmlns:a="http://schemas.openxmlformats.org/drawingml/2006/main">
              <a:ext uri="{FF2B5EF4-FFF2-40B4-BE49-F238E27FC236}">
                <a16:creationId xmlns:a16="http://schemas.microsoft.com/office/drawing/2014/main" id="{37E12C72-A53A-472A-B21F-879B4D16F31F}"/>
              </a:ext>
            </a:extLst>
          </p:cNvPr>
          <p:cNvSpPr>
            <a:spLocks xmlns:a="http://schemas.openxmlformats.org/drawingml/2006/main" noGrp="1"/>
          </p:cNvSpPr>
          <p:nvPr/>
        </p:nvSpPr>
        <p:spPr>
          <a:xfrm xmlns:a="http://schemas.openxmlformats.org/drawingml/2006/main">
            <a:off x="609600" y="7810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10251F"/>
                </a:solidFill>
              </a:defRPr>
            </a:pPr>
            <a:r>
              <a:rPr sz="2850" b="1" i="0">
                <a:solidFill>
                  <a:srgbClr val="10251F"/>
                </a:solidFill>
              </a:rPr>
              <a:t>Toplumsal fayda, güvenilir bir teknik zincir ister</a:t>
            </a:r>
          </a:p>
        </p:txBody>
      </p:sp>
      <p:sp>
        <p:nvSpPr>
          <p:cNvPr id="6" name="">
            <a:extLst xmlns:a="http://schemas.openxmlformats.org/drawingml/2006/main">
              <a:ext uri="{FF2B5EF4-FFF2-40B4-BE49-F238E27FC236}">
                <a16:creationId xmlns:a16="http://schemas.microsoft.com/office/drawing/2014/main" id="{71EF8249-80CD-4220-908E-91A473634AA9}"/>
              </a:ext>
            </a:extLst>
          </p:cNvPr>
          <p:cNvSpPr>
            <a:spLocks xmlns:a="http://schemas.openxmlformats.org/drawingml/2006/main" noGrp="1"/>
          </p:cNvSpPr>
          <p:nvPr/>
        </p:nvSpPr>
        <p:spPr>
          <a:xfrm xmlns:a="http://schemas.openxmlformats.org/drawingml/2006/main">
            <a:off x="609600" y="1333500"/>
            <a:ext cx="1093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66736F"/>
                </a:solidFill>
              </a:defRPr>
            </a:pPr>
            <a:r>
              <a:rPr sz="1350" b="0" i="0">
                <a:solidFill>
                  <a:srgbClr val="66736F"/>
                </a:solidFill>
              </a:rPr>
              <a:t>Ham görüntü ancak altı kontrollü aşamadan sonra operatör kararına dönüşür.</a:t>
            </a:r>
          </a:p>
        </p:txBody>
      </p:sp>
      <p:sp>
        <p:nvSpPr>
          <p:cNvPr id="7" name="">
            <a:extLst xmlns:a="http://schemas.openxmlformats.org/drawingml/2006/main">
              <a:ext uri="{FF2B5EF4-FFF2-40B4-BE49-F238E27FC236}">
                <a16:creationId xmlns:a16="http://schemas.microsoft.com/office/drawing/2014/main" id="{B8CB3E72-96F5-4974-B6D2-58F7360B8FD2}"/>
              </a:ext>
            </a:extLst>
          </p:cNvPr>
          <p:cNvSpPr>
            <a:spLocks xmlns:a="http://schemas.openxmlformats.org/drawingml/2006/main" noGrp="1"/>
          </p:cNvSpPr>
          <p:nvPr/>
        </p:nvSpPr>
        <p:spPr>
          <a:xfrm xmlns:a="http://schemas.openxmlformats.org/drawingml/2006/main">
            <a:off x="990600" y="2390775"/>
            <a:ext cx="9810750" cy="38100"/>
          </a:xfrm>
          <a:prstGeom xmlns:a="http://schemas.openxmlformats.org/drawingml/2006/main" prst="rect">
            <a:avLst/>
          </a:prstGeom>
          <a:solidFill xmlns:a="http://schemas.openxmlformats.org/drawingml/2006/main">
            <a:srgbClr val="E8DDCC"/>
          </a:solidFill>
          <a:ln xmlns:a="http://schemas.openxmlformats.org/drawingml/2006/main" w="0">
            <a:solidFill>
              <a:srgbClr val="E8DDCC"/>
            </a:solidFill>
            <a:prstDash val="solid"/>
          </a:ln>
        </p:spPr>
      </p:sp>
      <p:sp>
        <p:nvSpPr>
          <p:cNvPr id="8" name="">
            <a:extLst xmlns:a="http://schemas.openxmlformats.org/drawingml/2006/main">
              <a:ext uri="{FF2B5EF4-FFF2-40B4-BE49-F238E27FC236}">
                <a16:creationId xmlns:a16="http://schemas.microsoft.com/office/drawing/2014/main" id="{B09B6713-B856-4327-B486-70EAA4B099EB}"/>
              </a:ext>
            </a:extLst>
          </p:cNvPr>
          <p:cNvSpPr>
            <a:spLocks xmlns:a="http://schemas.openxmlformats.org/drawingml/2006/main" noGrp="1"/>
          </p:cNvSpPr>
          <p:nvPr/>
        </p:nvSpPr>
        <p:spPr>
          <a:xfrm xmlns:a="http://schemas.openxmlformats.org/drawingml/2006/main">
            <a:off x="952500" y="2162175"/>
            <a:ext cx="361950" cy="361950"/>
          </a:xfrm>
          <a:prstGeom xmlns:a="http://schemas.openxmlformats.org/drawingml/2006/main" prst="roundRect">
            <a:avLst>
              <a:gd name="adj" fmla="val 50000"/>
            </a:avLst>
          </a:prstGeom>
          <a:solidFill xmlns:a="http://schemas.openxmlformats.org/drawingml/2006/main">
            <a:srgbClr val="3A75A6"/>
          </a:solidFill>
          <a:ln xmlns:a="http://schemas.openxmlformats.org/drawingml/2006/main" w="0">
            <a:solidFill>
              <a:srgbClr val="3A75A6"/>
            </a:solidFill>
            <a:prstDash val="solid"/>
          </a:ln>
        </p:spPr>
      </p:sp>
      <p:sp>
        <p:nvSpPr>
          <p:cNvPr id="9" name="">
            <a:extLst xmlns:a="http://schemas.openxmlformats.org/drawingml/2006/main">
              <a:ext uri="{FF2B5EF4-FFF2-40B4-BE49-F238E27FC236}">
                <a16:creationId xmlns:a16="http://schemas.microsoft.com/office/drawing/2014/main" id="{C9EFAC83-5F71-4DE5-B51A-DBB7CD97BC38}"/>
              </a:ext>
            </a:extLst>
          </p:cNvPr>
          <p:cNvSpPr>
            <a:spLocks xmlns:a="http://schemas.openxmlformats.org/drawingml/2006/main" noGrp="1"/>
          </p:cNvSpPr>
          <p:nvPr/>
        </p:nvSpPr>
        <p:spPr>
          <a:xfrm xmlns:a="http://schemas.openxmlformats.org/drawingml/2006/main">
            <a:off x="952500" y="22002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01</a:t>
            </a:r>
          </a:p>
        </p:txBody>
      </p:sp>
      <p:sp>
        <p:nvSpPr>
          <p:cNvPr id="10" name="">
            <a:extLst xmlns:a="http://schemas.openxmlformats.org/drawingml/2006/main">
              <a:ext uri="{FF2B5EF4-FFF2-40B4-BE49-F238E27FC236}">
                <a16:creationId xmlns:a16="http://schemas.microsoft.com/office/drawing/2014/main" id="{CC4B691F-F68E-4BBA-9611-2D818CEA7EEA}"/>
              </a:ext>
            </a:extLst>
          </p:cNvPr>
          <p:cNvSpPr>
            <a:spLocks xmlns:a="http://schemas.openxmlformats.org/drawingml/2006/main" noGrp="1"/>
          </p:cNvSpPr>
          <p:nvPr/>
        </p:nvSpPr>
        <p:spPr>
          <a:xfrm xmlns:a="http://schemas.openxmlformats.org/drawingml/2006/main">
            <a:off x="723900" y="27432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0251F"/>
                </a:solidFill>
              </a:defRPr>
            </a:pPr>
            <a:r>
              <a:rPr sz="1500" b="1" i="0">
                <a:solidFill>
                  <a:srgbClr val="10251F"/>
                </a:solidFill>
              </a:rPr>
              <a:t>AL</a:t>
            </a:r>
          </a:p>
        </p:txBody>
      </p:sp>
      <p:sp>
        <p:nvSpPr>
          <p:cNvPr id="11" name="">
            <a:extLst xmlns:a="http://schemas.openxmlformats.org/drawingml/2006/main">
              <a:ext uri="{FF2B5EF4-FFF2-40B4-BE49-F238E27FC236}">
                <a16:creationId xmlns:a16="http://schemas.microsoft.com/office/drawing/2014/main" id="{14F0BF72-F663-44F4-953A-7E485413098C}"/>
              </a:ext>
            </a:extLst>
          </p:cNvPr>
          <p:cNvSpPr>
            <a:spLocks xmlns:a="http://schemas.openxmlformats.org/drawingml/2006/main" noGrp="1"/>
          </p:cNvSpPr>
          <p:nvPr/>
        </p:nvSpPr>
        <p:spPr>
          <a:xfrm xmlns:a="http://schemas.openxmlformats.org/drawingml/2006/main">
            <a:off x="552450" y="318135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66736F"/>
                </a:solidFill>
              </a:defRPr>
            </a:pPr>
            <a:r>
              <a:rPr sz="1125" b="0" i="0">
                <a:solidFill>
                  <a:srgbClr val="66736F"/>
                </a:solidFill>
              </a:rPr>
              <a:t>ffmpeg · canlı akış / dosya</a:t>
            </a:r>
          </a:p>
        </p:txBody>
      </p:sp>
      <p:sp>
        <p:nvSpPr>
          <p:cNvPr id="12" name="">
            <a:extLst xmlns:a="http://schemas.openxmlformats.org/drawingml/2006/main">
              <a:ext uri="{FF2B5EF4-FFF2-40B4-BE49-F238E27FC236}">
                <a16:creationId xmlns:a16="http://schemas.microsoft.com/office/drawing/2014/main" id="{97984271-0450-43E0-B973-B0DC860EE3D4}"/>
              </a:ext>
            </a:extLst>
          </p:cNvPr>
          <p:cNvSpPr>
            <a:spLocks xmlns:a="http://schemas.openxmlformats.org/drawingml/2006/main" noGrp="1"/>
          </p:cNvSpPr>
          <p:nvPr/>
        </p:nvSpPr>
        <p:spPr>
          <a:xfrm xmlns:a="http://schemas.openxmlformats.org/drawingml/2006/main">
            <a:off x="2800350" y="2162175"/>
            <a:ext cx="361950" cy="361950"/>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13" name="">
            <a:extLst xmlns:a="http://schemas.openxmlformats.org/drawingml/2006/main">
              <a:ext uri="{FF2B5EF4-FFF2-40B4-BE49-F238E27FC236}">
                <a16:creationId xmlns:a16="http://schemas.microsoft.com/office/drawing/2014/main" id="{FAE7B429-351A-45DB-8594-3C3779DB96D6}"/>
              </a:ext>
            </a:extLst>
          </p:cNvPr>
          <p:cNvSpPr>
            <a:spLocks xmlns:a="http://schemas.openxmlformats.org/drawingml/2006/main" noGrp="1"/>
          </p:cNvSpPr>
          <p:nvPr/>
        </p:nvSpPr>
        <p:spPr>
          <a:xfrm xmlns:a="http://schemas.openxmlformats.org/drawingml/2006/main">
            <a:off x="2800350" y="22002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02</a:t>
            </a:r>
          </a:p>
        </p:txBody>
      </p:sp>
      <p:sp>
        <p:nvSpPr>
          <p:cNvPr id="14" name="">
            <a:extLst xmlns:a="http://schemas.openxmlformats.org/drawingml/2006/main">
              <a:ext uri="{FF2B5EF4-FFF2-40B4-BE49-F238E27FC236}">
                <a16:creationId xmlns:a16="http://schemas.microsoft.com/office/drawing/2014/main" id="{222AED55-4C07-48B4-8875-6EC64ED82AEA}"/>
              </a:ext>
            </a:extLst>
          </p:cNvPr>
          <p:cNvSpPr>
            <a:spLocks xmlns:a="http://schemas.openxmlformats.org/drawingml/2006/main" noGrp="1"/>
          </p:cNvSpPr>
          <p:nvPr/>
        </p:nvSpPr>
        <p:spPr>
          <a:xfrm xmlns:a="http://schemas.openxmlformats.org/drawingml/2006/main">
            <a:off x="2571750" y="27432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0251F"/>
                </a:solidFill>
              </a:defRPr>
            </a:pPr>
            <a:r>
              <a:rPr sz="1500" b="1" i="0">
                <a:solidFill>
                  <a:srgbClr val="10251F"/>
                </a:solidFill>
              </a:rPr>
              <a:t>BUL</a:t>
            </a:r>
          </a:p>
        </p:txBody>
      </p:sp>
      <p:sp>
        <p:nvSpPr>
          <p:cNvPr id="15" name="">
            <a:extLst xmlns:a="http://schemas.openxmlformats.org/drawingml/2006/main">
              <a:ext uri="{FF2B5EF4-FFF2-40B4-BE49-F238E27FC236}">
                <a16:creationId xmlns:a16="http://schemas.microsoft.com/office/drawing/2014/main" id="{0B13A452-0192-477C-B98F-DAEC9EF5FB21}"/>
              </a:ext>
            </a:extLst>
          </p:cNvPr>
          <p:cNvSpPr>
            <a:spLocks xmlns:a="http://schemas.openxmlformats.org/drawingml/2006/main" noGrp="1"/>
          </p:cNvSpPr>
          <p:nvPr/>
        </p:nvSpPr>
        <p:spPr>
          <a:xfrm xmlns:a="http://schemas.openxmlformats.org/drawingml/2006/main">
            <a:off x="2400300" y="318135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66736F"/>
                </a:solidFill>
              </a:defRPr>
            </a:pPr>
            <a:r>
              <a:rPr sz="1125" b="0" i="0">
                <a:solidFill>
                  <a:srgbClr val="66736F"/>
                </a:solidFill>
              </a:rPr>
              <a:t>SigLIP-2 · D-FINE · kare seçimi</a:t>
            </a:r>
          </a:p>
        </p:txBody>
      </p:sp>
      <p:sp>
        <p:nvSpPr>
          <p:cNvPr id="16" name="">
            <a:extLst xmlns:a="http://schemas.openxmlformats.org/drawingml/2006/main">
              <a:ext uri="{FF2B5EF4-FFF2-40B4-BE49-F238E27FC236}">
                <a16:creationId xmlns:a16="http://schemas.microsoft.com/office/drawing/2014/main" id="{8B0ED010-6EEC-4044-BF73-531D8B32A777}"/>
              </a:ext>
            </a:extLst>
          </p:cNvPr>
          <p:cNvSpPr>
            <a:spLocks xmlns:a="http://schemas.openxmlformats.org/drawingml/2006/main" noGrp="1"/>
          </p:cNvSpPr>
          <p:nvPr/>
        </p:nvSpPr>
        <p:spPr>
          <a:xfrm xmlns:a="http://schemas.openxmlformats.org/drawingml/2006/main">
            <a:off x="4648200" y="2162175"/>
            <a:ext cx="361950" cy="361950"/>
          </a:xfrm>
          <a:prstGeom xmlns:a="http://schemas.openxmlformats.org/drawingml/2006/main" prst="roundRect">
            <a:avLst>
              <a:gd name="adj" fmla="val 50000"/>
            </a:avLst>
          </a:prstGeom>
          <a:solidFill xmlns:a="http://schemas.openxmlformats.org/drawingml/2006/main">
            <a:srgbClr val="6C6EB3"/>
          </a:solidFill>
          <a:ln xmlns:a="http://schemas.openxmlformats.org/drawingml/2006/main" w="0">
            <a:solidFill>
              <a:srgbClr val="6C6EB3"/>
            </a:solidFill>
            <a:prstDash val="solid"/>
          </a:ln>
        </p:spPr>
      </p:sp>
      <p:sp>
        <p:nvSpPr>
          <p:cNvPr id="17" name="">
            <a:extLst xmlns:a="http://schemas.openxmlformats.org/drawingml/2006/main">
              <a:ext uri="{FF2B5EF4-FFF2-40B4-BE49-F238E27FC236}">
                <a16:creationId xmlns:a16="http://schemas.microsoft.com/office/drawing/2014/main" id="{7F734E6E-978E-4959-B87B-D479CD41B007}"/>
              </a:ext>
            </a:extLst>
          </p:cNvPr>
          <p:cNvSpPr>
            <a:spLocks xmlns:a="http://schemas.openxmlformats.org/drawingml/2006/main" noGrp="1"/>
          </p:cNvSpPr>
          <p:nvPr/>
        </p:nvSpPr>
        <p:spPr>
          <a:xfrm xmlns:a="http://schemas.openxmlformats.org/drawingml/2006/main">
            <a:off x="4648200" y="22002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03</a:t>
            </a:r>
          </a:p>
        </p:txBody>
      </p:sp>
      <p:sp>
        <p:nvSpPr>
          <p:cNvPr id="18" name="">
            <a:extLst xmlns:a="http://schemas.openxmlformats.org/drawingml/2006/main">
              <a:ext uri="{FF2B5EF4-FFF2-40B4-BE49-F238E27FC236}">
                <a16:creationId xmlns:a16="http://schemas.microsoft.com/office/drawing/2014/main" id="{8B005478-B906-404B-B5F1-F453CB3B3E89}"/>
              </a:ext>
            </a:extLst>
          </p:cNvPr>
          <p:cNvSpPr>
            <a:spLocks xmlns:a="http://schemas.openxmlformats.org/drawingml/2006/main" noGrp="1"/>
          </p:cNvSpPr>
          <p:nvPr/>
        </p:nvSpPr>
        <p:spPr>
          <a:xfrm xmlns:a="http://schemas.openxmlformats.org/drawingml/2006/main">
            <a:off x="4419600" y="27432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0251F"/>
                </a:solidFill>
              </a:defRPr>
            </a:pPr>
            <a:r>
              <a:rPr sz="1500" b="1" i="0">
                <a:solidFill>
                  <a:srgbClr val="10251F"/>
                </a:solidFill>
              </a:rPr>
              <a:t>ANLA</a:t>
            </a:r>
          </a:p>
        </p:txBody>
      </p:sp>
      <p:sp>
        <p:nvSpPr>
          <p:cNvPr id="19" name="">
            <a:extLst xmlns:a="http://schemas.openxmlformats.org/drawingml/2006/main">
              <a:ext uri="{FF2B5EF4-FFF2-40B4-BE49-F238E27FC236}">
                <a16:creationId xmlns:a16="http://schemas.microsoft.com/office/drawing/2014/main" id="{ED68E396-6C85-462C-A933-54B3879D6414}"/>
              </a:ext>
            </a:extLst>
          </p:cNvPr>
          <p:cNvSpPr>
            <a:spLocks xmlns:a="http://schemas.openxmlformats.org/drawingml/2006/main" noGrp="1"/>
          </p:cNvSpPr>
          <p:nvPr/>
        </p:nvSpPr>
        <p:spPr>
          <a:xfrm xmlns:a="http://schemas.openxmlformats.org/drawingml/2006/main">
            <a:off x="4248150" y="318135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66736F"/>
                </a:solidFill>
              </a:defRPr>
            </a:pPr>
            <a:r>
              <a:rPr sz="1125" b="0" i="0">
                <a:solidFill>
                  <a:srgbClr val="66736F"/>
                </a:solidFill>
              </a:rPr>
              <a:t>VLM · Türkçe · şema-zorlamalı JSON</a:t>
            </a:r>
          </a:p>
        </p:txBody>
      </p:sp>
      <p:sp>
        <p:nvSpPr>
          <p:cNvPr id="20" name="">
            <a:extLst xmlns:a="http://schemas.openxmlformats.org/drawingml/2006/main">
              <a:ext uri="{FF2B5EF4-FFF2-40B4-BE49-F238E27FC236}">
                <a16:creationId xmlns:a16="http://schemas.microsoft.com/office/drawing/2014/main" id="{F689C483-634C-4686-92C2-3D9D96D06AC9}"/>
              </a:ext>
            </a:extLst>
          </p:cNvPr>
          <p:cNvSpPr>
            <a:spLocks xmlns:a="http://schemas.openxmlformats.org/drawingml/2006/main" noGrp="1"/>
          </p:cNvSpPr>
          <p:nvPr/>
        </p:nvSpPr>
        <p:spPr>
          <a:xfrm xmlns:a="http://schemas.openxmlformats.org/drawingml/2006/main">
            <a:off x="6496050" y="2162175"/>
            <a:ext cx="361950" cy="361950"/>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21" name="">
            <a:extLst xmlns:a="http://schemas.openxmlformats.org/drawingml/2006/main">
              <a:ext uri="{FF2B5EF4-FFF2-40B4-BE49-F238E27FC236}">
                <a16:creationId xmlns:a16="http://schemas.microsoft.com/office/drawing/2014/main" id="{A96D6F32-4D43-4874-A2EB-D57ECC59C936}"/>
              </a:ext>
            </a:extLst>
          </p:cNvPr>
          <p:cNvSpPr>
            <a:spLocks xmlns:a="http://schemas.openxmlformats.org/drawingml/2006/main" noGrp="1"/>
          </p:cNvSpPr>
          <p:nvPr/>
        </p:nvSpPr>
        <p:spPr>
          <a:xfrm xmlns:a="http://schemas.openxmlformats.org/drawingml/2006/main">
            <a:off x="6496050" y="22002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04</a:t>
            </a:r>
          </a:p>
        </p:txBody>
      </p:sp>
      <p:sp>
        <p:nvSpPr>
          <p:cNvPr id="22" name="">
            <a:extLst xmlns:a="http://schemas.openxmlformats.org/drawingml/2006/main">
              <a:ext uri="{FF2B5EF4-FFF2-40B4-BE49-F238E27FC236}">
                <a16:creationId xmlns:a16="http://schemas.microsoft.com/office/drawing/2014/main" id="{5C6582B2-E929-4BE8-8376-604453D82F06}"/>
              </a:ext>
            </a:extLst>
          </p:cNvPr>
          <p:cNvSpPr>
            <a:spLocks xmlns:a="http://schemas.openxmlformats.org/drawingml/2006/main" noGrp="1"/>
          </p:cNvSpPr>
          <p:nvPr/>
        </p:nvSpPr>
        <p:spPr>
          <a:xfrm xmlns:a="http://schemas.openxmlformats.org/drawingml/2006/main">
            <a:off x="6267450" y="27432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0251F"/>
                </a:solidFill>
              </a:defRPr>
            </a:pPr>
            <a:r>
              <a:rPr sz="1500" b="1" i="0">
                <a:solidFill>
                  <a:srgbClr val="10251F"/>
                </a:solidFill>
              </a:rPr>
              <a:t>DOĞRULA</a:t>
            </a:r>
          </a:p>
        </p:txBody>
      </p:sp>
      <p:sp>
        <p:nvSpPr>
          <p:cNvPr id="23" name="">
            <a:extLst xmlns:a="http://schemas.openxmlformats.org/drawingml/2006/main">
              <a:ext uri="{FF2B5EF4-FFF2-40B4-BE49-F238E27FC236}">
                <a16:creationId xmlns:a16="http://schemas.microsoft.com/office/drawing/2014/main" id="{BBBAA783-4F18-4D8B-A090-E14789DFD6B5}"/>
              </a:ext>
            </a:extLst>
          </p:cNvPr>
          <p:cNvSpPr>
            <a:spLocks xmlns:a="http://schemas.openxmlformats.org/drawingml/2006/main" noGrp="1"/>
          </p:cNvSpPr>
          <p:nvPr/>
        </p:nvSpPr>
        <p:spPr>
          <a:xfrm xmlns:a="http://schemas.openxmlformats.org/drawingml/2006/main">
            <a:off x="6096000" y="318135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66736F"/>
                </a:solidFill>
              </a:defRPr>
            </a:pPr>
            <a:r>
              <a:rPr sz="1125" b="0" i="0">
                <a:solidFill>
                  <a:srgbClr val="66736F"/>
                </a:solidFill>
              </a:rPr>
              <a:t>frame_id · zaman · SHA-256 · fail-closed</a:t>
            </a:r>
          </a:p>
        </p:txBody>
      </p:sp>
      <p:sp>
        <p:nvSpPr>
          <p:cNvPr id="24" name="">
            <a:extLst xmlns:a="http://schemas.openxmlformats.org/drawingml/2006/main">
              <a:ext uri="{FF2B5EF4-FFF2-40B4-BE49-F238E27FC236}">
                <a16:creationId xmlns:a16="http://schemas.microsoft.com/office/drawing/2014/main" id="{81A99AF9-0C85-405A-BE5C-175CA90DE67D}"/>
              </a:ext>
            </a:extLst>
          </p:cNvPr>
          <p:cNvSpPr>
            <a:spLocks xmlns:a="http://schemas.openxmlformats.org/drawingml/2006/main" noGrp="1"/>
          </p:cNvSpPr>
          <p:nvPr/>
        </p:nvSpPr>
        <p:spPr>
          <a:xfrm xmlns:a="http://schemas.openxmlformats.org/drawingml/2006/main">
            <a:off x="8343900" y="2162175"/>
            <a:ext cx="361950" cy="361950"/>
          </a:xfrm>
          <a:prstGeom xmlns:a="http://schemas.openxmlformats.org/drawingml/2006/main" prst="roundRect">
            <a:avLst>
              <a:gd name="adj" fmla="val 50000"/>
            </a:avLst>
          </a:prstGeom>
          <a:solidFill xmlns:a="http://schemas.openxmlformats.org/drawingml/2006/main">
            <a:srgbClr val="C95F3D"/>
          </a:solidFill>
          <a:ln xmlns:a="http://schemas.openxmlformats.org/drawingml/2006/main" w="0">
            <a:solidFill>
              <a:srgbClr val="C95F3D"/>
            </a:solidFill>
            <a:prstDash val="solid"/>
          </a:ln>
        </p:spPr>
      </p:sp>
      <p:sp>
        <p:nvSpPr>
          <p:cNvPr id="25" name="">
            <a:extLst xmlns:a="http://schemas.openxmlformats.org/drawingml/2006/main">
              <a:ext uri="{FF2B5EF4-FFF2-40B4-BE49-F238E27FC236}">
                <a16:creationId xmlns:a16="http://schemas.microsoft.com/office/drawing/2014/main" id="{6AB9ABF8-2E1A-4681-89D2-522A9BC61798}"/>
              </a:ext>
            </a:extLst>
          </p:cNvPr>
          <p:cNvSpPr>
            <a:spLocks xmlns:a="http://schemas.openxmlformats.org/drawingml/2006/main" noGrp="1"/>
          </p:cNvSpPr>
          <p:nvPr/>
        </p:nvSpPr>
        <p:spPr>
          <a:xfrm xmlns:a="http://schemas.openxmlformats.org/drawingml/2006/main">
            <a:off x="8343900" y="22002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05</a:t>
            </a:r>
          </a:p>
        </p:txBody>
      </p:sp>
      <p:sp>
        <p:nvSpPr>
          <p:cNvPr id="26" name="">
            <a:extLst xmlns:a="http://schemas.openxmlformats.org/drawingml/2006/main">
              <a:ext uri="{FF2B5EF4-FFF2-40B4-BE49-F238E27FC236}">
                <a16:creationId xmlns:a16="http://schemas.microsoft.com/office/drawing/2014/main" id="{680FC3D6-F9E5-4890-9B71-D558F6D11E01}"/>
              </a:ext>
            </a:extLst>
          </p:cNvPr>
          <p:cNvSpPr>
            <a:spLocks xmlns:a="http://schemas.openxmlformats.org/drawingml/2006/main" noGrp="1"/>
          </p:cNvSpPr>
          <p:nvPr/>
        </p:nvSpPr>
        <p:spPr>
          <a:xfrm xmlns:a="http://schemas.openxmlformats.org/drawingml/2006/main">
            <a:off x="8115300" y="27432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0251F"/>
                </a:solidFill>
              </a:defRPr>
            </a:pPr>
            <a:r>
              <a:rPr sz="1500" b="1" i="0">
                <a:solidFill>
                  <a:srgbClr val="10251F"/>
                </a:solidFill>
              </a:rPr>
              <a:t>AYDINLAT</a:t>
            </a:r>
          </a:p>
        </p:txBody>
      </p:sp>
      <p:sp>
        <p:nvSpPr>
          <p:cNvPr id="27" name="">
            <a:extLst xmlns:a="http://schemas.openxmlformats.org/drawingml/2006/main">
              <a:ext uri="{FF2B5EF4-FFF2-40B4-BE49-F238E27FC236}">
                <a16:creationId xmlns:a16="http://schemas.microsoft.com/office/drawing/2014/main" id="{EE10A925-7F01-4622-A91D-A3C58DEE548F}"/>
              </a:ext>
            </a:extLst>
          </p:cNvPr>
          <p:cNvSpPr>
            <a:spLocks xmlns:a="http://schemas.openxmlformats.org/drawingml/2006/main" noGrp="1"/>
          </p:cNvSpPr>
          <p:nvPr/>
        </p:nvSpPr>
        <p:spPr>
          <a:xfrm xmlns:a="http://schemas.openxmlformats.org/drawingml/2006/main">
            <a:off x="7943850" y="318135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66736F"/>
                </a:solidFill>
              </a:defRPr>
            </a:pPr>
            <a:r>
              <a:rPr sz="1125" b="0" i="0">
                <a:solidFill>
                  <a:srgbClr val="66736F"/>
                </a:solidFill>
              </a:rPr>
              <a:t>LangGraph · oturum bağlamı · kategori soruları</a:t>
            </a:r>
          </a:p>
        </p:txBody>
      </p:sp>
      <p:sp>
        <p:nvSpPr>
          <p:cNvPr id="28" name="">
            <a:extLst xmlns:a="http://schemas.openxmlformats.org/drawingml/2006/main">
              <a:ext uri="{FF2B5EF4-FFF2-40B4-BE49-F238E27FC236}">
                <a16:creationId xmlns:a16="http://schemas.microsoft.com/office/drawing/2014/main" id="{F317769E-683D-49E8-A827-BC2AF97E0DF0}"/>
              </a:ext>
            </a:extLst>
          </p:cNvPr>
          <p:cNvSpPr>
            <a:spLocks xmlns:a="http://schemas.openxmlformats.org/drawingml/2006/main" noGrp="1"/>
          </p:cNvSpPr>
          <p:nvPr/>
        </p:nvSpPr>
        <p:spPr>
          <a:xfrm xmlns:a="http://schemas.openxmlformats.org/drawingml/2006/main">
            <a:off x="10191750" y="2162175"/>
            <a:ext cx="361950" cy="361950"/>
          </a:xfrm>
          <a:prstGeom xmlns:a="http://schemas.openxmlformats.org/drawingml/2006/main" prst="roundRect">
            <a:avLst>
              <a:gd name="adj" fmla="val 50000"/>
            </a:avLst>
          </a:prstGeom>
          <a:solidFill xmlns:a="http://schemas.openxmlformats.org/drawingml/2006/main">
            <a:srgbClr val="123C34"/>
          </a:solidFill>
          <a:ln xmlns:a="http://schemas.openxmlformats.org/drawingml/2006/main" w="0">
            <a:solidFill>
              <a:srgbClr val="123C34"/>
            </a:solidFill>
            <a:prstDash val="solid"/>
          </a:ln>
        </p:spPr>
      </p:sp>
      <p:sp>
        <p:nvSpPr>
          <p:cNvPr id="29" name="">
            <a:extLst xmlns:a="http://schemas.openxmlformats.org/drawingml/2006/main">
              <a:ext uri="{FF2B5EF4-FFF2-40B4-BE49-F238E27FC236}">
                <a16:creationId xmlns:a16="http://schemas.microsoft.com/office/drawing/2014/main" id="{9C7EF092-DE25-4054-A1C8-964EFBDD017C}"/>
              </a:ext>
            </a:extLst>
          </p:cNvPr>
          <p:cNvSpPr>
            <a:spLocks xmlns:a="http://schemas.openxmlformats.org/drawingml/2006/main" noGrp="1"/>
          </p:cNvSpPr>
          <p:nvPr/>
        </p:nvSpPr>
        <p:spPr>
          <a:xfrm xmlns:a="http://schemas.openxmlformats.org/drawingml/2006/main">
            <a:off x="10191750" y="22002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06</a:t>
            </a:r>
          </a:p>
        </p:txBody>
      </p:sp>
      <p:sp>
        <p:nvSpPr>
          <p:cNvPr id="30" name="">
            <a:extLst xmlns:a="http://schemas.openxmlformats.org/drawingml/2006/main">
              <a:ext uri="{FF2B5EF4-FFF2-40B4-BE49-F238E27FC236}">
                <a16:creationId xmlns:a16="http://schemas.microsoft.com/office/drawing/2014/main" id="{6535F1BA-F544-4091-AE00-67A86E16B946}"/>
              </a:ext>
            </a:extLst>
          </p:cNvPr>
          <p:cNvSpPr>
            <a:spLocks xmlns:a="http://schemas.openxmlformats.org/drawingml/2006/main" noGrp="1"/>
          </p:cNvSpPr>
          <p:nvPr/>
        </p:nvSpPr>
        <p:spPr>
          <a:xfrm xmlns:a="http://schemas.openxmlformats.org/drawingml/2006/main">
            <a:off x="9963150" y="27432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0251F"/>
                </a:solidFill>
              </a:defRPr>
            </a:pPr>
            <a:r>
              <a:rPr sz="1500" b="1" i="0">
                <a:solidFill>
                  <a:srgbClr val="10251F"/>
                </a:solidFill>
              </a:rPr>
              <a:t>KARAR</a:t>
            </a:r>
          </a:p>
        </p:txBody>
      </p:sp>
      <p:sp>
        <p:nvSpPr>
          <p:cNvPr id="31" name="">
            <a:extLst xmlns:a="http://schemas.openxmlformats.org/drawingml/2006/main">
              <a:ext uri="{FF2B5EF4-FFF2-40B4-BE49-F238E27FC236}">
                <a16:creationId xmlns:a16="http://schemas.microsoft.com/office/drawing/2014/main" id="{9FEBC41B-8A6D-4596-9BBD-B54B84AEA6F0}"/>
              </a:ext>
            </a:extLst>
          </p:cNvPr>
          <p:cNvSpPr>
            <a:spLocks xmlns:a="http://schemas.openxmlformats.org/drawingml/2006/main" noGrp="1"/>
          </p:cNvSpPr>
          <p:nvPr/>
        </p:nvSpPr>
        <p:spPr>
          <a:xfrm xmlns:a="http://schemas.openxmlformats.org/drawingml/2006/main">
            <a:off x="9791700" y="318135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66736F"/>
                </a:solidFill>
              </a:defRPr>
            </a:pPr>
            <a:r>
              <a:rPr sz="1125" b="0" i="0">
                <a:solidFill>
                  <a:srgbClr val="66736F"/>
                </a:solidFill>
              </a:rPr>
              <a:t>Ledger · prosedür · insan onayı</a:t>
            </a:r>
          </a:p>
        </p:txBody>
      </p:sp>
      <p:sp>
        <p:nvSpPr>
          <p:cNvPr id="32" name="">
            <a:extLst xmlns:a="http://schemas.openxmlformats.org/drawingml/2006/main">
              <a:ext uri="{FF2B5EF4-FFF2-40B4-BE49-F238E27FC236}">
                <a16:creationId xmlns:a16="http://schemas.microsoft.com/office/drawing/2014/main" id="{740971D9-9E27-4160-B713-D32A7FA27D16}"/>
              </a:ext>
            </a:extLst>
          </p:cNvPr>
          <p:cNvSpPr>
            <a:spLocks xmlns:a="http://schemas.openxmlformats.org/drawingml/2006/main" noGrp="1"/>
          </p:cNvSpPr>
          <p:nvPr/>
        </p:nvSpPr>
        <p:spPr>
          <a:xfrm xmlns:a="http://schemas.openxmlformats.org/drawingml/2006/main">
            <a:off x="628650" y="4762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3A75A6"/>
                </a:solidFill>
              </a:defRPr>
            </a:pPr>
            <a:r>
              <a:rPr sz="975" b="1" i="0">
                <a:solidFill>
                  <a:srgbClr val="3A75A6"/>
                </a:solidFill>
              </a:rPr>
              <a:t>GÖRÜNTÜ</a:t>
            </a:r>
          </a:p>
        </p:txBody>
      </p:sp>
      <p:sp>
        <p:nvSpPr>
          <p:cNvPr id="33" name="">
            <a:extLst xmlns:a="http://schemas.openxmlformats.org/drawingml/2006/main">
              <a:ext uri="{FF2B5EF4-FFF2-40B4-BE49-F238E27FC236}">
                <a16:creationId xmlns:a16="http://schemas.microsoft.com/office/drawing/2014/main" id="{7C9E734B-2A89-4CA0-AC26-BEA52B60BA23}"/>
              </a:ext>
            </a:extLst>
          </p:cNvPr>
          <p:cNvSpPr>
            <a:spLocks xmlns:a="http://schemas.openxmlformats.org/drawingml/2006/main" noGrp="1"/>
          </p:cNvSpPr>
          <p:nvPr/>
        </p:nvSpPr>
        <p:spPr>
          <a:xfrm xmlns:a="http://schemas.openxmlformats.org/drawingml/2006/main">
            <a:off x="4914900" y="47625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C95F3D"/>
                </a:solidFill>
              </a:defRPr>
            </a:pPr>
            <a:r>
              <a:rPr sz="975" b="1" i="0">
                <a:solidFill>
                  <a:srgbClr val="C95F3D"/>
                </a:solidFill>
              </a:rPr>
              <a:t>KANITLI BAĞLAM</a:t>
            </a:r>
          </a:p>
        </p:txBody>
      </p:sp>
      <p:sp>
        <p:nvSpPr>
          <p:cNvPr id="34" name="">
            <a:extLst xmlns:a="http://schemas.openxmlformats.org/drawingml/2006/main">
              <a:ext uri="{FF2B5EF4-FFF2-40B4-BE49-F238E27FC236}">
                <a16:creationId xmlns:a16="http://schemas.microsoft.com/office/drawing/2014/main" id="{6A76A616-80FE-43A2-8A12-F302D9DBCAD0}"/>
              </a:ext>
            </a:extLst>
          </p:cNvPr>
          <p:cNvSpPr>
            <a:spLocks xmlns:a="http://schemas.openxmlformats.org/drawingml/2006/main" noGrp="1"/>
          </p:cNvSpPr>
          <p:nvPr/>
        </p:nvSpPr>
        <p:spPr>
          <a:xfrm xmlns:a="http://schemas.openxmlformats.org/drawingml/2006/main">
            <a:off x="9772650" y="4762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123C34"/>
                </a:solidFill>
              </a:defRPr>
            </a:pPr>
            <a:r>
              <a:rPr sz="975" b="1" i="0">
                <a:solidFill>
                  <a:srgbClr val="123C34"/>
                </a:solidFill>
              </a:rPr>
              <a:t>İNSAN KARARI</a:t>
            </a:r>
          </a:p>
        </p:txBody>
      </p:sp>
      <p:sp>
        <p:nvSpPr>
          <p:cNvPr id="35" name="">
            <a:extLst xmlns:a="http://schemas.openxmlformats.org/drawingml/2006/main">
              <a:ext uri="{FF2B5EF4-FFF2-40B4-BE49-F238E27FC236}">
                <a16:creationId xmlns:a16="http://schemas.microsoft.com/office/drawing/2014/main" id="{BB095619-ED79-419B-8373-C3132FEAF9BB}"/>
              </a:ext>
            </a:extLst>
          </p:cNvPr>
          <p:cNvSpPr>
            <a:spLocks xmlns:a="http://schemas.openxmlformats.org/drawingml/2006/main" noGrp="1"/>
          </p:cNvSpPr>
          <p:nvPr/>
        </p:nvSpPr>
        <p:spPr>
          <a:xfrm xmlns:a="http://schemas.openxmlformats.org/drawingml/2006/main">
            <a:off x="1752600" y="5429250"/>
            <a:ext cx="8686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0251F"/>
                </a:solidFill>
              </a:defRPr>
            </a:pPr>
            <a:r>
              <a:rPr sz="1500" b="1" i="0">
                <a:solidFill>
                  <a:srgbClr val="10251F"/>
                </a:solidFill>
              </a:rPr>
              <a:t>Her aşama, yanlış alarmı veya kanıtsız kararı bir sonraki aşamaya taşımamak için ayrı bir kapıdır.</a:t>
            </a:r>
          </a:p>
        </p:txBody>
      </p:sp>
      <p:sp>
        <p:nvSpPr>
          <p:cNvPr id="36" name="">
            <a:extLst xmlns:a="http://schemas.openxmlformats.org/drawingml/2006/main">
              <a:ext uri="{FF2B5EF4-FFF2-40B4-BE49-F238E27FC236}">
                <a16:creationId xmlns:a16="http://schemas.microsoft.com/office/drawing/2014/main" id="{BB2E5014-80B0-4E46-B051-77ECE8B1EE3A}"/>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7A8581"/>
                </a:solidFill>
              </a:defRPr>
            </a:pPr>
            <a:r>
              <a:rPr sz="825" b="0" i="0">
                <a:solidFill>
                  <a:srgbClr val="7A8581"/>
                </a:solidFill>
              </a:rPr>
              <a:t>Üretim çıkarımı EVREN vLLM servisleriyle; algı katmanı SigLIP-2 ve D-FINE ile çalışır.</a:t>
            </a:r>
          </a:p>
        </p:txBody>
      </p:sp>
    </p:spTree>
    <p:extLst>
      <p:ext uri="{BB962C8B-B14F-4D97-AF65-F5344CB8AC3E}">
        <p14:creationId xmlns:p14="http://schemas.microsoft.com/office/powerpoint/2010/main" val="967676878"/>
      </p:ext>
    </p:extLst>
  </p:cSld>
</p:sld>
</file>

<file path=ppt/slides/slide6.xml><?xml version="1.0" encoding="utf-8"?>
<p:sld xmlns:p="http://schemas.openxmlformats.org/presentationml/2006/main">
  <p:cSld>
    <p:bg>
      <p:bgPr>
        <a:solidFill xmlns:a="http://schemas.openxmlformats.org/drawingml/2006/main">
          <a:srgbClr val="123C3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56B0766-8672-40D4-8D31-75BCBE0E124F}"/>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2" name="">
            <a:extLst xmlns:a="http://schemas.openxmlformats.org/drawingml/2006/main">
              <a:ext uri="{FF2B5EF4-FFF2-40B4-BE49-F238E27FC236}">
                <a16:creationId xmlns:a16="http://schemas.microsoft.com/office/drawing/2014/main" id="{971E9B5F-D6B5-4D57-BED7-FE88ABE3C004}"/>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3" name="">
            <a:extLst xmlns:a="http://schemas.openxmlformats.org/drawingml/2006/main">
              <a:ext uri="{FF2B5EF4-FFF2-40B4-BE49-F238E27FC236}">
                <a16:creationId xmlns:a16="http://schemas.microsoft.com/office/drawing/2014/main" id="{CB36E8BC-B75F-4DBA-AA42-5F1327F3C3C2}"/>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FFFFFF"/>
                </a:solidFill>
              </a:defRPr>
            </a:pPr>
            <a:r>
              <a:rPr sz="1125" b="1" i="0">
                <a:solidFill>
                  <a:srgbClr val="FFFFFF"/>
                </a:solidFill>
              </a:rPr>
              <a:t>DÖRTGÖZ</a:t>
            </a:r>
          </a:p>
        </p:txBody>
      </p:sp>
      <p:sp>
        <p:nvSpPr>
          <p:cNvPr id="4" name="">
            <a:extLst xmlns:a="http://schemas.openxmlformats.org/drawingml/2006/main">
              <a:ext uri="{FF2B5EF4-FFF2-40B4-BE49-F238E27FC236}">
                <a16:creationId xmlns:a16="http://schemas.microsoft.com/office/drawing/2014/main" id="{A043BACE-3366-424F-9DE4-F8E3B78E5765}"/>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C2D7D0"/>
                </a:solidFill>
              </a:defRPr>
            </a:pPr>
            <a:r>
              <a:rPr sz="900" b="0" i="0">
                <a:solidFill>
                  <a:srgbClr val="C2D7D0"/>
                </a:solidFill>
              </a:rPr>
              <a:t>06</a:t>
            </a:r>
          </a:p>
        </p:txBody>
      </p:sp>
      <p:sp>
        <p:nvSpPr>
          <p:cNvPr id="5" name="">
            <a:extLst xmlns:a="http://schemas.openxmlformats.org/drawingml/2006/main">
              <a:ext uri="{FF2B5EF4-FFF2-40B4-BE49-F238E27FC236}">
                <a16:creationId xmlns:a16="http://schemas.microsoft.com/office/drawing/2014/main" id="{C83AD9B5-BA5C-4847-A3C1-E89D973F4674}"/>
              </a:ext>
            </a:extLst>
          </p:cNvPr>
          <p:cNvSpPr>
            <a:spLocks xmlns:a="http://schemas.openxmlformats.org/drawingml/2006/main" noGrp="1"/>
          </p:cNvSpPr>
          <p:nvPr/>
        </p:nvSpPr>
        <p:spPr>
          <a:xfrm xmlns:a="http://schemas.openxmlformats.org/drawingml/2006/main">
            <a:off x="609600" y="7810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FFFFFF"/>
                </a:solidFill>
              </a:defRPr>
            </a:pPr>
            <a:r>
              <a:rPr sz="2850" b="1" i="0">
                <a:solidFill>
                  <a:srgbClr val="FFFFFF"/>
                </a:solidFill>
              </a:rPr>
              <a:t>Her teknoloji bir insan sorununa cevap veriyor</a:t>
            </a:r>
          </a:p>
        </p:txBody>
      </p:sp>
      <p:sp>
        <p:nvSpPr>
          <p:cNvPr id="6" name="">
            <a:extLst xmlns:a="http://schemas.openxmlformats.org/drawingml/2006/main">
              <a:ext uri="{FF2B5EF4-FFF2-40B4-BE49-F238E27FC236}">
                <a16:creationId xmlns:a16="http://schemas.microsoft.com/office/drawing/2014/main" id="{930E0686-671C-4F14-BDD8-8A947471086B}"/>
              </a:ext>
            </a:extLst>
          </p:cNvPr>
          <p:cNvSpPr>
            <a:spLocks xmlns:a="http://schemas.openxmlformats.org/drawingml/2006/main" noGrp="1"/>
          </p:cNvSpPr>
          <p:nvPr/>
        </p:nvSpPr>
        <p:spPr>
          <a:xfrm xmlns:a="http://schemas.openxmlformats.org/drawingml/2006/main">
            <a:off x="609600" y="1333500"/>
            <a:ext cx="1093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3E1DD"/>
                </a:solidFill>
              </a:defRPr>
            </a:pPr>
            <a:r>
              <a:rPr sz="1350" b="0" i="0">
                <a:solidFill>
                  <a:srgbClr val="D3E1DD"/>
                </a:solidFill>
              </a:rPr>
              <a:t>Teknik seçimler performans gösterisi değil; dikkat, kanıt ve sorumluluk için yapıldı.</a:t>
            </a:r>
          </a:p>
        </p:txBody>
      </p:sp>
      <p:sp>
        <p:nvSpPr>
          <p:cNvPr id="7" name="">
            <a:extLst xmlns:a="http://schemas.openxmlformats.org/drawingml/2006/main">
              <a:ext uri="{FF2B5EF4-FFF2-40B4-BE49-F238E27FC236}">
                <a16:creationId xmlns:a16="http://schemas.microsoft.com/office/drawing/2014/main" id="{69E191EA-8C21-412F-8A3D-9C7580A20B66}"/>
              </a:ext>
            </a:extLst>
          </p:cNvPr>
          <p:cNvSpPr>
            <a:spLocks xmlns:a="http://schemas.openxmlformats.org/drawingml/2006/main" noGrp="1"/>
          </p:cNvSpPr>
          <p:nvPr/>
        </p:nvSpPr>
        <p:spPr>
          <a:xfrm xmlns:a="http://schemas.openxmlformats.org/drawingml/2006/main">
            <a:off x="762000" y="19431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6FC2AD"/>
                </a:solidFill>
              </a:defRPr>
            </a:pPr>
            <a:r>
              <a:rPr sz="1500" b="1" i="0">
                <a:solidFill>
                  <a:srgbClr val="6FC2AD"/>
                </a:solidFill>
              </a:rPr>
              <a:t>SigLIP-2 + D-FINE</a:t>
            </a:r>
          </a:p>
        </p:txBody>
      </p:sp>
      <p:sp>
        <p:nvSpPr>
          <p:cNvPr id="8" name="">
            <a:extLst xmlns:a="http://schemas.openxmlformats.org/drawingml/2006/main">
              <a:ext uri="{FF2B5EF4-FFF2-40B4-BE49-F238E27FC236}">
                <a16:creationId xmlns:a16="http://schemas.microsoft.com/office/drawing/2014/main" id="{F9D37545-5128-45AC-977E-3A81C6F6F783}"/>
              </a:ext>
            </a:extLst>
          </p:cNvPr>
          <p:cNvSpPr>
            <a:spLocks xmlns:a="http://schemas.openxmlformats.org/drawingml/2006/main" noGrp="1"/>
          </p:cNvSpPr>
          <p:nvPr/>
        </p:nvSpPr>
        <p:spPr>
          <a:xfrm xmlns:a="http://schemas.openxmlformats.org/drawingml/2006/main">
            <a:off x="4095750" y="1943100"/>
            <a:ext cx="714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D5E2DE"/>
                </a:solidFill>
              </a:defRPr>
            </a:pPr>
            <a:r>
              <a:rPr sz="1275" b="0" i="0">
                <a:solidFill>
                  <a:srgbClr val="D5E2DE"/>
                </a:solidFill>
              </a:rPr>
              <a:t>Boş görüntüyü azaltır; kişi içeren kritik pencereyi kurtarır.</a:t>
            </a:r>
          </a:p>
        </p:txBody>
      </p:sp>
      <p:sp>
        <p:nvSpPr>
          <p:cNvPr id="9" name="">
            <a:extLst xmlns:a="http://schemas.openxmlformats.org/drawingml/2006/main">
              <a:ext uri="{FF2B5EF4-FFF2-40B4-BE49-F238E27FC236}">
                <a16:creationId xmlns:a16="http://schemas.microsoft.com/office/drawing/2014/main" id="{6F589F89-97CB-4C31-A828-CE29857DBD5A}"/>
              </a:ext>
            </a:extLst>
          </p:cNvPr>
          <p:cNvSpPr>
            <a:spLocks xmlns:a="http://schemas.openxmlformats.org/drawingml/2006/main" noGrp="1"/>
          </p:cNvSpPr>
          <p:nvPr/>
        </p:nvSpPr>
        <p:spPr>
          <a:xfrm xmlns:a="http://schemas.openxmlformats.org/drawingml/2006/main">
            <a:off x="762000" y="2495550"/>
            <a:ext cx="10477500" cy="9525"/>
          </a:xfrm>
          <a:prstGeom xmlns:a="http://schemas.openxmlformats.org/drawingml/2006/main" prst="rect">
            <a:avLst/>
          </a:prstGeom>
          <a:solidFill xmlns:a="http://schemas.openxmlformats.org/drawingml/2006/main">
            <a:srgbClr val="2B5B51"/>
          </a:solidFill>
          <a:ln xmlns:a="http://schemas.openxmlformats.org/drawingml/2006/main" w="0">
            <a:solidFill>
              <a:srgbClr val="2B5B51"/>
            </a:solidFill>
            <a:prstDash val="solid"/>
          </a:ln>
        </p:spPr>
      </p:sp>
      <p:sp>
        <p:nvSpPr>
          <p:cNvPr id="10" name="">
            <a:extLst xmlns:a="http://schemas.openxmlformats.org/drawingml/2006/main">
              <a:ext uri="{FF2B5EF4-FFF2-40B4-BE49-F238E27FC236}">
                <a16:creationId xmlns:a16="http://schemas.microsoft.com/office/drawing/2014/main" id="{82517C49-9390-4EBD-BF6B-AA3D9FF8ABFF}"/>
              </a:ext>
            </a:extLst>
          </p:cNvPr>
          <p:cNvSpPr>
            <a:spLocks xmlns:a="http://schemas.openxmlformats.org/drawingml/2006/main" noGrp="1"/>
          </p:cNvSpPr>
          <p:nvPr/>
        </p:nvSpPr>
        <p:spPr>
          <a:xfrm xmlns:a="http://schemas.openxmlformats.org/drawingml/2006/main">
            <a:off x="762000" y="26289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F2C77D"/>
                </a:solidFill>
              </a:defRPr>
            </a:pPr>
            <a:r>
              <a:rPr sz="1500" b="1" i="0">
                <a:solidFill>
                  <a:srgbClr val="F2C77D"/>
                </a:solidFill>
              </a:rPr>
              <a:t>VLM + llm-fast / llm-large</a:t>
            </a:r>
          </a:p>
        </p:txBody>
      </p:sp>
      <p:sp>
        <p:nvSpPr>
          <p:cNvPr id="11" name="">
            <a:extLst xmlns:a="http://schemas.openxmlformats.org/drawingml/2006/main">
              <a:ext uri="{FF2B5EF4-FFF2-40B4-BE49-F238E27FC236}">
                <a16:creationId xmlns:a16="http://schemas.microsoft.com/office/drawing/2014/main" id="{C8C9E4D4-DD4F-4B18-8FBF-857F0A26FE62}"/>
              </a:ext>
            </a:extLst>
          </p:cNvPr>
          <p:cNvSpPr>
            <a:spLocks xmlns:a="http://schemas.openxmlformats.org/drawingml/2006/main" noGrp="1"/>
          </p:cNvSpPr>
          <p:nvPr/>
        </p:nvSpPr>
        <p:spPr>
          <a:xfrm xmlns:a="http://schemas.openxmlformats.org/drawingml/2006/main">
            <a:off x="4095750" y="2628900"/>
            <a:ext cx="714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D5E2DE"/>
                </a:solidFill>
              </a:defRPr>
            </a:pPr>
            <a:r>
              <a:rPr sz="1275" b="0" i="0">
                <a:solidFill>
                  <a:srgbClr val="D5E2DE"/>
                </a:solidFill>
              </a:rPr>
              <a:t>Olayı Türkçe anlatır; sınıfı hakemler ve gerektiğinde ikinci görüş alır.</a:t>
            </a:r>
          </a:p>
        </p:txBody>
      </p:sp>
      <p:sp>
        <p:nvSpPr>
          <p:cNvPr id="12" name="">
            <a:extLst xmlns:a="http://schemas.openxmlformats.org/drawingml/2006/main">
              <a:ext uri="{FF2B5EF4-FFF2-40B4-BE49-F238E27FC236}">
                <a16:creationId xmlns:a16="http://schemas.microsoft.com/office/drawing/2014/main" id="{871B9634-6FF4-43E1-AF87-5D50C3A9C886}"/>
              </a:ext>
            </a:extLst>
          </p:cNvPr>
          <p:cNvSpPr>
            <a:spLocks xmlns:a="http://schemas.openxmlformats.org/drawingml/2006/main" noGrp="1"/>
          </p:cNvSpPr>
          <p:nvPr/>
        </p:nvSpPr>
        <p:spPr>
          <a:xfrm xmlns:a="http://schemas.openxmlformats.org/drawingml/2006/main">
            <a:off x="762000" y="3181350"/>
            <a:ext cx="10477500" cy="9525"/>
          </a:xfrm>
          <a:prstGeom xmlns:a="http://schemas.openxmlformats.org/drawingml/2006/main" prst="rect">
            <a:avLst/>
          </a:prstGeom>
          <a:solidFill xmlns:a="http://schemas.openxmlformats.org/drawingml/2006/main">
            <a:srgbClr val="2B5B51"/>
          </a:solidFill>
          <a:ln xmlns:a="http://schemas.openxmlformats.org/drawingml/2006/main" w="0">
            <a:solidFill>
              <a:srgbClr val="2B5B51"/>
            </a:solidFill>
            <a:prstDash val="solid"/>
          </a:ln>
        </p:spPr>
      </p:sp>
      <p:sp>
        <p:nvSpPr>
          <p:cNvPr id="13" name="">
            <a:extLst xmlns:a="http://schemas.openxmlformats.org/drawingml/2006/main">
              <a:ext uri="{FF2B5EF4-FFF2-40B4-BE49-F238E27FC236}">
                <a16:creationId xmlns:a16="http://schemas.microsoft.com/office/drawing/2014/main" id="{EFCFC9EE-57B4-4DE9-A7CF-A644EAC98A77}"/>
              </a:ext>
            </a:extLst>
          </p:cNvPr>
          <p:cNvSpPr>
            <a:spLocks xmlns:a="http://schemas.openxmlformats.org/drawingml/2006/main" noGrp="1"/>
          </p:cNvSpPr>
          <p:nvPr/>
        </p:nvSpPr>
        <p:spPr>
          <a:xfrm xmlns:a="http://schemas.openxmlformats.org/drawingml/2006/main">
            <a:off x="762000" y="33147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6FC2AD"/>
                </a:solidFill>
              </a:defRPr>
            </a:pPr>
            <a:r>
              <a:rPr sz="1500" b="1" i="0">
                <a:solidFill>
                  <a:srgbClr val="6FC2AD"/>
                </a:solidFill>
              </a:rPr>
              <a:t>Evidence Validator</a:t>
            </a:r>
          </a:p>
        </p:txBody>
      </p:sp>
      <p:sp>
        <p:nvSpPr>
          <p:cNvPr id="14" name="">
            <a:extLst xmlns:a="http://schemas.openxmlformats.org/drawingml/2006/main">
              <a:ext uri="{FF2B5EF4-FFF2-40B4-BE49-F238E27FC236}">
                <a16:creationId xmlns:a16="http://schemas.microsoft.com/office/drawing/2014/main" id="{94C40569-2829-4381-B434-18D3692BAB2D}"/>
              </a:ext>
            </a:extLst>
          </p:cNvPr>
          <p:cNvSpPr>
            <a:spLocks xmlns:a="http://schemas.openxmlformats.org/drawingml/2006/main" noGrp="1"/>
          </p:cNvSpPr>
          <p:nvPr/>
        </p:nvSpPr>
        <p:spPr>
          <a:xfrm xmlns:a="http://schemas.openxmlformats.org/drawingml/2006/main">
            <a:off x="4095750" y="3314700"/>
            <a:ext cx="714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D5E2DE"/>
                </a:solidFill>
              </a:defRPr>
            </a:pPr>
            <a:r>
              <a:rPr sz="1275" b="0" i="0">
                <a:solidFill>
                  <a:srgbClr val="D5E2DE"/>
                </a:solidFill>
              </a:rPr>
              <a:t>İddiayı gerçek kare, zaman damgası ve içerik özetiyle doğrular.</a:t>
            </a:r>
          </a:p>
        </p:txBody>
      </p:sp>
      <p:sp>
        <p:nvSpPr>
          <p:cNvPr id="15" name="">
            <a:extLst xmlns:a="http://schemas.openxmlformats.org/drawingml/2006/main">
              <a:ext uri="{FF2B5EF4-FFF2-40B4-BE49-F238E27FC236}">
                <a16:creationId xmlns:a16="http://schemas.microsoft.com/office/drawing/2014/main" id="{54248032-1E8B-4E04-865A-A1899507A4AC}"/>
              </a:ext>
            </a:extLst>
          </p:cNvPr>
          <p:cNvSpPr>
            <a:spLocks xmlns:a="http://schemas.openxmlformats.org/drawingml/2006/main" noGrp="1"/>
          </p:cNvSpPr>
          <p:nvPr/>
        </p:nvSpPr>
        <p:spPr>
          <a:xfrm xmlns:a="http://schemas.openxmlformats.org/drawingml/2006/main">
            <a:off x="762000" y="3867150"/>
            <a:ext cx="10477500" cy="9525"/>
          </a:xfrm>
          <a:prstGeom xmlns:a="http://schemas.openxmlformats.org/drawingml/2006/main" prst="rect">
            <a:avLst/>
          </a:prstGeom>
          <a:solidFill xmlns:a="http://schemas.openxmlformats.org/drawingml/2006/main">
            <a:srgbClr val="2B5B51"/>
          </a:solidFill>
          <a:ln xmlns:a="http://schemas.openxmlformats.org/drawingml/2006/main" w="0">
            <a:solidFill>
              <a:srgbClr val="2B5B51"/>
            </a:solidFill>
            <a:prstDash val="solid"/>
          </a:ln>
        </p:spPr>
      </p:sp>
      <p:sp>
        <p:nvSpPr>
          <p:cNvPr id="16" name="">
            <a:extLst xmlns:a="http://schemas.openxmlformats.org/drawingml/2006/main">
              <a:ext uri="{FF2B5EF4-FFF2-40B4-BE49-F238E27FC236}">
                <a16:creationId xmlns:a16="http://schemas.microsoft.com/office/drawing/2014/main" id="{FD62D068-C49D-4EA2-96B9-967BFD3FD73B}"/>
              </a:ext>
            </a:extLst>
          </p:cNvPr>
          <p:cNvSpPr>
            <a:spLocks xmlns:a="http://schemas.openxmlformats.org/drawingml/2006/main" noGrp="1"/>
          </p:cNvSpPr>
          <p:nvPr/>
        </p:nvSpPr>
        <p:spPr>
          <a:xfrm xmlns:a="http://schemas.openxmlformats.org/drawingml/2006/main">
            <a:off x="762000" y="40005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F2C77D"/>
                </a:solidFill>
              </a:defRPr>
            </a:pPr>
            <a:r>
              <a:rPr sz="1500" b="1" i="0">
                <a:solidFill>
                  <a:srgbClr val="F2C77D"/>
                </a:solidFill>
              </a:rPr>
              <a:t>Ledger</a:t>
            </a:r>
          </a:p>
        </p:txBody>
      </p:sp>
      <p:sp>
        <p:nvSpPr>
          <p:cNvPr id="17" name="">
            <a:extLst xmlns:a="http://schemas.openxmlformats.org/drawingml/2006/main">
              <a:ext uri="{FF2B5EF4-FFF2-40B4-BE49-F238E27FC236}">
                <a16:creationId xmlns:a16="http://schemas.microsoft.com/office/drawing/2014/main" id="{6A1324FD-BD94-4D8F-9781-CBB960ED0C84}"/>
              </a:ext>
            </a:extLst>
          </p:cNvPr>
          <p:cNvSpPr>
            <a:spLocks xmlns:a="http://schemas.openxmlformats.org/drawingml/2006/main" noGrp="1"/>
          </p:cNvSpPr>
          <p:nvPr/>
        </p:nvSpPr>
        <p:spPr>
          <a:xfrm xmlns:a="http://schemas.openxmlformats.org/drawingml/2006/main">
            <a:off x="4095750" y="4000500"/>
            <a:ext cx="714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D5E2DE"/>
                </a:solidFill>
              </a:defRPr>
            </a:pPr>
            <a:r>
              <a:rPr sz="1275" b="0" i="0">
                <a:solidFill>
                  <a:srgbClr val="D5E2DE"/>
                </a:solidFill>
              </a:rPr>
              <a:t>Pencereleri tek olay yaşam döngüsünde birleştirir; belirsizliği kaybetmez.</a:t>
            </a:r>
          </a:p>
        </p:txBody>
      </p:sp>
      <p:sp>
        <p:nvSpPr>
          <p:cNvPr id="18" name="">
            <a:extLst xmlns:a="http://schemas.openxmlformats.org/drawingml/2006/main">
              <a:ext uri="{FF2B5EF4-FFF2-40B4-BE49-F238E27FC236}">
                <a16:creationId xmlns:a16="http://schemas.microsoft.com/office/drawing/2014/main" id="{2DAA2D81-B7B8-4BE8-B70B-95CEF8ABEB16}"/>
              </a:ext>
            </a:extLst>
          </p:cNvPr>
          <p:cNvSpPr>
            <a:spLocks xmlns:a="http://schemas.openxmlformats.org/drawingml/2006/main" noGrp="1"/>
          </p:cNvSpPr>
          <p:nvPr/>
        </p:nvSpPr>
        <p:spPr>
          <a:xfrm xmlns:a="http://schemas.openxmlformats.org/drawingml/2006/main">
            <a:off x="762000" y="4552950"/>
            <a:ext cx="10477500" cy="9525"/>
          </a:xfrm>
          <a:prstGeom xmlns:a="http://schemas.openxmlformats.org/drawingml/2006/main" prst="rect">
            <a:avLst/>
          </a:prstGeom>
          <a:solidFill xmlns:a="http://schemas.openxmlformats.org/drawingml/2006/main">
            <a:srgbClr val="2B5B51"/>
          </a:solidFill>
          <a:ln xmlns:a="http://schemas.openxmlformats.org/drawingml/2006/main" w="0">
            <a:solidFill>
              <a:srgbClr val="2B5B51"/>
            </a:solidFill>
            <a:prstDash val="solid"/>
          </a:ln>
        </p:spPr>
      </p:sp>
      <p:sp>
        <p:nvSpPr>
          <p:cNvPr id="19" name="">
            <a:extLst xmlns:a="http://schemas.openxmlformats.org/drawingml/2006/main">
              <a:ext uri="{FF2B5EF4-FFF2-40B4-BE49-F238E27FC236}">
                <a16:creationId xmlns:a16="http://schemas.microsoft.com/office/drawing/2014/main" id="{512688A4-2F99-4426-862E-91FAD27A2A7A}"/>
              </a:ext>
            </a:extLst>
          </p:cNvPr>
          <p:cNvSpPr>
            <a:spLocks xmlns:a="http://schemas.openxmlformats.org/drawingml/2006/main" noGrp="1"/>
          </p:cNvSpPr>
          <p:nvPr/>
        </p:nvSpPr>
        <p:spPr>
          <a:xfrm xmlns:a="http://schemas.openxmlformats.org/drawingml/2006/main">
            <a:off x="762000" y="46863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6FC2AD"/>
                </a:solidFill>
              </a:defRPr>
            </a:pPr>
            <a:r>
              <a:rPr sz="1500" b="1" i="0">
                <a:solidFill>
                  <a:srgbClr val="6FC2AD"/>
                </a:solidFill>
              </a:rPr>
              <a:t>LangGraph ajan</a:t>
            </a:r>
          </a:p>
        </p:txBody>
      </p:sp>
      <p:sp>
        <p:nvSpPr>
          <p:cNvPr id="20" name="">
            <a:extLst xmlns:a="http://schemas.openxmlformats.org/drawingml/2006/main">
              <a:ext uri="{FF2B5EF4-FFF2-40B4-BE49-F238E27FC236}">
                <a16:creationId xmlns:a16="http://schemas.microsoft.com/office/drawing/2014/main" id="{7715B00A-BAF2-432E-98A7-A0CFBFC40434}"/>
              </a:ext>
            </a:extLst>
          </p:cNvPr>
          <p:cNvSpPr>
            <a:spLocks xmlns:a="http://schemas.openxmlformats.org/drawingml/2006/main" noGrp="1"/>
          </p:cNvSpPr>
          <p:nvPr/>
        </p:nvSpPr>
        <p:spPr>
          <a:xfrm xmlns:a="http://schemas.openxmlformats.org/drawingml/2006/main">
            <a:off x="4095750" y="4686300"/>
            <a:ext cx="714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D5E2DE"/>
                </a:solidFill>
              </a:defRPr>
            </a:pPr>
            <a:r>
              <a:rPr sz="1275" b="0" i="0">
                <a:solidFill>
                  <a:srgbClr val="D5E2DE"/>
                </a:solidFill>
              </a:rPr>
              <a:t>Doğru aracı seçer; seçili kamera ve olay sınırında kalır.</a:t>
            </a:r>
          </a:p>
        </p:txBody>
      </p:sp>
      <p:sp>
        <p:nvSpPr>
          <p:cNvPr id="21" name="">
            <a:extLst xmlns:a="http://schemas.openxmlformats.org/drawingml/2006/main">
              <a:ext uri="{FF2B5EF4-FFF2-40B4-BE49-F238E27FC236}">
                <a16:creationId xmlns:a16="http://schemas.microsoft.com/office/drawing/2014/main" id="{04B0C715-C12B-4A3C-92D0-CF07F208AB9E}"/>
              </a:ext>
            </a:extLst>
          </p:cNvPr>
          <p:cNvSpPr>
            <a:spLocks xmlns:a="http://schemas.openxmlformats.org/drawingml/2006/main" noGrp="1"/>
          </p:cNvSpPr>
          <p:nvPr/>
        </p:nvSpPr>
        <p:spPr>
          <a:xfrm xmlns:a="http://schemas.openxmlformats.org/drawingml/2006/main">
            <a:off x="762000" y="5238750"/>
            <a:ext cx="10477500" cy="9525"/>
          </a:xfrm>
          <a:prstGeom xmlns:a="http://schemas.openxmlformats.org/drawingml/2006/main" prst="rect">
            <a:avLst/>
          </a:prstGeom>
          <a:solidFill xmlns:a="http://schemas.openxmlformats.org/drawingml/2006/main">
            <a:srgbClr val="2B5B51"/>
          </a:solidFill>
          <a:ln xmlns:a="http://schemas.openxmlformats.org/drawingml/2006/main" w="0">
            <a:solidFill>
              <a:srgbClr val="2B5B51"/>
            </a:solidFill>
            <a:prstDash val="solid"/>
          </a:ln>
        </p:spPr>
      </p:sp>
      <p:sp>
        <p:nvSpPr>
          <p:cNvPr id="22" name="">
            <a:extLst xmlns:a="http://schemas.openxmlformats.org/drawingml/2006/main">
              <a:ext uri="{FF2B5EF4-FFF2-40B4-BE49-F238E27FC236}">
                <a16:creationId xmlns:a16="http://schemas.microsoft.com/office/drawing/2014/main" id="{BA4D85A2-AF79-48DF-8131-172F6AF6F05A}"/>
              </a:ext>
            </a:extLst>
          </p:cNvPr>
          <p:cNvSpPr>
            <a:spLocks xmlns:a="http://schemas.openxmlformats.org/drawingml/2006/main" noGrp="1"/>
          </p:cNvSpPr>
          <p:nvPr/>
        </p:nvSpPr>
        <p:spPr>
          <a:xfrm xmlns:a="http://schemas.openxmlformats.org/drawingml/2006/main">
            <a:off x="762000" y="53721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F2C77D"/>
                </a:solidFill>
              </a:defRPr>
            </a:pPr>
            <a:r>
              <a:rPr sz="1500" b="1" i="0">
                <a:solidFill>
                  <a:srgbClr val="F2C77D"/>
                </a:solidFill>
              </a:rPr>
              <a:t>REST / WebSocket konsolu</a:t>
            </a:r>
          </a:p>
        </p:txBody>
      </p:sp>
      <p:sp>
        <p:nvSpPr>
          <p:cNvPr id="23" name="">
            <a:extLst xmlns:a="http://schemas.openxmlformats.org/drawingml/2006/main">
              <a:ext uri="{FF2B5EF4-FFF2-40B4-BE49-F238E27FC236}">
                <a16:creationId xmlns:a16="http://schemas.microsoft.com/office/drawing/2014/main" id="{E2DDBA7D-837E-49E3-8A11-7B0A90A3362D}"/>
              </a:ext>
            </a:extLst>
          </p:cNvPr>
          <p:cNvSpPr>
            <a:spLocks xmlns:a="http://schemas.openxmlformats.org/drawingml/2006/main" noGrp="1"/>
          </p:cNvSpPr>
          <p:nvPr/>
        </p:nvSpPr>
        <p:spPr>
          <a:xfrm xmlns:a="http://schemas.openxmlformats.org/drawingml/2006/main">
            <a:off x="4095750" y="5372100"/>
            <a:ext cx="714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D5E2DE"/>
                </a:solidFill>
              </a:defRPr>
            </a:pPr>
            <a:r>
              <a:rPr sz="1275" b="0" i="0">
                <a:solidFill>
                  <a:srgbClr val="D5E2DE"/>
                </a:solidFill>
              </a:rPr>
              <a:t>Kanıtı, sohbeti ve insan kararını aynı operasyon ekranında tutar.</a:t>
            </a:r>
          </a:p>
        </p:txBody>
      </p:sp>
      <p:sp>
        <p:nvSpPr>
          <p:cNvPr id="24" name="">
            <a:extLst xmlns:a="http://schemas.openxmlformats.org/drawingml/2006/main">
              <a:ext uri="{FF2B5EF4-FFF2-40B4-BE49-F238E27FC236}">
                <a16:creationId xmlns:a16="http://schemas.microsoft.com/office/drawing/2014/main" id="{D247FA18-64ED-4DB2-BB1D-645769E7B29D}"/>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B8CEC7"/>
                </a:solidFill>
              </a:defRPr>
            </a:pPr>
            <a:r>
              <a:rPr sz="825" b="0" i="0">
                <a:solidFill>
                  <a:srgbClr val="B8CEC7"/>
                </a:solidFill>
              </a:rPr>
              <a:t>Apache-2.0/MIT lisans politikası bileşen seçiminde zorunlu kapıdır.</a:t>
            </a:r>
          </a:p>
        </p:txBody>
      </p:sp>
    </p:spTree>
    <p:extLst>
      <p:ext uri="{BB962C8B-B14F-4D97-AF65-F5344CB8AC3E}">
        <p14:creationId xmlns:p14="http://schemas.microsoft.com/office/powerpoint/2010/main" val="886359603"/>
      </p:ext>
    </p:extLst>
  </p:cSld>
</p:sld>
</file>

<file path=ppt/slides/slide7.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89AAABE-D0F4-42AB-86CD-13240576D039}"/>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2" name="">
            <a:extLst xmlns:a="http://schemas.openxmlformats.org/drawingml/2006/main">
              <a:ext uri="{FF2B5EF4-FFF2-40B4-BE49-F238E27FC236}">
                <a16:creationId xmlns:a16="http://schemas.microsoft.com/office/drawing/2014/main" id="{D654B833-4E58-4CE4-B38B-03D3A80C0523}"/>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3" name="">
            <a:extLst xmlns:a="http://schemas.openxmlformats.org/drawingml/2006/main">
              <a:ext uri="{FF2B5EF4-FFF2-40B4-BE49-F238E27FC236}">
                <a16:creationId xmlns:a16="http://schemas.microsoft.com/office/drawing/2014/main" id="{91807D76-9E7F-4587-8865-A3EE789D2B72}"/>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10251F"/>
                </a:solidFill>
              </a:defRPr>
            </a:pPr>
            <a:r>
              <a:rPr sz="1125" b="1" i="0">
                <a:solidFill>
                  <a:srgbClr val="10251F"/>
                </a:solidFill>
              </a:rPr>
              <a:t>DÖRTGÖZ</a:t>
            </a:r>
          </a:p>
        </p:txBody>
      </p:sp>
      <p:sp>
        <p:nvSpPr>
          <p:cNvPr id="4" name="">
            <a:extLst xmlns:a="http://schemas.openxmlformats.org/drawingml/2006/main">
              <a:ext uri="{FF2B5EF4-FFF2-40B4-BE49-F238E27FC236}">
                <a16:creationId xmlns:a16="http://schemas.microsoft.com/office/drawing/2014/main" id="{731C55DE-7F4B-4FF7-A97E-BFDD82CD4CCB}"/>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66736F"/>
                </a:solidFill>
              </a:defRPr>
            </a:pPr>
            <a:r>
              <a:rPr sz="900" b="0" i="0">
                <a:solidFill>
                  <a:srgbClr val="66736F"/>
                </a:solidFill>
              </a:rPr>
              <a:t>07</a:t>
            </a:r>
          </a:p>
        </p:txBody>
      </p:sp>
      <p:sp>
        <p:nvSpPr>
          <p:cNvPr id="5" name="">
            <a:extLst xmlns:a="http://schemas.openxmlformats.org/drawingml/2006/main">
              <a:ext uri="{FF2B5EF4-FFF2-40B4-BE49-F238E27FC236}">
                <a16:creationId xmlns:a16="http://schemas.microsoft.com/office/drawing/2014/main" id="{9776F6A3-D749-4ADA-8ECC-D4432C3825DB}"/>
              </a:ext>
            </a:extLst>
          </p:cNvPr>
          <p:cNvSpPr>
            <a:spLocks xmlns:a="http://schemas.openxmlformats.org/drawingml/2006/main" noGrp="1"/>
          </p:cNvSpPr>
          <p:nvPr/>
        </p:nvSpPr>
        <p:spPr>
          <a:xfrm xmlns:a="http://schemas.openxmlformats.org/drawingml/2006/main">
            <a:off x="609600" y="7810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10251F"/>
                </a:solidFill>
              </a:defRPr>
            </a:pPr>
            <a:r>
              <a:rPr sz="2850" b="1" i="0">
                <a:solidFill>
                  <a:srgbClr val="10251F"/>
                </a:solidFill>
              </a:rPr>
              <a:t>Gürültüyü azaltmak, insanı devreden çıkarmak değildir</a:t>
            </a:r>
          </a:p>
        </p:txBody>
      </p:sp>
      <p:sp>
        <p:nvSpPr>
          <p:cNvPr id="6" name="">
            <a:extLst xmlns:a="http://schemas.openxmlformats.org/drawingml/2006/main">
              <a:ext uri="{FF2B5EF4-FFF2-40B4-BE49-F238E27FC236}">
                <a16:creationId xmlns:a16="http://schemas.microsoft.com/office/drawing/2014/main" id="{4EC5EDB5-5CAB-4E32-9BF8-E7FD76A6AB2E}"/>
              </a:ext>
            </a:extLst>
          </p:cNvPr>
          <p:cNvSpPr>
            <a:spLocks xmlns:a="http://schemas.openxmlformats.org/drawingml/2006/main" noGrp="1"/>
          </p:cNvSpPr>
          <p:nvPr/>
        </p:nvSpPr>
        <p:spPr>
          <a:xfrm xmlns:a="http://schemas.openxmlformats.org/drawingml/2006/main">
            <a:off x="609600" y="1333500"/>
            <a:ext cx="1093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66736F"/>
                </a:solidFill>
              </a:defRPr>
            </a:pPr>
            <a:r>
              <a:rPr sz="1350" b="0" i="0">
                <a:solidFill>
                  <a:srgbClr val="66736F"/>
                </a:solidFill>
              </a:rPr>
              <a:t>Sistem boş anlarda maliyeti azaltır; şüpheli anlarda kanıtı ve belirsizliği insana taşır.</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bb16f125f9f4755"/>
          <a:stretch xmlns:a="http://schemas.openxmlformats.org/drawingml/2006/main"/>
        </p:blipFill>
        <p:spPr>
          <a:xfrm xmlns:a="http://schemas.openxmlformats.org/drawingml/2006/main">
            <a:off x="609600" y="2058591"/>
            <a:ext cx="6667500" cy="3750469"/>
          </a:xfrm>
          <a:prstGeom xmlns:a="http://schemas.openxmlformats.org/drawingml/2006/main" prst="roundRect">
            <a:avLst>
              <a:gd name="adj" fmla="val 3046"/>
            </a:avLst>
          </a:prstGeom>
        </p:spPr>
      </p:pic>
      <p:sp>
        <p:nvSpPr>
          <p:cNvPr id="8" name="">
            <a:extLst xmlns:a="http://schemas.openxmlformats.org/drawingml/2006/main">
              <a:ext uri="{FF2B5EF4-FFF2-40B4-BE49-F238E27FC236}">
                <a16:creationId xmlns:a16="http://schemas.microsoft.com/office/drawing/2014/main" id="{59B47827-E3C7-4562-8333-89DCCA9B3FF1}"/>
              </a:ext>
            </a:extLst>
          </p:cNvPr>
          <p:cNvSpPr>
            <a:spLocks xmlns:a="http://schemas.openxmlformats.org/drawingml/2006/main" noGrp="1"/>
          </p:cNvSpPr>
          <p:nvPr/>
        </p:nvSpPr>
        <p:spPr>
          <a:xfrm xmlns:a="http://schemas.openxmlformats.org/drawingml/2006/main">
            <a:off x="7848600" y="21717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i="0">
                <a:solidFill>
                  <a:srgbClr val="1E806F"/>
                </a:solidFill>
              </a:defRPr>
            </a:pPr>
            <a:r>
              <a:rPr sz="2325" b="1" i="0">
                <a:solidFill>
                  <a:srgbClr val="1E806F"/>
                </a:solidFill>
              </a:rPr>
              <a:t>11,29×</a:t>
            </a:r>
          </a:p>
        </p:txBody>
      </p:sp>
      <p:sp>
        <p:nvSpPr>
          <p:cNvPr id="9" name="">
            <a:extLst xmlns:a="http://schemas.openxmlformats.org/drawingml/2006/main">
              <a:ext uri="{FF2B5EF4-FFF2-40B4-BE49-F238E27FC236}">
                <a16:creationId xmlns:a16="http://schemas.microsoft.com/office/drawing/2014/main" id="{C19AF7C8-1DFA-4CA4-8AA2-3029D96C6971}"/>
              </a:ext>
            </a:extLst>
          </p:cNvPr>
          <p:cNvSpPr>
            <a:spLocks xmlns:a="http://schemas.openxmlformats.org/drawingml/2006/main" noGrp="1"/>
          </p:cNvSpPr>
          <p:nvPr/>
        </p:nvSpPr>
        <p:spPr>
          <a:xfrm xmlns:a="http://schemas.openxmlformats.org/drawingml/2006/main">
            <a:off x="9715500" y="2209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C95F3D"/>
                </a:solidFill>
              </a:defRPr>
            </a:pPr>
            <a:r>
              <a:rPr sz="975" b="1" i="0">
                <a:solidFill>
                  <a:srgbClr val="C95F3D"/>
                </a:solidFill>
              </a:rPr>
              <a:t>GERÇEK ZAMAN</a:t>
            </a:r>
          </a:p>
        </p:txBody>
      </p:sp>
      <p:sp>
        <p:nvSpPr>
          <p:cNvPr id="10" name="">
            <a:extLst xmlns:a="http://schemas.openxmlformats.org/drawingml/2006/main">
              <a:ext uri="{FF2B5EF4-FFF2-40B4-BE49-F238E27FC236}">
                <a16:creationId xmlns:a16="http://schemas.microsoft.com/office/drawing/2014/main" id="{2FEF2EFB-BE6C-4D1E-9038-97887D07CA0B}"/>
              </a:ext>
            </a:extLst>
          </p:cNvPr>
          <p:cNvSpPr>
            <a:spLocks xmlns:a="http://schemas.openxmlformats.org/drawingml/2006/main" noGrp="1"/>
          </p:cNvSpPr>
          <p:nvPr/>
        </p:nvSpPr>
        <p:spPr>
          <a:xfrm xmlns:a="http://schemas.openxmlformats.org/drawingml/2006/main">
            <a:off x="7848600" y="2686050"/>
            <a:ext cx="3486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66736F"/>
                </a:solidFill>
              </a:defRPr>
            </a:pPr>
            <a:r>
              <a:rPr sz="1200" b="0" i="0">
                <a:solidFill>
                  <a:srgbClr val="66736F"/>
                </a:solidFill>
              </a:rPr>
              <a:t>10,3 saat video / 54,8 dakika</a:t>
            </a:r>
          </a:p>
        </p:txBody>
      </p:sp>
      <p:sp>
        <p:nvSpPr>
          <p:cNvPr id="11" name="">
            <a:extLst xmlns:a="http://schemas.openxmlformats.org/drawingml/2006/main">
              <a:ext uri="{FF2B5EF4-FFF2-40B4-BE49-F238E27FC236}">
                <a16:creationId xmlns:a16="http://schemas.microsoft.com/office/drawing/2014/main" id="{FF469748-03F2-418A-B6C3-226082676AFE}"/>
              </a:ext>
            </a:extLst>
          </p:cNvPr>
          <p:cNvSpPr>
            <a:spLocks xmlns:a="http://schemas.openxmlformats.org/drawingml/2006/main" noGrp="1"/>
          </p:cNvSpPr>
          <p:nvPr/>
        </p:nvSpPr>
        <p:spPr>
          <a:xfrm xmlns:a="http://schemas.openxmlformats.org/drawingml/2006/main">
            <a:off x="7848600" y="3162300"/>
            <a:ext cx="3486150" cy="9525"/>
          </a:xfrm>
          <a:prstGeom xmlns:a="http://schemas.openxmlformats.org/drawingml/2006/main" prst="rect">
            <a:avLst/>
          </a:prstGeom>
          <a:solidFill xmlns:a="http://schemas.openxmlformats.org/drawingml/2006/main">
            <a:srgbClr val="D8D7D0"/>
          </a:solidFill>
          <a:ln xmlns:a="http://schemas.openxmlformats.org/drawingml/2006/main" w="0">
            <a:solidFill>
              <a:srgbClr val="D8D7D0"/>
            </a:solidFill>
            <a:prstDash val="solid"/>
          </a:ln>
        </p:spPr>
      </p:sp>
      <p:sp>
        <p:nvSpPr>
          <p:cNvPr id="12" name="">
            <a:extLst xmlns:a="http://schemas.openxmlformats.org/drawingml/2006/main">
              <a:ext uri="{FF2B5EF4-FFF2-40B4-BE49-F238E27FC236}">
                <a16:creationId xmlns:a16="http://schemas.microsoft.com/office/drawing/2014/main" id="{54616568-819F-45EF-8C8D-E00B4175E99D}"/>
              </a:ext>
            </a:extLst>
          </p:cNvPr>
          <p:cNvSpPr>
            <a:spLocks xmlns:a="http://schemas.openxmlformats.org/drawingml/2006/main" noGrp="1"/>
          </p:cNvSpPr>
          <p:nvPr/>
        </p:nvSpPr>
        <p:spPr>
          <a:xfrm xmlns:a="http://schemas.openxmlformats.org/drawingml/2006/main">
            <a:off x="7848600" y="33147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i="0">
                <a:solidFill>
                  <a:srgbClr val="1E806F"/>
                </a:solidFill>
              </a:defRPr>
            </a:pPr>
            <a:r>
              <a:rPr sz="2325" b="1" i="0">
                <a:solidFill>
                  <a:srgbClr val="1E806F"/>
                </a:solidFill>
              </a:rPr>
              <a:t>%2,5</a:t>
            </a:r>
          </a:p>
        </p:txBody>
      </p:sp>
      <p:sp>
        <p:nvSpPr>
          <p:cNvPr id="13" name="">
            <a:extLst xmlns:a="http://schemas.openxmlformats.org/drawingml/2006/main">
              <a:ext uri="{FF2B5EF4-FFF2-40B4-BE49-F238E27FC236}">
                <a16:creationId xmlns:a16="http://schemas.microsoft.com/office/drawing/2014/main" id="{A8EFD052-685E-410A-90D4-9F64AF3B1F62}"/>
              </a:ext>
            </a:extLst>
          </p:cNvPr>
          <p:cNvSpPr>
            <a:spLocks xmlns:a="http://schemas.openxmlformats.org/drawingml/2006/main" noGrp="1"/>
          </p:cNvSpPr>
          <p:nvPr/>
        </p:nvSpPr>
        <p:spPr>
          <a:xfrm xmlns:a="http://schemas.openxmlformats.org/drawingml/2006/main">
            <a:off x="9715500" y="3352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C95F3D"/>
                </a:solidFill>
              </a:defRPr>
            </a:pPr>
            <a:r>
              <a:rPr sz="975" b="1" i="0">
                <a:solidFill>
                  <a:srgbClr val="C95F3D"/>
                </a:solidFill>
              </a:rPr>
              <a:t>YEREL ALGI PAYI</a:t>
            </a:r>
          </a:p>
        </p:txBody>
      </p:sp>
      <p:sp>
        <p:nvSpPr>
          <p:cNvPr id="14" name="">
            <a:extLst xmlns:a="http://schemas.openxmlformats.org/drawingml/2006/main">
              <a:ext uri="{FF2B5EF4-FFF2-40B4-BE49-F238E27FC236}">
                <a16:creationId xmlns:a16="http://schemas.microsoft.com/office/drawing/2014/main" id="{FB67E459-BEA7-4485-9071-A14BB8710DFD}"/>
              </a:ext>
            </a:extLst>
          </p:cNvPr>
          <p:cNvSpPr>
            <a:spLocks xmlns:a="http://schemas.openxmlformats.org/drawingml/2006/main" noGrp="1"/>
          </p:cNvSpPr>
          <p:nvPr/>
        </p:nvSpPr>
        <p:spPr>
          <a:xfrm xmlns:a="http://schemas.openxmlformats.org/drawingml/2006/main">
            <a:off x="7848600" y="3829050"/>
            <a:ext cx="3486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66736F"/>
                </a:solidFill>
              </a:defRPr>
            </a:pPr>
            <a:r>
              <a:rPr sz="1200" b="0" i="0">
                <a:solidFill>
                  <a:srgbClr val="66736F"/>
                </a:solidFill>
              </a:rPr>
              <a:t>ölçülen toplam çalışma süresi</a:t>
            </a:r>
          </a:p>
        </p:txBody>
      </p:sp>
      <p:sp>
        <p:nvSpPr>
          <p:cNvPr id="15" name="">
            <a:extLst xmlns:a="http://schemas.openxmlformats.org/drawingml/2006/main">
              <a:ext uri="{FF2B5EF4-FFF2-40B4-BE49-F238E27FC236}">
                <a16:creationId xmlns:a16="http://schemas.microsoft.com/office/drawing/2014/main" id="{36CB2EC6-66B5-477B-93A7-C8AD8F206884}"/>
              </a:ext>
            </a:extLst>
          </p:cNvPr>
          <p:cNvSpPr>
            <a:spLocks xmlns:a="http://schemas.openxmlformats.org/drawingml/2006/main" noGrp="1"/>
          </p:cNvSpPr>
          <p:nvPr/>
        </p:nvSpPr>
        <p:spPr>
          <a:xfrm xmlns:a="http://schemas.openxmlformats.org/drawingml/2006/main">
            <a:off x="7848600" y="4305300"/>
            <a:ext cx="3486150" cy="9525"/>
          </a:xfrm>
          <a:prstGeom xmlns:a="http://schemas.openxmlformats.org/drawingml/2006/main" prst="rect">
            <a:avLst/>
          </a:prstGeom>
          <a:solidFill xmlns:a="http://schemas.openxmlformats.org/drawingml/2006/main">
            <a:srgbClr val="D8D7D0"/>
          </a:solidFill>
          <a:ln xmlns:a="http://schemas.openxmlformats.org/drawingml/2006/main" w="0">
            <a:solidFill>
              <a:srgbClr val="D8D7D0"/>
            </a:solidFill>
            <a:prstDash val="solid"/>
          </a:ln>
        </p:spPr>
      </p:sp>
      <p:sp>
        <p:nvSpPr>
          <p:cNvPr id="16" name="">
            <a:extLst xmlns:a="http://schemas.openxmlformats.org/drawingml/2006/main">
              <a:ext uri="{FF2B5EF4-FFF2-40B4-BE49-F238E27FC236}">
                <a16:creationId xmlns:a16="http://schemas.microsoft.com/office/drawing/2014/main" id="{5E787E54-DEA2-499B-9A4C-1BF104648EE0}"/>
              </a:ext>
            </a:extLst>
          </p:cNvPr>
          <p:cNvSpPr>
            <a:spLocks xmlns:a="http://schemas.openxmlformats.org/drawingml/2006/main" noGrp="1"/>
          </p:cNvSpPr>
          <p:nvPr/>
        </p:nvSpPr>
        <p:spPr>
          <a:xfrm xmlns:a="http://schemas.openxmlformats.org/drawingml/2006/main">
            <a:off x="7848600" y="44577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i="0">
                <a:solidFill>
                  <a:srgbClr val="1E806F"/>
                </a:solidFill>
              </a:defRPr>
            </a:pPr>
            <a:r>
              <a:rPr sz="2325" b="1" i="0">
                <a:solidFill>
                  <a:srgbClr val="1E806F"/>
                </a:solidFill>
              </a:rPr>
              <a:t>0 / 290</a:t>
            </a:r>
          </a:p>
        </p:txBody>
      </p:sp>
      <p:sp>
        <p:nvSpPr>
          <p:cNvPr id="17" name="">
            <a:extLst xmlns:a="http://schemas.openxmlformats.org/drawingml/2006/main">
              <a:ext uri="{FF2B5EF4-FFF2-40B4-BE49-F238E27FC236}">
                <a16:creationId xmlns:a16="http://schemas.microsoft.com/office/drawing/2014/main" id="{7DFE3903-C113-4E46-BE77-D2C57F32262E}"/>
              </a:ext>
            </a:extLst>
          </p:cNvPr>
          <p:cNvSpPr>
            <a:spLocks xmlns:a="http://schemas.openxmlformats.org/drawingml/2006/main" noGrp="1"/>
          </p:cNvSpPr>
          <p:nvPr/>
        </p:nvSpPr>
        <p:spPr>
          <a:xfrm xmlns:a="http://schemas.openxmlformats.org/drawingml/2006/main">
            <a:off x="9715500" y="4495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C95F3D"/>
                </a:solidFill>
              </a:defRPr>
            </a:pPr>
            <a:r>
              <a:rPr sz="975" b="1" i="0">
                <a:solidFill>
                  <a:srgbClr val="C95F3D"/>
                </a:solidFill>
              </a:rPr>
              <a:t>TERMINAL HATA</a:t>
            </a:r>
          </a:p>
        </p:txBody>
      </p:sp>
      <p:sp>
        <p:nvSpPr>
          <p:cNvPr id="18" name="">
            <a:extLst xmlns:a="http://schemas.openxmlformats.org/drawingml/2006/main">
              <a:ext uri="{FF2B5EF4-FFF2-40B4-BE49-F238E27FC236}">
                <a16:creationId xmlns:a16="http://schemas.microsoft.com/office/drawing/2014/main" id="{7EC94BBB-37D3-42A5-920A-A384212331E9}"/>
              </a:ext>
            </a:extLst>
          </p:cNvPr>
          <p:cNvSpPr>
            <a:spLocks xmlns:a="http://schemas.openxmlformats.org/drawingml/2006/main" noGrp="1"/>
          </p:cNvSpPr>
          <p:nvPr/>
        </p:nvSpPr>
        <p:spPr>
          <a:xfrm xmlns:a="http://schemas.openxmlformats.org/drawingml/2006/main">
            <a:off x="7848600" y="4972050"/>
            <a:ext cx="3486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66736F"/>
                </a:solidFill>
              </a:defRPr>
            </a:pPr>
            <a:r>
              <a:rPr sz="1200" b="0" i="0">
                <a:solidFill>
                  <a:srgbClr val="66736F"/>
                </a:solidFill>
              </a:rPr>
              <a:t>tam üretim test bölmesi</a:t>
            </a:r>
          </a:p>
        </p:txBody>
      </p:sp>
      <p:sp>
        <p:nvSpPr>
          <p:cNvPr id="19" name="">
            <a:extLst xmlns:a="http://schemas.openxmlformats.org/drawingml/2006/main">
              <a:ext uri="{FF2B5EF4-FFF2-40B4-BE49-F238E27FC236}">
                <a16:creationId xmlns:a16="http://schemas.microsoft.com/office/drawing/2014/main" id="{8D62467C-2C54-436E-A7BD-4AECC1A9CCEC}"/>
              </a:ext>
            </a:extLst>
          </p:cNvPr>
          <p:cNvSpPr>
            <a:spLocks xmlns:a="http://schemas.openxmlformats.org/drawingml/2006/main" noGrp="1"/>
          </p:cNvSpPr>
          <p:nvPr/>
        </p:nvSpPr>
        <p:spPr>
          <a:xfrm xmlns:a="http://schemas.openxmlformats.org/drawingml/2006/main">
            <a:off x="7848600" y="558165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10251F"/>
                </a:solidFill>
              </a:defRPr>
            </a:pPr>
            <a:r>
              <a:rPr sz="1275" b="1" i="0">
                <a:solidFill>
                  <a:srgbClr val="10251F"/>
                </a:solidFill>
              </a:rPr>
              <a:t>Hızın toplumsal anlamı: operatörün dikkat kuyruğunun geride kalmaması.</a:t>
            </a:r>
          </a:p>
        </p:txBody>
      </p:sp>
      <p:sp>
        <p:nvSpPr>
          <p:cNvPr id="20" name="">
            <a:extLst xmlns:a="http://schemas.openxmlformats.org/drawingml/2006/main">
              <a:ext uri="{FF2B5EF4-FFF2-40B4-BE49-F238E27FC236}">
                <a16:creationId xmlns:a16="http://schemas.microsoft.com/office/drawing/2014/main" id="{7555C669-C401-4698-9750-8457C10636F4}"/>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7A8581"/>
                </a:solidFill>
              </a:defRPr>
            </a:pPr>
            <a:r>
              <a:rPr sz="825" b="0" i="0">
                <a:solidFill>
                  <a:srgbClr val="7A8581"/>
                </a:solidFill>
              </a:rPr>
              <a:t>Tek bir iyi koşu değil, tekrar bandı ve tam bölüm ölçümü raporlanır.</a:t>
            </a:r>
          </a:p>
        </p:txBody>
      </p:sp>
    </p:spTree>
    <p:extLst>
      <p:ext uri="{BB962C8B-B14F-4D97-AF65-F5344CB8AC3E}">
        <p14:creationId xmlns:p14="http://schemas.microsoft.com/office/powerpoint/2010/main" val="1413233073"/>
      </p:ext>
    </p:extLst>
  </p:cSld>
</p:sld>
</file>

<file path=ppt/slides/slide8.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81F8692-E40D-41B5-AF0B-258ECE35CE28}"/>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2" name="">
            <a:extLst xmlns:a="http://schemas.openxmlformats.org/drawingml/2006/main">
              <a:ext uri="{FF2B5EF4-FFF2-40B4-BE49-F238E27FC236}">
                <a16:creationId xmlns:a16="http://schemas.microsoft.com/office/drawing/2014/main" id="{D3213F69-0980-4370-9D99-75AC7C36E78B}"/>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3" name="">
            <a:extLst xmlns:a="http://schemas.openxmlformats.org/drawingml/2006/main">
              <a:ext uri="{FF2B5EF4-FFF2-40B4-BE49-F238E27FC236}">
                <a16:creationId xmlns:a16="http://schemas.microsoft.com/office/drawing/2014/main" id="{BB44E27F-5E23-415F-9622-E6E63111239E}"/>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10251F"/>
                </a:solidFill>
              </a:defRPr>
            </a:pPr>
            <a:r>
              <a:rPr sz="1125" b="1" i="0">
                <a:solidFill>
                  <a:srgbClr val="10251F"/>
                </a:solidFill>
              </a:rPr>
              <a:t>DÖRTGÖZ</a:t>
            </a:r>
          </a:p>
        </p:txBody>
      </p:sp>
      <p:sp>
        <p:nvSpPr>
          <p:cNvPr id="4" name="">
            <a:extLst xmlns:a="http://schemas.openxmlformats.org/drawingml/2006/main">
              <a:ext uri="{FF2B5EF4-FFF2-40B4-BE49-F238E27FC236}">
                <a16:creationId xmlns:a16="http://schemas.microsoft.com/office/drawing/2014/main" id="{7F9453B1-396B-4D50-AB5C-48B796D32FC2}"/>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66736F"/>
                </a:solidFill>
              </a:defRPr>
            </a:pPr>
            <a:r>
              <a:rPr sz="900" b="0" i="0">
                <a:solidFill>
                  <a:srgbClr val="66736F"/>
                </a:solidFill>
              </a:rPr>
              <a:t>08</a:t>
            </a:r>
          </a:p>
        </p:txBody>
      </p:sp>
      <p:sp>
        <p:nvSpPr>
          <p:cNvPr id="5" name="">
            <a:extLst xmlns:a="http://schemas.openxmlformats.org/drawingml/2006/main">
              <a:ext uri="{FF2B5EF4-FFF2-40B4-BE49-F238E27FC236}">
                <a16:creationId xmlns:a16="http://schemas.microsoft.com/office/drawing/2014/main" id="{DD9D8C32-4FC4-4739-A721-3A40D4412728}"/>
              </a:ext>
            </a:extLst>
          </p:cNvPr>
          <p:cNvSpPr>
            <a:spLocks xmlns:a="http://schemas.openxmlformats.org/drawingml/2006/main" noGrp="1"/>
          </p:cNvSpPr>
          <p:nvPr/>
        </p:nvSpPr>
        <p:spPr>
          <a:xfrm xmlns:a="http://schemas.openxmlformats.org/drawingml/2006/main">
            <a:off x="609600" y="7810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10251F"/>
                </a:solidFill>
              </a:defRPr>
            </a:pPr>
            <a:r>
              <a:rPr sz="2850" b="1" i="0">
                <a:solidFill>
                  <a:srgbClr val="10251F"/>
                </a:solidFill>
              </a:rPr>
              <a:t>Olayı anlamak, yalnız bir sınıf etiketi koymak değildir</a:t>
            </a:r>
          </a:p>
        </p:txBody>
      </p:sp>
      <p:sp>
        <p:nvSpPr>
          <p:cNvPr id="6" name="">
            <a:extLst xmlns:a="http://schemas.openxmlformats.org/drawingml/2006/main">
              <a:ext uri="{FF2B5EF4-FFF2-40B4-BE49-F238E27FC236}">
                <a16:creationId xmlns:a16="http://schemas.microsoft.com/office/drawing/2014/main" id="{7ECE840A-6828-49B7-886F-7FF721710BC7}"/>
              </a:ext>
            </a:extLst>
          </p:cNvPr>
          <p:cNvSpPr>
            <a:spLocks xmlns:a="http://schemas.openxmlformats.org/drawingml/2006/main" noGrp="1"/>
          </p:cNvSpPr>
          <p:nvPr/>
        </p:nvSpPr>
        <p:spPr>
          <a:xfrm xmlns:a="http://schemas.openxmlformats.org/drawingml/2006/main">
            <a:off x="609600" y="1333500"/>
            <a:ext cx="1093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66736F"/>
                </a:solidFill>
              </a:defRPr>
            </a:pPr>
            <a:r>
              <a:rPr sz="1350" b="0" i="0">
                <a:solidFill>
                  <a:srgbClr val="66736F"/>
                </a:solidFill>
              </a:rPr>
              <a:t>Ajan üç genel ve iki kategori sorusuyla eksik kanıtı görünür kılar.</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49299691320477a"/>
          <a:stretch xmlns:a="http://schemas.openxmlformats.org/drawingml/2006/main"/>
        </p:blipFill>
        <p:spPr>
          <a:xfrm xmlns:a="http://schemas.openxmlformats.org/drawingml/2006/main">
            <a:off x="609600" y="2193727"/>
            <a:ext cx="6153150" cy="3461147"/>
          </a:xfrm>
          <a:prstGeom xmlns:a="http://schemas.openxmlformats.org/drawingml/2006/main" prst="roundRect">
            <a:avLst>
              <a:gd name="adj" fmla="val 3061"/>
            </a:avLst>
          </a:prstGeom>
        </p:spPr>
      </p:pic>
      <p:sp>
        <p:nvSpPr>
          <p:cNvPr id="8" name="">
            <a:extLst xmlns:a="http://schemas.openxmlformats.org/drawingml/2006/main">
              <a:ext uri="{FF2B5EF4-FFF2-40B4-BE49-F238E27FC236}">
                <a16:creationId xmlns:a16="http://schemas.microsoft.com/office/drawing/2014/main" id="{D632CD39-11DC-40F3-AFC1-F1F12473CFF1}"/>
              </a:ext>
            </a:extLst>
          </p:cNvPr>
          <p:cNvSpPr>
            <a:spLocks xmlns:a="http://schemas.openxmlformats.org/drawingml/2006/main" noGrp="1"/>
          </p:cNvSpPr>
          <p:nvPr/>
        </p:nvSpPr>
        <p:spPr>
          <a:xfrm xmlns:a="http://schemas.openxmlformats.org/drawingml/2006/main">
            <a:off x="7258050" y="21145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1E806F"/>
                </a:solidFill>
              </a:defRPr>
            </a:pPr>
            <a:r>
              <a:rPr sz="975" b="1" i="0">
                <a:solidFill>
                  <a:srgbClr val="1E806F"/>
                </a:solidFill>
              </a:rPr>
              <a:t>HER OLAYDA</a:t>
            </a:r>
          </a:p>
        </p:txBody>
      </p:sp>
      <p:sp>
        <p:nvSpPr>
          <p:cNvPr id="9" name="">
            <a:extLst xmlns:a="http://schemas.openxmlformats.org/drawingml/2006/main">
              <a:ext uri="{FF2B5EF4-FFF2-40B4-BE49-F238E27FC236}">
                <a16:creationId xmlns:a16="http://schemas.microsoft.com/office/drawing/2014/main" id="{18979E7F-02D7-4143-BE78-6A01E75F3B7F}"/>
              </a:ext>
            </a:extLst>
          </p:cNvPr>
          <p:cNvSpPr>
            <a:spLocks xmlns:a="http://schemas.openxmlformats.org/drawingml/2006/main" noGrp="1"/>
          </p:cNvSpPr>
          <p:nvPr/>
        </p:nvSpPr>
        <p:spPr>
          <a:xfrm xmlns:a="http://schemas.openxmlformats.org/drawingml/2006/main">
            <a:off x="7258050" y="24955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1E806F"/>
                </a:solidFill>
              </a:defRPr>
            </a:pPr>
            <a:r>
              <a:rPr sz="1050" b="1" i="0">
                <a:solidFill>
                  <a:srgbClr val="1E806F"/>
                </a:solidFill>
              </a:rPr>
              <a:t>01</a:t>
            </a:r>
          </a:p>
        </p:txBody>
      </p:sp>
      <p:sp>
        <p:nvSpPr>
          <p:cNvPr id="10" name="">
            <a:extLst xmlns:a="http://schemas.openxmlformats.org/drawingml/2006/main">
              <a:ext uri="{FF2B5EF4-FFF2-40B4-BE49-F238E27FC236}">
                <a16:creationId xmlns:a16="http://schemas.microsoft.com/office/drawing/2014/main" id="{48BF9C40-9248-44B6-889F-4985C05C3354}"/>
              </a:ext>
            </a:extLst>
          </p:cNvPr>
          <p:cNvSpPr>
            <a:spLocks xmlns:a="http://schemas.openxmlformats.org/drawingml/2006/main" noGrp="1"/>
          </p:cNvSpPr>
          <p:nvPr/>
        </p:nvSpPr>
        <p:spPr>
          <a:xfrm xmlns:a="http://schemas.openxmlformats.org/drawingml/2006/main">
            <a:off x="7772400" y="2457450"/>
            <a:ext cx="358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0251F"/>
                </a:solidFill>
              </a:defRPr>
            </a:pPr>
            <a:r>
              <a:rPr sz="1350" b="1" i="0">
                <a:solidFill>
                  <a:srgbClr val="10251F"/>
                </a:solidFill>
              </a:rPr>
              <a:t>Kim, kime / neye, ne yaptı?</a:t>
            </a:r>
          </a:p>
        </p:txBody>
      </p:sp>
      <p:sp>
        <p:nvSpPr>
          <p:cNvPr id="11" name="">
            <a:extLst xmlns:a="http://schemas.openxmlformats.org/drawingml/2006/main">
              <a:ext uri="{FF2B5EF4-FFF2-40B4-BE49-F238E27FC236}">
                <a16:creationId xmlns:a16="http://schemas.microsoft.com/office/drawing/2014/main" id="{4BFF45EF-415E-42B1-B24F-41A2C6989DDC}"/>
              </a:ext>
            </a:extLst>
          </p:cNvPr>
          <p:cNvSpPr>
            <a:spLocks xmlns:a="http://schemas.openxmlformats.org/drawingml/2006/main" noGrp="1"/>
          </p:cNvSpPr>
          <p:nvPr/>
        </p:nvSpPr>
        <p:spPr>
          <a:xfrm xmlns:a="http://schemas.openxmlformats.org/drawingml/2006/main">
            <a:off x="7258050" y="304800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1E806F"/>
                </a:solidFill>
              </a:defRPr>
            </a:pPr>
            <a:r>
              <a:rPr sz="1050" b="1" i="0">
                <a:solidFill>
                  <a:srgbClr val="1E806F"/>
                </a:solidFill>
              </a:rPr>
              <a:t>02</a:t>
            </a:r>
          </a:p>
        </p:txBody>
      </p:sp>
      <p:sp>
        <p:nvSpPr>
          <p:cNvPr id="12" name="">
            <a:extLst xmlns:a="http://schemas.openxmlformats.org/drawingml/2006/main">
              <a:ext uri="{FF2B5EF4-FFF2-40B4-BE49-F238E27FC236}">
                <a16:creationId xmlns:a16="http://schemas.microsoft.com/office/drawing/2014/main" id="{A83D9C69-AB64-4DB2-B0C8-43F5DD6BA9AA}"/>
              </a:ext>
            </a:extLst>
          </p:cNvPr>
          <p:cNvSpPr>
            <a:spLocks xmlns:a="http://schemas.openxmlformats.org/drawingml/2006/main" noGrp="1"/>
          </p:cNvSpPr>
          <p:nvPr/>
        </p:nvSpPr>
        <p:spPr>
          <a:xfrm xmlns:a="http://schemas.openxmlformats.org/drawingml/2006/main">
            <a:off x="7772400" y="3009900"/>
            <a:ext cx="358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0251F"/>
                </a:solidFill>
              </a:defRPr>
            </a:pPr>
            <a:r>
              <a:rPr sz="1350" b="1" i="0">
                <a:solidFill>
                  <a:srgbClr val="10251F"/>
                </a:solidFill>
              </a:rPr>
              <a:t>Olayın tam zinciri nedir?</a:t>
            </a:r>
          </a:p>
        </p:txBody>
      </p:sp>
      <p:sp>
        <p:nvSpPr>
          <p:cNvPr id="13" name="">
            <a:extLst xmlns:a="http://schemas.openxmlformats.org/drawingml/2006/main">
              <a:ext uri="{FF2B5EF4-FFF2-40B4-BE49-F238E27FC236}">
                <a16:creationId xmlns:a16="http://schemas.microsoft.com/office/drawing/2014/main" id="{4800DC92-B52A-474D-AA02-8755D5D1D882}"/>
              </a:ext>
            </a:extLst>
          </p:cNvPr>
          <p:cNvSpPr>
            <a:spLocks xmlns:a="http://schemas.openxmlformats.org/drawingml/2006/main" noGrp="1"/>
          </p:cNvSpPr>
          <p:nvPr/>
        </p:nvSpPr>
        <p:spPr>
          <a:xfrm xmlns:a="http://schemas.openxmlformats.org/drawingml/2006/main">
            <a:off x="7258050" y="36004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1E806F"/>
                </a:solidFill>
              </a:defRPr>
            </a:pPr>
            <a:r>
              <a:rPr sz="1050" b="1" i="0">
                <a:solidFill>
                  <a:srgbClr val="1E806F"/>
                </a:solidFill>
              </a:rPr>
              <a:t>03</a:t>
            </a:r>
          </a:p>
        </p:txBody>
      </p:sp>
      <p:sp>
        <p:nvSpPr>
          <p:cNvPr id="14" name="">
            <a:extLst xmlns:a="http://schemas.openxmlformats.org/drawingml/2006/main">
              <a:ext uri="{FF2B5EF4-FFF2-40B4-BE49-F238E27FC236}">
                <a16:creationId xmlns:a16="http://schemas.microsoft.com/office/drawing/2014/main" id="{B0715A6E-BA30-4800-A81F-81900169C3AF}"/>
              </a:ext>
            </a:extLst>
          </p:cNvPr>
          <p:cNvSpPr>
            <a:spLocks xmlns:a="http://schemas.openxmlformats.org/drawingml/2006/main" noGrp="1"/>
          </p:cNvSpPr>
          <p:nvPr/>
        </p:nvSpPr>
        <p:spPr>
          <a:xfrm xmlns:a="http://schemas.openxmlformats.org/drawingml/2006/main">
            <a:off x="7772400" y="3562350"/>
            <a:ext cx="358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0251F"/>
                </a:solidFill>
              </a:defRPr>
            </a:pPr>
            <a:r>
              <a:rPr sz="1350" b="1" i="0">
                <a:solidFill>
                  <a:srgbClr val="10251F"/>
                </a:solidFill>
              </a:rPr>
              <a:t>Görüntü neyi kanıtlıyor?</a:t>
            </a:r>
          </a:p>
        </p:txBody>
      </p:sp>
      <p:sp>
        <p:nvSpPr>
          <p:cNvPr id="15" name="">
            <a:extLst xmlns:a="http://schemas.openxmlformats.org/drawingml/2006/main">
              <a:ext uri="{FF2B5EF4-FFF2-40B4-BE49-F238E27FC236}">
                <a16:creationId xmlns:a16="http://schemas.microsoft.com/office/drawing/2014/main" id="{06DC550D-FF1F-43D4-80D8-3663FC0A1D33}"/>
              </a:ext>
            </a:extLst>
          </p:cNvPr>
          <p:cNvSpPr>
            <a:spLocks xmlns:a="http://schemas.openxmlformats.org/drawingml/2006/main" noGrp="1"/>
          </p:cNvSpPr>
          <p:nvPr/>
        </p:nvSpPr>
        <p:spPr>
          <a:xfrm xmlns:a="http://schemas.openxmlformats.org/drawingml/2006/main">
            <a:off x="7258050" y="4152900"/>
            <a:ext cx="4095750" cy="19050"/>
          </a:xfrm>
          <a:prstGeom xmlns:a="http://schemas.openxmlformats.org/drawingml/2006/main" prst="rect">
            <a:avLst/>
          </a:prstGeom>
          <a:solidFill xmlns:a="http://schemas.openxmlformats.org/drawingml/2006/main">
            <a:srgbClr val="E8DDCC"/>
          </a:solidFill>
          <a:ln xmlns:a="http://schemas.openxmlformats.org/drawingml/2006/main" w="0">
            <a:solidFill>
              <a:srgbClr val="E8DDCC"/>
            </a:solidFill>
            <a:prstDash val="solid"/>
          </a:ln>
        </p:spPr>
      </p:sp>
      <p:sp>
        <p:nvSpPr>
          <p:cNvPr id="16" name="">
            <a:extLst xmlns:a="http://schemas.openxmlformats.org/drawingml/2006/main">
              <a:ext uri="{FF2B5EF4-FFF2-40B4-BE49-F238E27FC236}">
                <a16:creationId xmlns:a16="http://schemas.microsoft.com/office/drawing/2014/main" id="{4B88AD85-F3E1-413F-A421-C6A9B6716EED}"/>
              </a:ext>
            </a:extLst>
          </p:cNvPr>
          <p:cNvSpPr>
            <a:spLocks xmlns:a="http://schemas.openxmlformats.org/drawingml/2006/main" noGrp="1"/>
          </p:cNvSpPr>
          <p:nvPr/>
        </p:nvSpPr>
        <p:spPr>
          <a:xfrm xmlns:a="http://schemas.openxmlformats.org/drawingml/2006/main">
            <a:off x="7258050" y="43624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C95F3D"/>
                </a:solidFill>
              </a:defRPr>
            </a:pPr>
            <a:r>
              <a:rPr sz="975" b="1" i="0">
                <a:solidFill>
                  <a:srgbClr val="C95F3D"/>
                </a:solidFill>
              </a:rPr>
              <a:t>KAVGA ODAĞINDA</a:t>
            </a:r>
          </a:p>
        </p:txBody>
      </p:sp>
      <p:sp>
        <p:nvSpPr>
          <p:cNvPr id="17" name="">
            <a:extLst xmlns:a="http://schemas.openxmlformats.org/drawingml/2006/main">
              <a:ext uri="{FF2B5EF4-FFF2-40B4-BE49-F238E27FC236}">
                <a16:creationId xmlns:a16="http://schemas.microsoft.com/office/drawing/2014/main" id="{59EB13F4-D1D4-429D-BAA4-863836B7C200}"/>
              </a:ext>
            </a:extLst>
          </p:cNvPr>
          <p:cNvSpPr>
            <a:spLocks xmlns:a="http://schemas.openxmlformats.org/drawingml/2006/main" noGrp="1"/>
          </p:cNvSpPr>
          <p:nvPr/>
        </p:nvSpPr>
        <p:spPr>
          <a:xfrm xmlns:a="http://schemas.openxmlformats.org/drawingml/2006/main">
            <a:off x="7258050" y="47053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0251F"/>
                </a:solidFill>
              </a:defRPr>
            </a:pPr>
            <a:r>
              <a:rPr sz="1350" b="1" i="0">
                <a:solidFill>
                  <a:srgbClr val="10251F"/>
                </a:solidFill>
              </a:rPr>
              <a:t>Karşılıklı mı, tek taraflı mı?</a:t>
            </a:r>
          </a:p>
        </p:txBody>
      </p:sp>
      <p:sp>
        <p:nvSpPr>
          <p:cNvPr id="18" name="">
            <a:extLst xmlns:a="http://schemas.openxmlformats.org/drawingml/2006/main">
              <a:ext uri="{FF2B5EF4-FFF2-40B4-BE49-F238E27FC236}">
                <a16:creationId xmlns:a16="http://schemas.microsoft.com/office/drawing/2014/main" id="{D67E6377-E4FE-487D-93BD-0E01DA0C2992}"/>
              </a:ext>
            </a:extLst>
          </p:cNvPr>
          <p:cNvSpPr>
            <a:spLocks xmlns:a="http://schemas.openxmlformats.org/drawingml/2006/main" noGrp="1"/>
          </p:cNvSpPr>
          <p:nvPr/>
        </p:nvSpPr>
        <p:spPr>
          <a:xfrm xmlns:a="http://schemas.openxmlformats.org/drawingml/2006/main">
            <a:off x="7258050" y="5143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0251F"/>
                </a:solidFill>
              </a:defRPr>
            </a:pPr>
            <a:r>
              <a:rPr sz="1350" b="1" i="0">
                <a:solidFill>
                  <a:srgbClr val="10251F"/>
                </a:solidFill>
              </a:rPr>
              <a:t>Kim katıldı, kim müdahale etti?</a:t>
            </a:r>
          </a:p>
        </p:txBody>
      </p:sp>
      <p:sp>
        <p:nvSpPr>
          <p:cNvPr id="19" name="">
            <a:extLst xmlns:a="http://schemas.openxmlformats.org/drawingml/2006/main">
              <a:ext uri="{FF2B5EF4-FFF2-40B4-BE49-F238E27FC236}">
                <a16:creationId xmlns:a16="http://schemas.microsoft.com/office/drawing/2014/main" id="{D5CF295C-1A5F-434E-A65B-6F66A29A6B98}"/>
              </a:ext>
            </a:extLst>
          </p:cNvPr>
          <p:cNvSpPr>
            <a:spLocks xmlns:a="http://schemas.openxmlformats.org/drawingml/2006/main" noGrp="1"/>
          </p:cNvSpPr>
          <p:nvPr/>
        </p:nvSpPr>
        <p:spPr>
          <a:xfrm xmlns:a="http://schemas.openxmlformats.org/drawingml/2006/main">
            <a:off x="7258050" y="56388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66736F"/>
                </a:solidFill>
              </a:defRPr>
            </a:pPr>
            <a:r>
              <a:rPr sz="1125" b="0" i="0">
                <a:solidFill>
                  <a:srgbClr val="66736F"/>
                </a:solidFill>
              </a:rPr>
              <a:t>Kimlik ve suçluluk çıkarımı yok.</a:t>
            </a:r>
          </a:p>
        </p:txBody>
      </p:sp>
      <p:sp>
        <p:nvSpPr>
          <p:cNvPr id="20" name="">
            <a:extLst xmlns:a="http://schemas.openxmlformats.org/drawingml/2006/main">
              <a:ext uri="{FF2B5EF4-FFF2-40B4-BE49-F238E27FC236}">
                <a16:creationId xmlns:a16="http://schemas.microsoft.com/office/drawing/2014/main" id="{24A421AA-118F-4BC4-BDEA-61CC8DB510CC}"/>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7A8581"/>
                </a:solidFill>
              </a:defRPr>
            </a:pPr>
            <a:r>
              <a:rPr sz="825" b="0" i="0">
                <a:solidFill>
                  <a:srgbClr val="7A8581"/>
                </a:solidFill>
              </a:rPr>
              <a:t>13 UCF-Crime odağı ve güvenli üretim geri dönüşleri desteklenir.</a:t>
            </a:r>
          </a:p>
        </p:txBody>
      </p:sp>
    </p:spTree>
    <p:extLst>
      <p:ext uri="{BB962C8B-B14F-4D97-AF65-F5344CB8AC3E}">
        <p14:creationId xmlns:p14="http://schemas.microsoft.com/office/powerpoint/2010/main" val="281692640"/>
      </p:ext>
    </p:extLst>
  </p:cSld>
</p:sld>
</file>

<file path=ppt/slides/slide9.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AEB687-9209-4E19-84B0-2896A76D6078}"/>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2" name="">
            <a:extLst xmlns:a="http://schemas.openxmlformats.org/drawingml/2006/main">
              <a:ext uri="{FF2B5EF4-FFF2-40B4-BE49-F238E27FC236}">
                <a16:creationId xmlns:a16="http://schemas.microsoft.com/office/drawing/2014/main" id="{533809F3-EE86-482F-8D95-53F9B8E9EC01}"/>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3" name="">
            <a:extLst xmlns:a="http://schemas.openxmlformats.org/drawingml/2006/main">
              <a:ext uri="{FF2B5EF4-FFF2-40B4-BE49-F238E27FC236}">
                <a16:creationId xmlns:a16="http://schemas.microsoft.com/office/drawing/2014/main" id="{64208A8C-8326-4AFF-B3C1-6EADA717B7AF}"/>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10251F"/>
                </a:solidFill>
              </a:defRPr>
            </a:pPr>
            <a:r>
              <a:rPr sz="1125" b="1" i="0">
                <a:solidFill>
                  <a:srgbClr val="10251F"/>
                </a:solidFill>
              </a:rPr>
              <a:t>DÖRTGÖZ</a:t>
            </a:r>
          </a:p>
        </p:txBody>
      </p:sp>
      <p:sp>
        <p:nvSpPr>
          <p:cNvPr id="4" name="">
            <a:extLst xmlns:a="http://schemas.openxmlformats.org/drawingml/2006/main">
              <a:ext uri="{FF2B5EF4-FFF2-40B4-BE49-F238E27FC236}">
                <a16:creationId xmlns:a16="http://schemas.microsoft.com/office/drawing/2014/main" id="{E0563BAA-4173-46AB-8EC1-1A6A6ACA73FC}"/>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66736F"/>
                </a:solidFill>
              </a:defRPr>
            </a:pPr>
            <a:r>
              <a:rPr sz="900" b="0" i="0">
                <a:solidFill>
                  <a:srgbClr val="66736F"/>
                </a:solidFill>
              </a:rPr>
              <a:t>09</a:t>
            </a:r>
          </a:p>
        </p:txBody>
      </p:sp>
      <p:sp>
        <p:nvSpPr>
          <p:cNvPr id="5" name="">
            <a:extLst xmlns:a="http://schemas.openxmlformats.org/drawingml/2006/main">
              <a:ext uri="{FF2B5EF4-FFF2-40B4-BE49-F238E27FC236}">
                <a16:creationId xmlns:a16="http://schemas.microsoft.com/office/drawing/2014/main" id="{514C9073-A223-49B0-9779-C71278FABC33}"/>
              </a:ext>
            </a:extLst>
          </p:cNvPr>
          <p:cNvSpPr>
            <a:spLocks xmlns:a="http://schemas.openxmlformats.org/drawingml/2006/main" noGrp="1"/>
          </p:cNvSpPr>
          <p:nvPr/>
        </p:nvSpPr>
        <p:spPr>
          <a:xfrm xmlns:a="http://schemas.openxmlformats.org/drawingml/2006/main">
            <a:off x="609600" y="7810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10251F"/>
                </a:solidFill>
              </a:defRPr>
            </a:pPr>
            <a:r>
              <a:rPr sz="2850" b="1" i="0">
                <a:solidFill>
                  <a:srgbClr val="10251F"/>
                </a:solidFill>
              </a:rPr>
              <a:t>Hesap verilebilirlik üç soruya cevap verir</a:t>
            </a:r>
          </a:p>
        </p:txBody>
      </p:sp>
      <p:sp>
        <p:nvSpPr>
          <p:cNvPr id="6" name="">
            <a:extLst xmlns:a="http://schemas.openxmlformats.org/drawingml/2006/main">
              <a:ext uri="{FF2B5EF4-FFF2-40B4-BE49-F238E27FC236}">
                <a16:creationId xmlns:a16="http://schemas.microsoft.com/office/drawing/2014/main" id="{3F42EBD0-50DB-4252-AD09-E37EAC2E48C2}"/>
              </a:ext>
            </a:extLst>
          </p:cNvPr>
          <p:cNvSpPr>
            <a:spLocks xmlns:a="http://schemas.openxmlformats.org/drawingml/2006/main" noGrp="1"/>
          </p:cNvSpPr>
          <p:nvPr/>
        </p:nvSpPr>
        <p:spPr>
          <a:xfrm xmlns:a="http://schemas.openxmlformats.org/drawingml/2006/main">
            <a:off x="609600" y="1333500"/>
            <a:ext cx="1093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66736F"/>
                </a:solidFill>
              </a:defRPr>
            </a:pPr>
            <a:r>
              <a:rPr sz="1350" b="0" i="0">
                <a:solidFill>
                  <a:srgbClr val="66736F"/>
                </a:solidFill>
              </a:rPr>
              <a:t>Ne oldu? Neye dayanıyor? Son kararı kim verdi?</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a0769f0080f4b4b"/>
          <a:stretch xmlns:a="http://schemas.openxmlformats.org/drawingml/2006/main"/>
        </p:blipFill>
        <p:spPr>
          <a:xfrm xmlns:a="http://schemas.openxmlformats.org/drawingml/2006/main">
            <a:off x="609600" y="2128838"/>
            <a:ext cx="5334000" cy="3000375"/>
          </a:xfrm>
          <a:prstGeom xmlns:a="http://schemas.openxmlformats.org/drawingml/2006/main" prst="roundRect">
            <a:avLst>
              <a:gd name="adj" fmla="val 3636"/>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9a963e8fdc04fbc"/>
          <a:stretch xmlns:a="http://schemas.openxmlformats.org/drawingml/2006/main"/>
        </p:blipFill>
        <p:spPr>
          <a:xfrm xmlns:a="http://schemas.openxmlformats.org/drawingml/2006/main">
            <a:off x="6248400" y="2128838"/>
            <a:ext cx="5334000" cy="3000375"/>
          </a:xfrm>
          <a:prstGeom xmlns:a="http://schemas.openxmlformats.org/drawingml/2006/main" prst="roundRect">
            <a:avLst>
              <a:gd name="adj" fmla="val 3636"/>
            </a:avLst>
          </a:prstGeom>
        </p:spPr>
      </p:pic>
      <p:sp>
        <p:nvSpPr>
          <p:cNvPr id="9" name="">
            <a:extLst xmlns:a="http://schemas.openxmlformats.org/drawingml/2006/main">
              <a:ext uri="{FF2B5EF4-FFF2-40B4-BE49-F238E27FC236}">
                <a16:creationId xmlns:a16="http://schemas.microsoft.com/office/drawing/2014/main" id="{A042F929-91CD-4AB7-8546-4D10AAC62960}"/>
              </a:ext>
            </a:extLst>
          </p:cNvPr>
          <p:cNvSpPr>
            <a:spLocks xmlns:a="http://schemas.openxmlformats.org/drawingml/2006/main" noGrp="1"/>
          </p:cNvSpPr>
          <p:nvPr/>
        </p:nvSpPr>
        <p:spPr>
          <a:xfrm xmlns:a="http://schemas.openxmlformats.org/drawingml/2006/main">
            <a:off x="762000" y="5505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1E806F"/>
                </a:solidFill>
              </a:defRPr>
            </a:pPr>
            <a:r>
              <a:rPr sz="1050" b="1" i="0">
                <a:solidFill>
                  <a:srgbClr val="1E806F"/>
                </a:solidFill>
              </a:rPr>
              <a:t>MODEL</a:t>
            </a:r>
          </a:p>
        </p:txBody>
      </p:sp>
      <p:sp>
        <p:nvSpPr>
          <p:cNvPr id="10" name="">
            <a:extLst xmlns:a="http://schemas.openxmlformats.org/drawingml/2006/main">
              <a:ext uri="{FF2B5EF4-FFF2-40B4-BE49-F238E27FC236}">
                <a16:creationId xmlns:a16="http://schemas.microsoft.com/office/drawing/2014/main" id="{DDAF20F5-DCD0-4A30-9D36-C85C9CF73E00}"/>
              </a:ext>
            </a:extLst>
          </p:cNvPr>
          <p:cNvSpPr>
            <a:spLocks xmlns:a="http://schemas.openxmlformats.org/drawingml/2006/main" noGrp="1"/>
          </p:cNvSpPr>
          <p:nvPr/>
        </p:nvSpPr>
        <p:spPr>
          <a:xfrm xmlns:a="http://schemas.openxmlformats.org/drawingml/2006/main">
            <a:off x="1714500" y="54673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10251F"/>
                </a:solidFill>
              </a:defRPr>
            </a:pPr>
            <a:r>
              <a:rPr sz="1200" b="0" i="0">
                <a:solidFill>
                  <a:srgbClr val="10251F"/>
                </a:solidFill>
              </a:rPr>
              <a:t>Zaman damgalı olay ve belirsizlik</a:t>
            </a:r>
          </a:p>
        </p:txBody>
      </p:sp>
      <p:sp>
        <p:nvSpPr>
          <p:cNvPr id="11" name="">
            <a:extLst xmlns:a="http://schemas.openxmlformats.org/drawingml/2006/main">
              <a:ext uri="{FF2B5EF4-FFF2-40B4-BE49-F238E27FC236}">
                <a16:creationId xmlns:a16="http://schemas.microsoft.com/office/drawing/2014/main" id="{1175D176-41F2-4BF1-B820-0E1BFCD76B5F}"/>
              </a:ext>
            </a:extLst>
          </p:cNvPr>
          <p:cNvSpPr>
            <a:spLocks xmlns:a="http://schemas.openxmlformats.org/drawingml/2006/main" noGrp="1"/>
          </p:cNvSpPr>
          <p:nvPr/>
        </p:nvSpPr>
        <p:spPr>
          <a:xfrm xmlns:a="http://schemas.openxmlformats.org/drawingml/2006/main">
            <a:off x="4552950" y="5505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1E806F"/>
                </a:solidFill>
              </a:defRPr>
            </a:pPr>
            <a:r>
              <a:rPr sz="1050" b="1" i="0">
                <a:solidFill>
                  <a:srgbClr val="1E806F"/>
                </a:solidFill>
              </a:rPr>
              <a:t>KANIT</a:t>
            </a:r>
          </a:p>
        </p:txBody>
      </p:sp>
      <p:sp>
        <p:nvSpPr>
          <p:cNvPr id="12" name="">
            <a:extLst xmlns:a="http://schemas.openxmlformats.org/drawingml/2006/main">
              <a:ext uri="{FF2B5EF4-FFF2-40B4-BE49-F238E27FC236}">
                <a16:creationId xmlns:a16="http://schemas.microsoft.com/office/drawing/2014/main" id="{A4AEA13D-396D-44F6-8DB6-6AD344FCEB81}"/>
              </a:ext>
            </a:extLst>
          </p:cNvPr>
          <p:cNvSpPr>
            <a:spLocks xmlns:a="http://schemas.openxmlformats.org/drawingml/2006/main" noGrp="1"/>
          </p:cNvSpPr>
          <p:nvPr/>
        </p:nvSpPr>
        <p:spPr>
          <a:xfrm xmlns:a="http://schemas.openxmlformats.org/drawingml/2006/main">
            <a:off x="5505450" y="54673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10251F"/>
                </a:solidFill>
              </a:defRPr>
            </a:pPr>
            <a:r>
              <a:rPr sz="1200" b="0" i="0">
                <a:solidFill>
                  <a:srgbClr val="10251F"/>
                </a:solidFill>
              </a:rPr>
              <a:t>Doğrulanmış kare ve iddia bağı</a:t>
            </a:r>
          </a:p>
        </p:txBody>
      </p:sp>
      <p:sp>
        <p:nvSpPr>
          <p:cNvPr id="13" name="">
            <a:extLst xmlns:a="http://schemas.openxmlformats.org/drawingml/2006/main">
              <a:ext uri="{FF2B5EF4-FFF2-40B4-BE49-F238E27FC236}">
                <a16:creationId xmlns:a16="http://schemas.microsoft.com/office/drawing/2014/main" id="{C5089F15-00CE-4C34-898D-1D9462176A76}"/>
              </a:ext>
            </a:extLst>
          </p:cNvPr>
          <p:cNvSpPr>
            <a:spLocks xmlns:a="http://schemas.openxmlformats.org/drawingml/2006/main" noGrp="1"/>
          </p:cNvSpPr>
          <p:nvPr/>
        </p:nvSpPr>
        <p:spPr>
          <a:xfrm xmlns:a="http://schemas.openxmlformats.org/drawingml/2006/main">
            <a:off x="8343900" y="5505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C95F3D"/>
                </a:solidFill>
              </a:defRPr>
            </a:pPr>
            <a:r>
              <a:rPr sz="1050" b="1" i="0">
                <a:solidFill>
                  <a:srgbClr val="C95F3D"/>
                </a:solidFill>
              </a:rPr>
              <a:t>İNSAN</a:t>
            </a:r>
          </a:p>
        </p:txBody>
      </p:sp>
      <p:sp>
        <p:nvSpPr>
          <p:cNvPr id="14" name="">
            <a:extLst xmlns:a="http://schemas.openxmlformats.org/drawingml/2006/main">
              <a:ext uri="{FF2B5EF4-FFF2-40B4-BE49-F238E27FC236}">
                <a16:creationId xmlns:a16="http://schemas.microsoft.com/office/drawing/2014/main" id="{43FCA5EA-ACF0-48FA-B31A-A734AA2EAD9D}"/>
              </a:ext>
            </a:extLst>
          </p:cNvPr>
          <p:cNvSpPr>
            <a:spLocks xmlns:a="http://schemas.openxmlformats.org/drawingml/2006/main" noGrp="1"/>
          </p:cNvSpPr>
          <p:nvPr/>
        </p:nvSpPr>
        <p:spPr>
          <a:xfrm xmlns:a="http://schemas.openxmlformats.org/drawingml/2006/main">
            <a:off x="9296400" y="54673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10251F"/>
                </a:solidFill>
              </a:defRPr>
            </a:pPr>
            <a:r>
              <a:rPr sz="1200" b="0" i="0">
                <a:solidFill>
                  <a:srgbClr val="10251F"/>
                </a:solidFill>
              </a:rPr>
              <a:t>Düzeltme, not ve kalıcı karar</a:t>
            </a:r>
          </a:p>
        </p:txBody>
      </p:sp>
      <p:sp>
        <p:nvSpPr>
          <p:cNvPr id="15" name="">
            <a:extLst xmlns:a="http://schemas.openxmlformats.org/drawingml/2006/main">
              <a:ext uri="{FF2B5EF4-FFF2-40B4-BE49-F238E27FC236}">
                <a16:creationId xmlns:a16="http://schemas.microsoft.com/office/drawing/2014/main" id="{7770557F-2B03-4C8B-A587-DB5A809BC650}"/>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7A8581"/>
                </a:solidFill>
              </a:defRPr>
            </a:pPr>
            <a:r>
              <a:rPr sz="825" b="0" i="0">
                <a:solidFill>
                  <a:srgbClr val="7A8581"/>
                </a:solidFill>
              </a:rPr>
              <a:t>İnsan düzeltmesi otomatik eğitim değildir; her öğrenme adımı ayrıca onaylanır.</a:t>
            </a:r>
          </a:p>
        </p:txBody>
      </p:sp>
    </p:spTree>
    <p:extLst>
      <p:ext uri="{BB962C8B-B14F-4D97-AF65-F5344CB8AC3E}">
        <p14:creationId xmlns:p14="http://schemas.microsoft.com/office/powerpoint/2010/main" val="159816858"/>
      </p:ext>
    </p:extLst>
  </p:cSld>
</p:sld>
</file>

<file path=ppt/slides/slide10.xml><?xml version="1.0" encoding="utf-8"?>
<p:sld xmlns:p="http://schemas.openxmlformats.org/presentationml/2006/main">
  <p:cSld>
    <p:bg>
      <p:bgPr>
        <a:solidFill xmlns:a="http://schemas.openxmlformats.org/drawingml/2006/main">
          <a:srgbClr val="123C3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1FA5857-4657-49DE-96AC-AA3919499BB1}"/>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2" name="">
            <a:extLst xmlns:a="http://schemas.openxmlformats.org/drawingml/2006/main">
              <a:ext uri="{FF2B5EF4-FFF2-40B4-BE49-F238E27FC236}">
                <a16:creationId xmlns:a16="http://schemas.microsoft.com/office/drawing/2014/main" id="{8B1B5378-1A05-41FA-8A42-9C7E8F1EEE63}"/>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3" name="">
            <a:extLst xmlns:a="http://schemas.openxmlformats.org/drawingml/2006/main">
              <a:ext uri="{FF2B5EF4-FFF2-40B4-BE49-F238E27FC236}">
                <a16:creationId xmlns:a16="http://schemas.microsoft.com/office/drawing/2014/main" id="{D4A5EE01-AB32-4979-8627-293E52AD49C2}"/>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FFFFFF"/>
                </a:solidFill>
              </a:defRPr>
            </a:pPr>
            <a:r>
              <a:rPr sz="1125" b="1" i="0">
                <a:solidFill>
                  <a:srgbClr val="FFFFFF"/>
                </a:solidFill>
              </a:rPr>
              <a:t>DÖRTGÖZ</a:t>
            </a:r>
          </a:p>
        </p:txBody>
      </p:sp>
      <p:sp>
        <p:nvSpPr>
          <p:cNvPr id="4" name="">
            <a:extLst xmlns:a="http://schemas.openxmlformats.org/drawingml/2006/main">
              <a:ext uri="{FF2B5EF4-FFF2-40B4-BE49-F238E27FC236}">
                <a16:creationId xmlns:a16="http://schemas.microsoft.com/office/drawing/2014/main" id="{D76E98FA-71A4-4BE4-AB7F-838C3FFC6A1B}"/>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C2D7D0"/>
                </a:solidFill>
              </a:defRPr>
            </a:pPr>
            <a:r>
              <a:rPr sz="900" b="0" i="0">
                <a:solidFill>
                  <a:srgbClr val="C2D7D0"/>
                </a:solidFill>
              </a:rPr>
              <a:t>10</a:t>
            </a:r>
          </a:p>
        </p:txBody>
      </p:sp>
      <p:sp>
        <p:nvSpPr>
          <p:cNvPr id="5" name="">
            <a:extLst xmlns:a="http://schemas.openxmlformats.org/drawingml/2006/main">
              <a:ext uri="{FF2B5EF4-FFF2-40B4-BE49-F238E27FC236}">
                <a16:creationId xmlns:a16="http://schemas.microsoft.com/office/drawing/2014/main" id="{792AD376-337F-47DD-87F8-626A7B7B08C4}"/>
              </a:ext>
            </a:extLst>
          </p:cNvPr>
          <p:cNvSpPr>
            <a:spLocks xmlns:a="http://schemas.openxmlformats.org/drawingml/2006/main" noGrp="1"/>
          </p:cNvSpPr>
          <p:nvPr/>
        </p:nvSpPr>
        <p:spPr>
          <a:xfrm xmlns:a="http://schemas.openxmlformats.org/drawingml/2006/main">
            <a:off x="609600" y="7810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FFFFFF"/>
                </a:solidFill>
              </a:defRPr>
            </a:pPr>
            <a:r>
              <a:rPr sz="2850" b="1" i="0">
                <a:solidFill>
                  <a:srgbClr val="FFFFFF"/>
                </a:solidFill>
              </a:rPr>
              <a:t>Ölçümleri toplumsal anlamıyla okuyoruz</a:t>
            </a:r>
          </a:p>
        </p:txBody>
      </p:sp>
      <p:sp>
        <p:nvSpPr>
          <p:cNvPr id="6" name="">
            <a:extLst xmlns:a="http://schemas.openxmlformats.org/drawingml/2006/main">
              <a:ext uri="{FF2B5EF4-FFF2-40B4-BE49-F238E27FC236}">
                <a16:creationId xmlns:a16="http://schemas.microsoft.com/office/drawing/2014/main" id="{17C7E91E-FE9F-4760-99DC-5C5C27AC9E29}"/>
              </a:ext>
            </a:extLst>
          </p:cNvPr>
          <p:cNvSpPr>
            <a:spLocks xmlns:a="http://schemas.openxmlformats.org/drawingml/2006/main" noGrp="1"/>
          </p:cNvSpPr>
          <p:nvPr/>
        </p:nvSpPr>
        <p:spPr>
          <a:xfrm xmlns:a="http://schemas.openxmlformats.org/drawingml/2006/main">
            <a:off x="609600" y="1333500"/>
            <a:ext cx="1093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3E1DD"/>
                </a:solidFill>
              </a:defRPr>
            </a:pPr>
            <a:r>
              <a:rPr sz="1350" b="0" i="0">
                <a:solidFill>
                  <a:srgbClr val="D3E1DD"/>
                </a:solidFill>
              </a:rPr>
              <a:t>Başarı yalnız doğruluk değildir; yakalama, yanlış alarm, hız ve sınır birlikte değerlendirilir.</a:t>
            </a:r>
          </a:p>
        </p:txBody>
      </p:sp>
      <p:sp>
        <p:nvSpPr>
          <p:cNvPr id="7" name="">
            <a:extLst xmlns:a="http://schemas.openxmlformats.org/drawingml/2006/main">
              <a:ext uri="{FF2B5EF4-FFF2-40B4-BE49-F238E27FC236}">
                <a16:creationId xmlns:a16="http://schemas.microsoft.com/office/drawing/2014/main" id="{AC80518E-323A-4FAC-9206-B9DD9956C820}"/>
              </a:ext>
            </a:extLst>
          </p:cNvPr>
          <p:cNvSpPr>
            <a:spLocks xmlns:a="http://schemas.openxmlformats.org/drawingml/2006/main" noGrp="1"/>
          </p:cNvSpPr>
          <p:nvPr/>
        </p:nvSpPr>
        <p:spPr>
          <a:xfrm xmlns:a="http://schemas.openxmlformats.org/drawingml/2006/main">
            <a:off x="762000" y="20002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i="0">
                <a:solidFill>
                  <a:srgbClr val="6FC2AD"/>
                </a:solidFill>
              </a:defRPr>
            </a:pPr>
            <a:r>
              <a:rPr sz="2400" b="1" i="0">
                <a:solidFill>
                  <a:srgbClr val="6FC2AD"/>
                </a:solidFill>
              </a:rPr>
              <a:t>%85,0–87,9</a:t>
            </a:r>
          </a:p>
        </p:txBody>
      </p:sp>
      <p:sp>
        <p:nvSpPr>
          <p:cNvPr id="8" name="">
            <a:extLst xmlns:a="http://schemas.openxmlformats.org/drawingml/2006/main">
              <a:ext uri="{FF2B5EF4-FFF2-40B4-BE49-F238E27FC236}">
                <a16:creationId xmlns:a16="http://schemas.microsoft.com/office/drawing/2014/main" id="{D903A859-F92C-495D-904A-66119AC63ED5}"/>
              </a:ext>
            </a:extLst>
          </p:cNvPr>
          <p:cNvSpPr>
            <a:spLocks xmlns:a="http://schemas.openxmlformats.org/drawingml/2006/main" noGrp="1"/>
          </p:cNvSpPr>
          <p:nvPr/>
        </p:nvSpPr>
        <p:spPr>
          <a:xfrm xmlns:a="http://schemas.openxmlformats.org/drawingml/2006/main">
            <a:off x="3638550" y="20193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FC2AD"/>
                </a:solidFill>
              </a:defRPr>
            </a:pPr>
            <a:r>
              <a:rPr sz="975" b="1" i="0">
                <a:solidFill>
                  <a:srgbClr val="6FC2AD"/>
                </a:solidFill>
              </a:rPr>
              <a:t>KRITIK OLAY YAKALAMA</a:t>
            </a:r>
          </a:p>
        </p:txBody>
      </p:sp>
      <p:sp>
        <p:nvSpPr>
          <p:cNvPr id="9" name="">
            <a:extLst xmlns:a="http://schemas.openxmlformats.org/drawingml/2006/main">
              <a:ext uri="{FF2B5EF4-FFF2-40B4-BE49-F238E27FC236}">
                <a16:creationId xmlns:a16="http://schemas.microsoft.com/office/drawing/2014/main" id="{8497E12E-A4B2-4928-B8A8-E1771ADED427}"/>
              </a:ext>
            </a:extLst>
          </p:cNvPr>
          <p:cNvSpPr>
            <a:spLocks xmlns:a="http://schemas.openxmlformats.org/drawingml/2006/main" noGrp="1"/>
          </p:cNvSpPr>
          <p:nvPr/>
        </p:nvSpPr>
        <p:spPr>
          <a:xfrm xmlns:a="http://schemas.openxmlformats.org/drawingml/2006/main">
            <a:off x="3638550" y="2305050"/>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7E3DF"/>
                </a:solidFill>
              </a:defRPr>
            </a:pPr>
            <a:r>
              <a:rPr sz="1350" b="0" i="0">
                <a:solidFill>
                  <a:srgbClr val="D7E3DF"/>
                </a:solidFill>
              </a:rPr>
              <a:t>Dikkat kuyruğuna ulaşan olay oranı</a:t>
            </a:r>
          </a:p>
        </p:txBody>
      </p:sp>
      <p:sp>
        <p:nvSpPr>
          <p:cNvPr id="10" name="">
            <a:extLst xmlns:a="http://schemas.openxmlformats.org/drawingml/2006/main">
              <a:ext uri="{FF2B5EF4-FFF2-40B4-BE49-F238E27FC236}">
                <a16:creationId xmlns:a16="http://schemas.microsoft.com/office/drawing/2014/main" id="{0016B3F1-A132-407B-9A54-81A1A9E5C119}"/>
              </a:ext>
            </a:extLst>
          </p:cNvPr>
          <p:cNvSpPr>
            <a:spLocks xmlns:a="http://schemas.openxmlformats.org/drawingml/2006/main" noGrp="1"/>
          </p:cNvSpPr>
          <p:nvPr/>
        </p:nvSpPr>
        <p:spPr>
          <a:xfrm xmlns:a="http://schemas.openxmlformats.org/drawingml/2006/main">
            <a:off x="762000" y="2819400"/>
            <a:ext cx="9906000" cy="9525"/>
          </a:xfrm>
          <a:prstGeom xmlns:a="http://schemas.openxmlformats.org/drawingml/2006/main" prst="rect">
            <a:avLst/>
          </a:prstGeom>
          <a:solidFill xmlns:a="http://schemas.openxmlformats.org/drawingml/2006/main">
            <a:srgbClr val="2B5B51"/>
          </a:solidFill>
          <a:ln xmlns:a="http://schemas.openxmlformats.org/drawingml/2006/main" w="0">
            <a:solidFill>
              <a:srgbClr val="2B5B51"/>
            </a:solidFill>
            <a:prstDash val="solid"/>
          </a:ln>
        </p:spPr>
      </p:sp>
      <p:sp>
        <p:nvSpPr>
          <p:cNvPr id="11" name="">
            <a:extLst xmlns:a="http://schemas.openxmlformats.org/drawingml/2006/main">
              <a:ext uri="{FF2B5EF4-FFF2-40B4-BE49-F238E27FC236}">
                <a16:creationId xmlns:a16="http://schemas.microsoft.com/office/drawing/2014/main" id="{EAAC04F4-B61C-4E3E-8180-C52ACB94DA1D}"/>
              </a:ext>
            </a:extLst>
          </p:cNvPr>
          <p:cNvSpPr>
            <a:spLocks xmlns:a="http://schemas.openxmlformats.org/drawingml/2006/main" noGrp="1"/>
          </p:cNvSpPr>
          <p:nvPr/>
        </p:nvSpPr>
        <p:spPr>
          <a:xfrm xmlns:a="http://schemas.openxmlformats.org/drawingml/2006/main">
            <a:off x="762000" y="29718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i="0">
                <a:solidFill>
                  <a:srgbClr val="F0C16B"/>
                </a:solidFill>
              </a:defRPr>
            </a:pPr>
            <a:r>
              <a:rPr sz="2400" b="1" i="0">
                <a:solidFill>
                  <a:srgbClr val="F0C16B"/>
                </a:solidFill>
              </a:rPr>
              <a:t>%12,0–18,7</a:t>
            </a:r>
          </a:p>
        </p:txBody>
      </p:sp>
      <p:sp>
        <p:nvSpPr>
          <p:cNvPr id="12" name="">
            <a:extLst xmlns:a="http://schemas.openxmlformats.org/drawingml/2006/main">
              <a:ext uri="{FF2B5EF4-FFF2-40B4-BE49-F238E27FC236}">
                <a16:creationId xmlns:a16="http://schemas.microsoft.com/office/drawing/2014/main" id="{498D480F-EA11-4F2A-AAB7-421B79B53369}"/>
              </a:ext>
            </a:extLst>
          </p:cNvPr>
          <p:cNvSpPr>
            <a:spLocks xmlns:a="http://schemas.openxmlformats.org/drawingml/2006/main" noGrp="1"/>
          </p:cNvSpPr>
          <p:nvPr/>
        </p:nvSpPr>
        <p:spPr>
          <a:xfrm xmlns:a="http://schemas.openxmlformats.org/drawingml/2006/main">
            <a:off x="3638550" y="29908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F0C16B"/>
                </a:solidFill>
              </a:defRPr>
            </a:pPr>
            <a:r>
              <a:rPr sz="975" b="1" i="0">
                <a:solidFill>
                  <a:srgbClr val="F0C16B"/>
                </a:solidFill>
              </a:rPr>
              <a:t>EYLEME KONU YANLIŞ ALARM</a:t>
            </a:r>
          </a:p>
        </p:txBody>
      </p:sp>
      <p:sp>
        <p:nvSpPr>
          <p:cNvPr id="13" name="">
            <a:extLst xmlns:a="http://schemas.openxmlformats.org/drawingml/2006/main">
              <a:ext uri="{FF2B5EF4-FFF2-40B4-BE49-F238E27FC236}">
                <a16:creationId xmlns:a16="http://schemas.microsoft.com/office/drawing/2014/main" id="{1A8CEDFB-FFD9-4662-BD88-A85ECC52D56E}"/>
              </a:ext>
            </a:extLst>
          </p:cNvPr>
          <p:cNvSpPr>
            <a:spLocks xmlns:a="http://schemas.openxmlformats.org/drawingml/2006/main" noGrp="1"/>
          </p:cNvSpPr>
          <p:nvPr/>
        </p:nvSpPr>
        <p:spPr>
          <a:xfrm xmlns:a="http://schemas.openxmlformats.org/drawingml/2006/main">
            <a:off x="3638550" y="3276600"/>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7E3DF"/>
                </a:solidFill>
              </a:defRPr>
            </a:pPr>
            <a:r>
              <a:rPr sz="1350" b="0" i="0">
                <a:solidFill>
                  <a:srgbClr val="D7E3DF"/>
                </a:solidFill>
              </a:rPr>
              <a:t>İnsan incelemesinin neden hâlâ gerekli olduğu</a:t>
            </a:r>
          </a:p>
        </p:txBody>
      </p:sp>
      <p:sp>
        <p:nvSpPr>
          <p:cNvPr id="14" name="">
            <a:extLst xmlns:a="http://schemas.openxmlformats.org/drawingml/2006/main">
              <a:ext uri="{FF2B5EF4-FFF2-40B4-BE49-F238E27FC236}">
                <a16:creationId xmlns:a16="http://schemas.microsoft.com/office/drawing/2014/main" id="{3B90AD58-8044-4132-8323-C4537BE44C93}"/>
              </a:ext>
            </a:extLst>
          </p:cNvPr>
          <p:cNvSpPr>
            <a:spLocks xmlns:a="http://schemas.openxmlformats.org/drawingml/2006/main" noGrp="1"/>
          </p:cNvSpPr>
          <p:nvPr/>
        </p:nvSpPr>
        <p:spPr>
          <a:xfrm xmlns:a="http://schemas.openxmlformats.org/drawingml/2006/main">
            <a:off x="762000" y="3790950"/>
            <a:ext cx="9906000" cy="9525"/>
          </a:xfrm>
          <a:prstGeom xmlns:a="http://schemas.openxmlformats.org/drawingml/2006/main" prst="rect">
            <a:avLst/>
          </a:prstGeom>
          <a:solidFill xmlns:a="http://schemas.openxmlformats.org/drawingml/2006/main">
            <a:srgbClr val="2B5B51"/>
          </a:solidFill>
          <a:ln xmlns:a="http://schemas.openxmlformats.org/drawingml/2006/main" w="0">
            <a:solidFill>
              <a:srgbClr val="2B5B51"/>
            </a:solidFill>
            <a:prstDash val="solid"/>
          </a:ln>
        </p:spPr>
      </p:sp>
      <p:sp>
        <p:nvSpPr>
          <p:cNvPr id="15" name="">
            <a:extLst xmlns:a="http://schemas.openxmlformats.org/drawingml/2006/main">
              <a:ext uri="{FF2B5EF4-FFF2-40B4-BE49-F238E27FC236}">
                <a16:creationId xmlns:a16="http://schemas.microsoft.com/office/drawing/2014/main" id="{F9233996-9A85-46B5-8751-296879ED80B4}"/>
              </a:ext>
            </a:extLst>
          </p:cNvPr>
          <p:cNvSpPr>
            <a:spLocks xmlns:a="http://schemas.openxmlformats.org/drawingml/2006/main" noGrp="1"/>
          </p:cNvSpPr>
          <p:nvPr/>
        </p:nvSpPr>
        <p:spPr>
          <a:xfrm xmlns:a="http://schemas.openxmlformats.org/drawingml/2006/main">
            <a:off x="762000" y="39433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i="0">
                <a:solidFill>
                  <a:srgbClr val="9FA5E8"/>
                </a:solidFill>
              </a:defRPr>
            </a:pPr>
            <a:r>
              <a:rPr sz="2400" b="1" i="0">
                <a:solidFill>
                  <a:srgbClr val="9FA5E8"/>
                </a:solidFill>
              </a:rPr>
              <a:t>%90,0</a:t>
            </a:r>
          </a:p>
        </p:txBody>
      </p:sp>
      <p:sp>
        <p:nvSpPr>
          <p:cNvPr id="16" name="">
            <a:extLst xmlns:a="http://schemas.openxmlformats.org/drawingml/2006/main">
              <a:ext uri="{FF2B5EF4-FFF2-40B4-BE49-F238E27FC236}">
                <a16:creationId xmlns:a16="http://schemas.microsoft.com/office/drawing/2014/main" id="{9B37D80C-2886-4943-AACA-9B511408F948}"/>
              </a:ext>
            </a:extLst>
          </p:cNvPr>
          <p:cNvSpPr>
            <a:spLocks xmlns:a="http://schemas.openxmlformats.org/drawingml/2006/main" noGrp="1"/>
          </p:cNvSpPr>
          <p:nvPr/>
        </p:nvSpPr>
        <p:spPr>
          <a:xfrm xmlns:a="http://schemas.openxmlformats.org/drawingml/2006/main">
            <a:off x="3638550" y="39624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9FA5E8"/>
                </a:solidFill>
              </a:defRPr>
            </a:pPr>
            <a:r>
              <a:rPr sz="975" b="1" i="0">
                <a:solidFill>
                  <a:srgbClr val="9FA5E8"/>
                </a:solidFill>
              </a:rPr>
              <a:t>KÖR SETTE YAKALAMA</a:t>
            </a:r>
          </a:p>
        </p:txBody>
      </p:sp>
      <p:sp>
        <p:nvSpPr>
          <p:cNvPr id="17" name="">
            <a:extLst xmlns:a="http://schemas.openxmlformats.org/drawingml/2006/main">
              <a:ext uri="{FF2B5EF4-FFF2-40B4-BE49-F238E27FC236}">
                <a16:creationId xmlns:a16="http://schemas.microsoft.com/office/drawing/2014/main" id="{F2483777-8690-4D3E-BC1D-2EAB51B3E4A5}"/>
              </a:ext>
            </a:extLst>
          </p:cNvPr>
          <p:cNvSpPr>
            <a:spLocks xmlns:a="http://schemas.openxmlformats.org/drawingml/2006/main" noGrp="1"/>
          </p:cNvSpPr>
          <p:nvPr/>
        </p:nvSpPr>
        <p:spPr>
          <a:xfrm xmlns:a="http://schemas.openxmlformats.org/drawingml/2006/main">
            <a:off x="3638550" y="4248150"/>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7E3DF"/>
                </a:solidFill>
              </a:defRPr>
            </a:pPr>
            <a:r>
              <a:rPr sz="1350" b="0" i="0">
                <a:solidFill>
                  <a:srgbClr val="D7E3DF"/>
                </a:solidFill>
              </a:rPr>
              <a:t>Geliştirmede kullanılmamış 80 klipte sonuç</a:t>
            </a:r>
          </a:p>
        </p:txBody>
      </p:sp>
      <p:sp>
        <p:nvSpPr>
          <p:cNvPr id="18" name="">
            <a:extLst xmlns:a="http://schemas.openxmlformats.org/drawingml/2006/main">
              <a:ext uri="{FF2B5EF4-FFF2-40B4-BE49-F238E27FC236}">
                <a16:creationId xmlns:a16="http://schemas.microsoft.com/office/drawing/2014/main" id="{96687F9F-4F11-4ACB-806E-5105F8950B0E}"/>
              </a:ext>
            </a:extLst>
          </p:cNvPr>
          <p:cNvSpPr>
            <a:spLocks xmlns:a="http://schemas.openxmlformats.org/drawingml/2006/main" noGrp="1"/>
          </p:cNvSpPr>
          <p:nvPr/>
        </p:nvSpPr>
        <p:spPr>
          <a:xfrm xmlns:a="http://schemas.openxmlformats.org/drawingml/2006/main">
            <a:off x="762000" y="4762500"/>
            <a:ext cx="9906000" cy="9525"/>
          </a:xfrm>
          <a:prstGeom xmlns:a="http://schemas.openxmlformats.org/drawingml/2006/main" prst="rect">
            <a:avLst/>
          </a:prstGeom>
          <a:solidFill xmlns:a="http://schemas.openxmlformats.org/drawingml/2006/main">
            <a:srgbClr val="2B5B51"/>
          </a:solidFill>
          <a:ln xmlns:a="http://schemas.openxmlformats.org/drawingml/2006/main" w="0">
            <a:solidFill>
              <a:srgbClr val="2B5B51"/>
            </a:solidFill>
            <a:prstDash val="solid"/>
          </a:ln>
        </p:spPr>
      </p:sp>
      <p:sp>
        <p:nvSpPr>
          <p:cNvPr id="19" name="">
            <a:extLst xmlns:a="http://schemas.openxmlformats.org/drawingml/2006/main">
              <a:ext uri="{FF2B5EF4-FFF2-40B4-BE49-F238E27FC236}">
                <a16:creationId xmlns:a16="http://schemas.microsoft.com/office/drawing/2014/main" id="{16DFA211-8BF3-4C44-8215-9362C027358E}"/>
              </a:ext>
            </a:extLst>
          </p:cNvPr>
          <p:cNvSpPr>
            <a:spLocks xmlns:a="http://schemas.openxmlformats.org/drawingml/2006/main" noGrp="1"/>
          </p:cNvSpPr>
          <p:nvPr/>
        </p:nvSpPr>
        <p:spPr>
          <a:xfrm xmlns:a="http://schemas.openxmlformats.org/drawingml/2006/main">
            <a:off x="762000" y="49149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i="0">
                <a:solidFill>
                  <a:srgbClr val="F18A70"/>
                </a:solidFill>
              </a:defRPr>
            </a:pPr>
            <a:r>
              <a:rPr sz="2400" b="1" i="0">
                <a:solidFill>
                  <a:srgbClr val="F18A70"/>
                </a:solidFill>
              </a:rPr>
              <a:t>9 kamera</a:t>
            </a:r>
          </a:p>
        </p:txBody>
      </p:sp>
      <p:sp>
        <p:nvSpPr>
          <p:cNvPr id="20" name="">
            <a:extLst xmlns:a="http://schemas.openxmlformats.org/drawingml/2006/main">
              <a:ext uri="{FF2B5EF4-FFF2-40B4-BE49-F238E27FC236}">
                <a16:creationId xmlns:a16="http://schemas.microsoft.com/office/drawing/2014/main" id="{5A33302A-9129-45D2-8B4F-496CBA13A945}"/>
              </a:ext>
            </a:extLst>
          </p:cNvPr>
          <p:cNvSpPr>
            <a:spLocks xmlns:a="http://schemas.openxmlformats.org/drawingml/2006/main" noGrp="1"/>
          </p:cNvSpPr>
          <p:nvPr/>
        </p:nvSpPr>
        <p:spPr>
          <a:xfrm xmlns:a="http://schemas.openxmlformats.org/drawingml/2006/main">
            <a:off x="3638550" y="49339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F18A70"/>
                </a:solidFill>
              </a:defRPr>
            </a:pPr>
            <a:r>
              <a:rPr sz="975" b="1" i="0">
                <a:solidFill>
                  <a:srgbClr val="F18A70"/>
                </a:solidFill>
              </a:rPr>
              <a:t>ÖLÇÜLEN GÜVENLI KAPASITE</a:t>
            </a:r>
          </a:p>
        </p:txBody>
      </p:sp>
      <p:sp>
        <p:nvSpPr>
          <p:cNvPr id="21" name="">
            <a:extLst xmlns:a="http://schemas.openxmlformats.org/drawingml/2006/main">
              <a:ext uri="{FF2B5EF4-FFF2-40B4-BE49-F238E27FC236}">
                <a16:creationId xmlns:a16="http://schemas.microsoft.com/office/drawing/2014/main" id="{BDE56FB8-4315-4B61-B9FF-BFEF90DF843B}"/>
              </a:ext>
            </a:extLst>
          </p:cNvPr>
          <p:cNvSpPr>
            <a:spLocks xmlns:a="http://schemas.openxmlformats.org/drawingml/2006/main" noGrp="1"/>
          </p:cNvSpPr>
          <p:nvPr/>
        </p:nvSpPr>
        <p:spPr>
          <a:xfrm xmlns:a="http://schemas.openxmlformats.org/drawingml/2006/main">
            <a:off x="3638550" y="5219700"/>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7E3DF"/>
                </a:solidFill>
              </a:defRPr>
            </a:pPr>
            <a:r>
              <a:rPr sz="1350" b="0" i="0">
                <a:solidFill>
                  <a:srgbClr val="D7E3DF"/>
                </a:solidFill>
              </a:rPr>
              <a:t>0 kare düşürme · en fazla 18 sn gecikme</a:t>
            </a:r>
          </a:p>
        </p:txBody>
      </p:sp>
      <p:sp>
        <p:nvSpPr>
          <p:cNvPr id="22" name="">
            <a:extLst xmlns:a="http://schemas.openxmlformats.org/drawingml/2006/main">
              <a:ext uri="{FF2B5EF4-FFF2-40B4-BE49-F238E27FC236}">
                <a16:creationId xmlns:a16="http://schemas.microsoft.com/office/drawing/2014/main" id="{31DF3CC8-8F40-4453-B127-4541572A6255}"/>
              </a:ext>
            </a:extLst>
          </p:cNvPr>
          <p:cNvSpPr>
            <a:spLocks xmlns:a="http://schemas.openxmlformats.org/drawingml/2006/main" noGrp="1"/>
          </p:cNvSpPr>
          <p:nvPr/>
        </p:nvSpPr>
        <p:spPr>
          <a:xfrm xmlns:a="http://schemas.openxmlformats.org/drawingml/2006/main">
            <a:off x="762000" y="5924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FFFFFF"/>
                </a:solidFill>
              </a:defRPr>
            </a:pPr>
            <a:r>
              <a:rPr sz="1350" b="1" i="0">
                <a:solidFill>
                  <a:srgbClr val="FFFFFF"/>
                </a:solidFill>
              </a:rPr>
              <a:t>Sınırları da raporluyoruz: kısa olaylar ve hırsızlık alt sınıfları hâlâ zayıf.</a:t>
            </a:r>
          </a:p>
        </p:txBody>
      </p:sp>
      <p:sp>
        <p:nvSpPr>
          <p:cNvPr id="23" name="">
            <a:extLst xmlns:a="http://schemas.openxmlformats.org/drawingml/2006/main">
              <a:ext uri="{FF2B5EF4-FFF2-40B4-BE49-F238E27FC236}">
                <a16:creationId xmlns:a16="http://schemas.microsoft.com/office/drawing/2014/main" id="{E9CFAE79-24AD-4024-93BC-78020C0002F9}"/>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B8CEC7"/>
                </a:solidFill>
              </a:defRPr>
            </a:pPr>
            <a:r>
              <a:rPr sz="825" b="0" i="0">
                <a:solidFill>
                  <a:srgbClr val="B8CEC7"/>
                </a:solidFill>
              </a:rPr>
              <a:t>Tek koşu değil, dört üretim koşusunun bandı sunulur.</a:t>
            </a:r>
          </a:p>
        </p:txBody>
      </p:sp>
    </p:spTree>
    <p:extLst>
      <p:ext uri="{BB962C8B-B14F-4D97-AF65-F5344CB8AC3E}">
        <p14:creationId xmlns:p14="http://schemas.microsoft.com/office/powerpoint/2010/main" val="825726288"/>
      </p:ext>
    </p:extLst>
  </p:cSld>
</p:sld>
</file>

<file path=ppt/slides/slide1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7D2B539-D59A-41D8-A5A7-279130A21D81}"/>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2" name="">
            <a:extLst xmlns:a="http://schemas.openxmlformats.org/drawingml/2006/main">
              <a:ext uri="{FF2B5EF4-FFF2-40B4-BE49-F238E27FC236}">
                <a16:creationId xmlns:a16="http://schemas.microsoft.com/office/drawing/2014/main" id="{A2C34D06-9529-4933-B5A3-324BF723E566}"/>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3" name="">
            <a:extLst xmlns:a="http://schemas.openxmlformats.org/drawingml/2006/main">
              <a:ext uri="{FF2B5EF4-FFF2-40B4-BE49-F238E27FC236}">
                <a16:creationId xmlns:a16="http://schemas.microsoft.com/office/drawing/2014/main" id="{253D5C95-DDF8-4064-AA73-CA1B3B6A9EA0}"/>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10251F"/>
                </a:solidFill>
              </a:defRPr>
            </a:pPr>
            <a:r>
              <a:rPr sz="1125" b="1" i="0">
                <a:solidFill>
                  <a:srgbClr val="10251F"/>
                </a:solidFill>
              </a:rPr>
              <a:t>DÖRTGÖZ</a:t>
            </a:r>
          </a:p>
        </p:txBody>
      </p:sp>
      <p:sp>
        <p:nvSpPr>
          <p:cNvPr id="4" name="">
            <a:extLst xmlns:a="http://schemas.openxmlformats.org/drawingml/2006/main">
              <a:ext uri="{FF2B5EF4-FFF2-40B4-BE49-F238E27FC236}">
                <a16:creationId xmlns:a16="http://schemas.microsoft.com/office/drawing/2014/main" id="{F518FEE2-1E33-44ED-8C8C-C44482D82021}"/>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66736F"/>
                </a:solidFill>
              </a:defRPr>
            </a:pPr>
            <a:r>
              <a:rPr sz="900" b="0" i="0">
                <a:solidFill>
                  <a:srgbClr val="66736F"/>
                </a:solidFill>
              </a:rPr>
              <a:t>11</a:t>
            </a:r>
          </a:p>
        </p:txBody>
      </p:sp>
      <p:sp>
        <p:nvSpPr>
          <p:cNvPr id="5" name="">
            <a:extLst xmlns:a="http://schemas.openxmlformats.org/drawingml/2006/main">
              <a:ext uri="{FF2B5EF4-FFF2-40B4-BE49-F238E27FC236}">
                <a16:creationId xmlns:a16="http://schemas.microsoft.com/office/drawing/2014/main" id="{13D8ECA2-CD1F-43E9-9693-496AC46D2874}"/>
              </a:ext>
            </a:extLst>
          </p:cNvPr>
          <p:cNvSpPr>
            <a:spLocks xmlns:a="http://schemas.openxmlformats.org/drawingml/2006/main" noGrp="1"/>
          </p:cNvSpPr>
          <p:nvPr/>
        </p:nvSpPr>
        <p:spPr>
          <a:xfrm xmlns:a="http://schemas.openxmlformats.org/drawingml/2006/main">
            <a:off x="609600" y="7810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10251F"/>
                </a:solidFill>
              </a:defRPr>
            </a:pPr>
            <a:r>
              <a:rPr sz="2850" b="1" i="0">
                <a:solidFill>
                  <a:srgbClr val="10251F"/>
                </a:solidFill>
              </a:rPr>
              <a:t>Aynı yaklaşım ortak yaşam alanlarına uyarlanabilir</a:t>
            </a:r>
          </a:p>
        </p:txBody>
      </p:sp>
      <p:sp>
        <p:nvSpPr>
          <p:cNvPr id="6" name="">
            <a:extLst xmlns:a="http://schemas.openxmlformats.org/drawingml/2006/main">
              <a:ext uri="{FF2B5EF4-FFF2-40B4-BE49-F238E27FC236}">
                <a16:creationId xmlns:a16="http://schemas.microsoft.com/office/drawing/2014/main" id="{B2D65E20-8E15-4F9A-BC8E-2CC273A81B4A}"/>
              </a:ext>
            </a:extLst>
          </p:cNvPr>
          <p:cNvSpPr>
            <a:spLocks xmlns:a="http://schemas.openxmlformats.org/drawingml/2006/main" noGrp="1"/>
          </p:cNvSpPr>
          <p:nvPr/>
        </p:nvSpPr>
        <p:spPr>
          <a:xfrm xmlns:a="http://schemas.openxmlformats.org/drawingml/2006/main">
            <a:off x="609600" y="1333500"/>
            <a:ext cx="1093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66736F"/>
                </a:solidFill>
              </a:defRPr>
            </a:pPr>
            <a:r>
              <a:rPr sz="1350" b="0" i="0">
                <a:solidFill>
                  <a:srgbClr val="66736F"/>
                </a:solidFill>
              </a:rPr>
              <a:t>Dörtgöz tek bir sahneye değil, kamera bağlamına ve yerel prosedüre göre çalışır.</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0bd7f4baba54a52"/>
          <a:stretch xmlns:a="http://schemas.openxmlformats.org/drawingml/2006/main"/>
        </p:blipFill>
        <p:spPr>
          <a:xfrm xmlns:a="http://schemas.openxmlformats.org/drawingml/2006/main">
            <a:off x="609600" y="2226469"/>
            <a:ext cx="5562600" cy="3128963"/>
          </a:xfrm>
          <a:prstGeom xmlns:a="http://schemas.openxmlformats.org/drawingml/2006/main" prst="roundRect">
            <a:avLst>
              <a:gd name="adj" fmla="val 3333"/>
            </a:avLst>
          </a:prstGeom>
        </p:spPr>
      </p:pic>
      <p:sp>
        <p:nvSpPr>
          <p:cNvPr id="8" name="">
            <a:extLst xmlns:a="http://schemas.openxmlformats.org/drawingml/2006/main">
              <a:ext uri="{FF2B5EF4-FFF2-40B4-BE49-F238E27FC236}">
                <a16:creationId xmlns:a16="http://schemas.microsoft.com/office/drawing/2014/main" id="{AACCCABE-59FE-4FC2-838A-65DE000B9E19}"/>
              </a:ext>
            </a:extLst>
          </p:cNvPr>
          <p:cNvSpPr>
            <a:spLocks xmlns:a="http://schemas.openxmlformats.org/drawingml/2006/main" noGrp="1"/>
          </p:cNvSpPr>
          <p:nvPr/>
        </p:nvSpPr>
        <p:spPr>
          <a:xfrm xmlns:a="http://schemas.openxmlformats.org/drawingml/2006/main">
            <a:off x="6762750" y="2076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1E806F"/>
                </a:solidFill>
              </a:defRPr>
            </a:pPr>
            <a:r>
              <a:rPr sz="1125" b="1" i="0">
                <a:solidFill>
                  <a:srgbClr val="1E806F"/>
                </a:solidFill>
              </a:rPr>
              <a:t>KAMPÜSLER</a:t>
            </a:r>
          </a:p>
        </p:txBody>
      </p:sp>
      <p:sp>
        <p:nvSpPr>
          <p:cNvPr id="9" name="">
            <a:extLst xmlns:a="http://schemas.openxmlformats.org/drawingml/2006/main">
              <a:ext uri="{FF2B5EF4-FFF2-40B4-BE49-F238E27FC236}">
                <a16:creationId xmlns:a16="http://schemas.microsoft.com/office/drawing/2014/main" id="{F98FF038-24E8-4E2A-9F73-CBCAB24E5877}"/>
              </a:ext>
            </a:extLst>
          </p:cNvPr>
          <p:cNvSpPr>
            <a:spLocks xmlns:a="http://schemas.openxmlformats.org/drawingml/2006/main" noGrp="1"/>
          </p:cNvSpPr>
          <p:nvPr/>
        </p:nvSpPr>
        <p:spPr>
          <a:xfrm xmlns:a="http://schemas.openxmlformats.org/drawingml/2006/main">
            <a:off x="6762750" y="23431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10251F"/>
                </a:solidFill>
              </a:defRPr>
            </a:pPr>
            <a:r>
              <a:rPr sz="1275" b="0" i="0">
                <a:solidFill>
                  <a:srgbClr val="10251F"/>
                </a:solidFill>
              </a:rPr>
              <a:t>Kavga, saldırı, yangın ve izinsiz giriş odağı</a:t>
            </a:r>
          </a:p>
        </p:txBody>
      </p:sp>
      <p:sp>
        <p:nvSpPr>
          <p:cNvPr id="10" name="">
            <a:extLst xmlns:a="http://schemas.openxmlformats.org/drawingml/2006/main">
              <a:ext uri="{FF2B5EF4-FFF2-40B4-BE49-F238E27FC236}">
                <a16:creationId xmlns:a16="http://schemas.microsoft.com/office/drawing/2014/main" id="{94A21FA1-45F0-4A1F-828A-6F4FFC6AB9AF}"/>
              </a:ext>
            </a:extLst>
          </p:cNvPr>
          <p:cNvSpPr>
            <a:spLocks xmlns:a="http://schemas.openxmlformats.org/drawingml/2006/main" noGrp="1"/>
          </p:cNvSpPr>
          <p:nvPr/>
        </p:nvSpPr>
        <p:spPr>
          <a:xfrm xmlns:a="http://schemas.openxmlformats.org/drawingml/2006/main">
            <a:off x="6762750" y="2800350"/>
            <a:ext cx="4572000" cy="9525"/>
          </a:xfrm>
          <a:prstGeom xmlns:a="http://schemas.openxmlformats.org/drawingml/2006/main" prst="rect">
            <a:avLst/>
          </a:prstGeom>
          <a:solidFill xmlns:a="http://schemas.openxmlformats.org/drawingml/2006/main">
            <a:srgbClr val="D8D7D0"/>
          </a:solidFill>
          <a:ln xmlns:a="http://schemas.openxmlformats.org/drawingml/2006/main" w="0">
            <a:solidFill>
              <a:srgbClr val="D8D7D0"/>
            </a:solidFill>
            <a:prstDash val="solid"/>
          </a:ln>
        </p:spPr>
      </p:sp>
      <p:sp>
        <p:nvSpPr>
          <p:cNvPr id="11" name="">
            <a:extLst xmlns:a="http://schemas.openxmlformats.org/drawingml/2006/main">
              <a:ext uri="{FF2B5EF4-FFF2-40B4-BE49-F238E27FC236}">
                <a16:creationId xmlns:a16="http://schemas.microsoft.com/office/drawing/2014/main" id="{92C19FC8-BBC2-4412-9661-C3DDA3967A01}"/>
              </a:ext>
            </a:extLst>
          </p:cNvPr>
          <p:cNvSpPr>
            <a:spLocks xmlns:a="http://schemas.openxmlformats.org/drawingml/2006/main" noGrp="1"/>
          </p:cNvSpPr>
          <p:nvPr/>
        </p:nvSpPr>
        <p:spPr>
          <a:xfrm xmlns:a="http://schemas.openxmlformats.org/drawingml/2006/main">
            <a:off x="6762750" y="2914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C95F3D"/>
                </a:solidFill>
              </a:defRPr>
            </a:pPr>
            <a:r>
              <a:rPr sz="1125" b="1" i="0">
                <a:solidFill>
                  <a:srgbClr val="C95F3D"/>
                </a:solidFill>
              </a:rPr>
              <a:t>ULAŞIM ALANLARI</a:t>
            </a:r>
          </a:p>
        </p:txBody>
      </p:sp>
      <p:sp>
        <p:nvSpPr>
          <p:cNvPr id="12" name="">
            <a:extLst xmlns:a="http://schemas.openxmlformats.org/drawingml/2006/main">
              <a:ext uri="{FF2B5EF4-FFF2-40B4-BE49-F238E27FC236}">
                <a16:creationId xmlns:a16="http://schemas.microsoft.com/office/drawing/2014/main" id="{6F67A4D7-B623-469B-A28B-4DE6AA8E4447}"/>
              </a:ext>
            </a:extLst>
          </p:cNvPr>
          <p:cNvSpPr>
            <a:spLocks xmlns:a="http://schemas.openxmlformats.org/drawingml/2006/main" noGrp="1"/>
          </p:cNvSpPr>
          <p:nvPr/>
        </p:nvSpPr>
        <p:spPr>
          <a:xfrm xmlns:a="http://schemas.openxmlformats.org/drawingml/2006/main">
            <a:off x="6762750" y="31813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10251F"/>
                </a:solidFill>
              </a:defRPr>
            </a:pPr>
            <a:r>
              <a:rPr sz="1275" b="0" i="0">
                <a:solidFill>
                  <a:srgbClr val="10251F"/>
                </a:solidFill>
              </a:rPr>
              <a:t>Kaza, yoğunluk ve devam eden saha riski</a:t>
            </a:r>
          </a:p>
        </p:txBody>
      </p:sp>
      <p:sp>
        <p:nvSpPr>
          <p:cNvPr id="13" name="">
            <a:extLst xmlns:a="http://schemas.openxmlformats.org/drawingml/2006/main">
              <a:ext uri="{FF2B5EF4-FFF2-40B4-BE49-F238E27FC236}">
                <a16:creationId xmlns:a16="http://schemas.microsoft.com/office/drawing/2014/main" id="{F536B700-D10C-4E3B-B38B-CA551B68C411}"/>
              </a:ext>
            </a:extLst>
          </p:cNvPr>
          <p:cNvSpPr>
            <a:spLocks xmlns:a="http://schemas.openxmlformats.org/drawingml/2006/main" noGrp="1"/>
          </p:cNvSpPr>
          <p:nvPr/>
        </p:nvSpPr>
        <p:spPr>
          <a:xfrm xmlns:a="http://schemas.openxmlformats.org/drawingml/2006/main">
            <a:off x="6762750" y="3638550"/>
            <a:ext cx="4572000" cy="9525"/>
          </a:xfrm>
          <a:prstGeom xmlns:a="http://schemas.openxmlformats.org/drawingml/2006/main" prst="rect">
            <a:avLst/>
          </a:prstGeom>
          <a:solidFill xmlns:a="http://schemas.openxmlformats.org/drawingml/2006/main">
            <a:srgbClr val="D8D7D0"/>
          </a:solidFill>
          <a:ln xmlns:a="http://schemas.openxmlformats.org/drawingml/2006/main" w="0">
            <a:solidFill>
              <a:srgbClr val="D8D7D0"/>
            </a:solidFill>
            <a:prstDash val="solid"/>
          </a:ln>
        </p:spPr>
      </p:sp>
      <p:sp>
        <p:nvSpPr>
          <p:cNvPr id="14" name="">
            <a:extLst xmlns:a="http://schemas.openxmlformats.org/drawingml/2006/main">
              <a:ext uri="{FF2B5EF4-FFF2-40B4-BE49-F238E27FC236}">
                <a16:creationId xmlns:a16="http://schemas.microsoft.com/office/drawing/2014/main" id="{8EDF96CA-A0D7-4131-84AC-9FC95BA46ED4}"/>
              </a:ext>
            </a:extLst>
          </p:cNvPr>
          <p:cNvSpPr>
            <a:spLocks xmlns:a="http://schemas.openxmlformats.org/drawingml/2006/main" noGrp="1"/>
          </p:cNvSpPr>
          <p:nvPr/>
        </p:nvSpPr>
        <p:spPr>
          <a:xfrm xmlns:a="http://schemas.openxmlformats.org/drawingml/2006/main">
            <a:off x="6762750" y="37528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1E806F"/>
                </a:solidFill>
              </a:defRPr>
            </a:pPr>
            <a:r>
              <a:rPr sz="1125" b="1" i="0">
                <a:solidFill>
                  <a:srgbClr val="1E806F"/>
                </a:solidFill>
              </a:rPr>
              <a:t>HASTANE / KAMU BİNASI</a:t>
            </a:r>
          </a:p>
        </p:txBody>
      </p:sp>
      <p:sp>
        <p:nvSpPr>
          <p:cNvPr id="15" name="">
            <a:extLst xmlns:a="http://schemas.openxmlformats.org/drawingml/2006/main">
              <a:ext uri="{FF2B5EF4-FFF2-40B4-BE49-F238E27FC236}">
                <a16:creationId xmlns:a16="http://schemas.microsoft.com/office/drawing/2014/main" id="{98F1CD98-DA86-4386-9DC3-91DC5CE164FC}"/>
              </a:ext>
            </a:extLst>
          </p:cNvPr>
          <p:cNvSpPr>
            <a:spLocks xmlns:a="http://schemas.openxmlformats.org/drawingml/2006/main" noGrp="1"/>
          </p:cNvSpPr>
          <p:nvPr/>
        </p:nvSpPr>
        <p:spPr>
          <a:xfrm xmlns:a="http://schemas.openxmlformats.org/drawingml/2006/main">
            <a:off x="6762750" y="40195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10251F"/>
                </a:solidFill>
              </a:defRPr>
            </a:pPr>
            <a:r>
              <a:rPr sz="1275" b="0" i="0">
                <a:solidFill>
                  <a:srgbClr val="10251F"/>
                </a:solidFill>
              </a:rPr>
              <a:t>Olayı erken görünür kılan operatör desteği</a:t>
            </a:r>
          </a:p>
        </p:txBody>
      </p:sp>
      <p:sp>
        <p:nvSpPr>
          <p:cNvPr id="16" name="">
            <a:extLst xmlns:a="http://schemas.openxmlformats.org/drawingml/2006/main">
              <a:ext uri="{FF2B5EF4-FFF2-40B4-BE49-F238E27FC236}">
                <a16:creationId xmlns:a16="http://schemas.microsoft.com/office/drawing/2014/main" id="{FE2FA40E-16D3-4B60-8E98-EEC086831903}"/>
              </a:ext>
            </a:extLst>
          </p:cNvPr>
          <p:cNvSpPr>
            <a:spLocks xmlns:a="http://schemas.openxmlformats.org/drawingml/2006/main" noGrp="1"/>
          </p:cNvSpPr>
          <p:nvPr/>
        </p:nvSpPr>
        <p:spPr>
          <a:xfrm xmlns:a="http://schemas.openxmlformats.org/drawingml/2006/main">
            <a:off x="6762750" y="4476750"/>
            <a:ext cx="4572000" cy="9525"/>
          </a:xfrm>
          <a:prstGeom xmlns:a="http://schemas.openxmlformats.org/drawingml/2006/main" prst="rect">
            <a:avLst/>
          </a:prstGeom>
          <a:solidFill xmlns:a="http://schemas.openxmlformats.org/drawingml/2006/main">
            <a:srgbClr val="D8D7D0"/>
          </a:solidFill>
          <a:ln xmlns:a="http://schemas.openxmlformats.org/drawingml/2006/main" w="0">
            <a:solidFill>
              <a:srgbClr val="D8D7D0"/>
            </a:solidFill>
            <a:prstDash val="solid"/>
          </a:ln>
        </p:spPr>
      </p:sp>
      <p:sp>
        <p:nvSpPr>
          <p:cNvPr id="17" name="">
            <a:extLst xmlns:a="http://schemas.openxmlformats.org/drawingml/2006/main">
              <a:ext uri="{FF2B5EF4-FFF2-40B4-BE49-F238E27FC236}">
                <a16:creationId xmlns:a16="http://schemas.microsoft.com/office/drawing/2014/main" id="{C1E31AEC-9027-4C51-823F-8307825A7D48}"/>
              </a:ext>
            </a:extLst>
          </p:cNvPr>
          <p:cNvSpPr>
            <a:spLocks xmlns:a="http://schemas.openxmlformats.org/drawingml/2006/main" noGrp="1"/>
          </p:cNvSpPr>
          <p:nvPr/>
        </p:nvSpPr>
        <p:spPr>
          <a:xfrm xmlns:a="http://schemas.openxmlformats.org/drawingml/2006/main">
            <a:off x="6762750" y="4591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C95F3D"/>
                </a:solidFill>
              </a:defRPr>
            </a:pPr>
            <a:r>
              <a:rPr sz="1125" b="1" i="0">
                <a:solidFill>
                  <a:srgbClr val="C95F3D"/>
                </a:solidFill>
              </a:rPr>
              <a:t>ENDÜSTRİYEL SAHA</a:t>
            </a:r>
          </a:p>
        </p:txBody>
      </p:sp>
      <p:sp>
        <p:nvSpPr>
          <p:cNvPr id="18" name="">
            <a:extLst xmlns:a="http://schemas.openxmlformats.org/drawingml/2006/main">
              <a:ext uri="{FF2B5EF4-FFF2-40B4-BE49-F238E27FC236}">
                <a16:creationId xmlns:a16="http://schemas.microsoft.com/office/drawing/2014/main" id="{9ABB19EE-1949-431B-ABF9-BC3FA87E34EE}"/>
              </a:ext>
            </a:extLst>
          </p:cNvPr>
          <p:cNvSpPr>
            <a:spLocks xmlns:a="http://schemas.openxmlformats.org/drawingml/2006/main" noGrp="1"/>
          </p:cNvSpPr>
          <p:nvPr/>
        </p:nvSpPr>
        <p:spPr>
          <a:xfrm xmlns:a="http://schemas.openxmlformats.org/drawingml/2006/main">
            <a:off x="6762750" y="48577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10251F"/>
                </a:solidFill>
              </a:defRPr>
            </a:pPr>
            <a:r>
              <a:rPr sz="1275" b="0" i="0">
                <a:solidFill>
                  <a:srgbClr val="10251F"/>
                </a:solidFill>
              </a:rPr>
              <a:t>Yangın, patlama ve vandalizm odağı</a:t>
            </a:r>
          </a:p>
        </p:txBody>
      </p:sp>
      <p:sp>
        <p:nvSpPr>
          <p:cNvPr id="19" name="">
            <a:extLst xmlns:a="http://schemas.openxmlformats.org/drawingml/2006/main">
              <a:ext uri="{FF2B5EF4-FFF2-40B4-BE49-F238E27FC236}">
                <a16:creationId xmlns:a16="http://schemas.microsoft.com/office/drawing/2014/main" id="{13D2EA46-57F1-42E5-8F28-3B1497BBA3E4}"/>
              </a:ext>
            </a:extLst>
          </p:cNvPr>
          <p:cNvSpPr>
            <a:spLocks xmlns:a="http://schemas.openxmlformats.org/drawingml/2006/main" noGrp="1"/>
          </p:cNvSpPr>
          <p:nvPr/>
        </p:nvSpPr>
        <p:spPr>
          <a:xfrm xmlns:a="http://schemas.openxmlformats.org/drawingml/2006/main">
            <a:off x="6762750" y="56007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66736F"/>
                </a:solidFill>
              </a:defRPr>
            </a:pPr>
            <a:r>
              <a:rPr sz="1125" b="0" i="0">
                <a:solidFill>
                  <a:srgbClr val="66736F"/>
                </a:solidFill>
              </a:rPr>
              <a:t>Bu alanlar hedef uygulama örnekleridir; mevcut saha kurulumu iddiası değildir.</a:t>
            </a:r>
          </a:p>
        </p:txBody>
      </p:sp>
      <p:sp>
        <p:nvSpPr>
          <p:cNvPr id="20" name="">
            <a:extLst xmlns:a="http://schemas.openxmlformats.org/drawingml/2006/main">
              <a:ext uri="{FF2B5EF4-FFF2-40B4-BE49-F238E27FC236}">
                <a16:creationId xmlns:a16="http://schemas.microsoft.com/office/drawing/2014/main" id="{BFE8A4EA-2963-4DB2-9C45-F08DC5FD5329}"/>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7A8581"/>
                </a:solidFill>
              </a:defRPr>
            </a:pPr>
            <a:r>
              <a:rPr sz="825" b="0" i="0">
                <a:solidFill>
                  <a:srgbClr val="7A8581"/>
                </a:solidFill>
              </a:rPr>
              <a:t>Kamera başına eşik ve prosedür yerel veriyle doğrulanmadan otomatik devreye alınmaz.</a:t>
            </a:r>
          </a:p>
        </p:txBody>
      </p:sp>
    </p:spTree>
    <p:extLst>
      <p:ext uri="{BB962C8B-B14F-4D97-AF65-F5344CB8AC3E}">
        <p14:creationId xmlns:p14="http://schemas.microsoft.com/office/powerpoint/2010/main" val="1684464312"/>
      </p:ext>
    </p:extLst>
  </p:cSld>
</p:sld>
</file>

<file path=ppt/slides/slide12.xml><?xml version="1.0" encoding="utf-8"?>
<p:sld xmlns:p="http://schemas.openxmlformats.org/presentationml/2006/main">
  <p:cSld>
    <p:bg>
      <p:bgPr>
        <a:solidFill xmlns:a="http://schemas.openxmlformats.org/drawingml/2006/main">
          <a:srgbClr val="123C34"/>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116683741e74cbe"/>
          <a:srcRect xmlns:a="http://schemas.openxmlformats.org/drawingml/2006/main" l="0" t="8017" r="0" b="8017"/>
          <a:stretch xmlns:a="http://schemas.openxmlformats.org/drawingml/2006/main">
            <a:fillRect l="0" t="0" r="0" b="0"/>
          </a:stretch>
        </p:blipFill>
        <p:spPr>
          <a:xfrm xmlns:a="http://schemas.openxmlformats.org/drawingml/2006/main">
            <a:off x="5657850" y="0"/>
            <a:ext cx="65341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FEF8AB-3A72-48EF-9354-37A0AEACF267}"/>
              </a:ext>
            </a:extLst>
          </p:cNvPr>
          <p:cNvSpPr>
            <a:spLocks xmlns:a="http://schemas.openxmlformats.org/drawingml/2006/main" noGrp="1"/>
          </p:cNvSpPr>
          <p:nvPr/>
        </p:nvSpPr>
        <p:spPr>
          <a:xfrm xmlns:a="http://schemas.openxmlformats.org/drawingml/2006/main">
            <a:off x="0" y="0"/>
            <a:ext cx="6000750" cy="6858000"/>
          </a:xfrm>
          <a:prstGeom xmlns:a="http://schemas.openxmlformats.org/drawingml/2006/main" prst="rect">
            <a:avLst/>
          </a:prstGeom>
          <a:solidFill xmlns:a="http://schemas.openxmlformats.org/drawingml/2006/main">
            <a:srgbClr val="123C34"/>
          </a:solidFill>
          <a:ln xmlns:a="http://schemas.openxmlformats.org/drawingml/2006/main" w="0">
            <a:solidFill>
              <a:srgbClr val="123C34"/>
            </a:solidFill>
            <a:prstDash val="solid"/>
          </a:ln>
        </p:spPr>
      </p:sp>
      <p:sp>
        <p:nvSpPr>
          <p:cNvPr id="3" name="">
            <a:extLst xmlns:a="http://schemas.openxmlformats.org/drawingml/2006/main">
              <a:ext uri="{FF2B5EF4-FFF2-40B4-BE49-F238E27FC236}">
                <a16:creationId xmlns:a16="http://schemas.microsoft.com/office/drawing/2014/main" id="{DD459813-171B-4EA0-9CAD-F490B018B0E3}"/>
              </a:ext>
            </a:extLst>
          </p:cNvPr>
          <p:cNvSpPr>
            <a:spLocks xmlns:a="http://schemas.openxmlformats.org/drawingml/2006/main" noGrp="1"/>
          </p:cNvSpPr>
          <p:nvPr/>
        </p:nvSpPr>
        <p:spPr>
          <a:xfrm xmlns:a="http://schemas.openxmlformats.org/drawingml/2006/main">
            <a:off x="609600" y="381000"/>
            <a:ext cx="85725" cy="85725"/>
          </a:xfrm>
          <a:prstGeom xmlns:a="http://schemas.openxmlformats.org/drawingml/2006/main" prst="roundRect">
            <a:avLst>
              <a:gd name="adj" fmla="val 50000"/>
            </a:avLst>
          </a:prstGeom>
          <a:solidFill xmlns:a="http://schemas.openxmlformats.org/drawingml/2006/main">
            <a:srgbClr val="1E806F"/>
          </a:solidFill>
          <a:ln xmlns:a="http://schemas.openxmlformats.org/drawingml/2006/main" w="0">
            <a:solidFill>
              <a:srgbClr val="1E806F"/>
            </a:solidFill>
            <a:prstDash val="solid"/>
          </a:ln>
        </p:spPr>
      </p:sp>
      <p:sp>
        <p:nvSpPr>
          <p:cNvPr id="4" name="">
            <a:extLst xmlns:a="http://schemas.openxmlformats.org/drawingml/2006/main">
              <a:ext uri="{FF2B5EF4-FFF2-40B4-BE49-F238E27FC236}">
                <a16:creationId xmlns:a16="http://schemas.microsoft.com/office/drawing/2014/main" id="{6E9234D3-A516-4020-B9F2-B66C8C74241B}"/>
              </a:ext>
            </a:extLst>
          </p:cNvPr>
          <p:cNvSpPr>
            <a:spLocks xmlns:a="http://schemas.openxmlformats.org/drawingml/2006/main" noGrp="1"/>
          </p:cNvSpPr>
          <p:nvPr/>
        </p:nvSpPr>
        <p:spPr>
          <a:xfrm xmlns:a="http://schemas.openxmlformats.org/drawingml/2006/main">
            <a:off x="742950" y="381000"/>
            <a:ext cx="85725" cy="85725"/>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0">
            <a:solidFill>
              <a:srgbClr val="E9A23B"/>
            </a:solidFill>
            <a:prstDash val="solid"/>
          </a:ln>
        </p:spPr>
      </p:sp>
      <p:sp>
        <p:nvSpPr>
          <p:cNvPr id="5" name="">
            <a:extLst xmlns:a="http://schemas.openxmlformats.org/drawingml/2006/main">
              <a:ext uri="{FF2B5EF4-FFF2-40B4-BE49-F238E27FC236}">
                <a16:creationId xmlns:a16="http://schemas.microsoft.com/office/drawing/2014/main" id="{D36622E1-645C-4BF1-8DF2-ECC61F6E1867}"/>
              </a:ext>
            </a:extLst>
          </p:cNvPr>
          <p:cNvSpPr>
            <a:spLocks xmlns:a="http://schemas.openxmlformats.org/drawingml/2006/main" noGrp="1"/>
          </p:cNvSpPr>
          <p:nvPr/>
        </p:nvSpPr>
        <p:spPr>
          <a:xfrm xmlns:a="http://schemas.openxmlformats.org/drawingml/2006/main">
            <a:off x="933450" y="276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FFFFFF"/>
                </a:solidFill>
              </a:defRPr>
            </a:pPr>
            <a:r>
              <a:rPr sz="1125" b="1" i="0">
                <a:solidFill>
                  <a:srgbClr val="FFFFFF"/>
                </a:solidFill>
              </a:rPr>
              <a:t>DÖRTGÖZ</a:t>
            </a:r>
          </a:p>
        </p:txBody>
      </p:sp>
      <p:sp>
        <p:nvSpPr>
          <p:cNvPr id="6" name="">
            <a:extLst xmlns:a="http://schemas.openxmlformats.org/drawingml/2006/main">
              <a:ext uri="{FF2B5EF4-FFF2-40B4-BE49-F238E27FC236}">
                <a16:creationId xmlns:a16="http://schemas.microsoft.com/office/drawing/2014/main" id="{0391CF4C-BBC6-452C-A9A5-1F3CEDB07BB4}"/>
              </a:ext>
            </a:extLst>
          </p:cNvPr>
          <p:cNvSpPr>
            <a:spLocks xmlns:a="http://schemas.openxmlformats.org/drawingml/2006/main" noGrp="1"/>
          </p:cNvSpPr>
          <p:nvPr/>
        </p:nvSpPr>
        <p:spPr>
          <a:xfrm xmlns:a="http://schemas.openxmlformats.org/drawingml/2006/main">
            <a:off x="11144250" y="2762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C2D7D0"/>
                </a:solidFill>
              </a:defRPr>
            </a:pPr>
            <a:r>
              <a:rPr sz="900" b="0" i="0">
                <a:solidFill>
                  <a:srgbClr val="C2D7D0"/>
                </a:solidFill>
              </a:rPr>
              <a:t>12</a:t>
            </a:r>
          </a:p>
        </p:txBody>
      </p:sp>
      <p:sp>
        <p:nvSpPr>
          <p:cNvPr id="7" name="">
            <a:extLst xmlns:a="http://schemas.openxmlformats.org/drawingml/2006/main">
              <a:ext uri="{FF2B5EF4-FFF2-40B4-BE49-F238E27FC236}">
                <a16:creationId xmlns:a16="http://schemas.microsoft.com/office/drawing/2014/main" id="{B5BF3BCB-0963-4380-B415-316356B635D3}"/>
              </a:ext>
            </a:extLst>
          </p:cNvPr>
          <p:cNvSpPr>
            <a:spLocks xmlns:a="http://schemas.openxmlformats.org/drawingml/2006/main" noGrp="1"/>
          </p:cNvSpPr>
          <p:nvPr/>
        </p:nvSpPr>
        <p:spPr>
          <a:xfrm xmlns:a="http://schemas.openxmlformats.org/drawingml/2006/main">
            <a:off x="704850" y="1466850"/>
            <a:ext cx="4953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i="0">
                <a:solidFill>
                  <a:srgbClr val="FFFFFF"/>
                </a:solidFill>
              </a:defRPr>
            </a:pPr>
            <a:r>
              <a:rPr sz="3450" b="1" i="0">
                <a:solidFill>
                  <a:srgbClr val="FFFFFF"/>
                </a:solidFill>
              </a:rPr>
              <a:t>Teknoloji daha çok</a:t>
            </a:r>
          </a:p>
          <a:p xmlns:a="http://schemas.openxmlformats.org/drawingml/2006/main">
            <a:pPr algn="l">
              <a:defRPr sz="3450" b="1" i="0">
                <a:solidFill>
                  <a:srgbClr val="FFFFFF"/>
                </a:solidFill>
              </a:defRPr>
            </a:pPr>
            <a:r>
              <a:rPr sz="3450" b="1" i="0">
                <a:solidFill>
                  <a:srgbClr val="FFFFFF"/>
                </a:solidFill>
              </a:rPr>
              <a:t>izlemek için değil,</a:t>
            </a:r>
          </a:p>
        </p:txBody>
      </p:sp>
      <p:sp>
        <p:nvSpPr>
          <p:cNvPr id="8" name="">
            <a:extLst xmlns:a="http://schemas.openxmlformats.org/drawingml/2006/main">
              <a:ext uri="{FF2B5EF4-FFF2-40B4-BE49-F238E27FC236}">
                <a16:creationId xmlns:a16="http://schemas.microsoft.com/office/drawing/2014/main" id="{80DDBBF5-0990-4874-AB36-1BF15F832B5A}"/>
              </a:ext>
            </a:extLst>
          </p:cNvPr>
          <p:cNvSpPr>
            <a:spLocks xmlns:a="http://schemas.openxmlformats.org/drawingml/2006/main" noGrp="1"/>
          </p:cNvSpPr>
          <p:nvPr/>
        </p:nvSpPr>
        <p:spPr>
          <a:xfrm xmlns:a="http://schemas.openxmlformats.org/drawingml/2006/main">
            <a:off x="704850" y="281940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i="0">
                <a:solidFill>
                  <a:srgbClr val="E9A23B"/>
                </a:solidFill>
              </a:defRPr>
            </a:pPr>
            <a:r>
              <a:rPr sz="2325" b="1" i="0">
                <a:solidFill>
                  <a:srgbClr val="E9A23B"/>
                </a:solidFill>
              </a:rPr>
              <a:t>yardımı geciktirmemek için.</a:t>
            </a:r>
          </a:p>
        </p:txBody>
      </p:sp>
      <p:sp>
        <p:nvSpPr>
          <p:cNvPr id="9" name="">
            <a:extLst xmlns:a="http://schemas.openxmlformats.org/drawingml/2006/main">
              <a:ext uri="{FF2B5EF4-FFF2-40B4-BE49-F238E27FC236}">
                <a16:creationId xmlns:a16="http://schemas.microsoft.com/office/drawing/2014/main" id="{C46D0231-8398-43BB-B132-17171AD1A36B}"/>
              </a:ext>
            </a:extLst>
          </p:cNvPr>
          <p:cNvSpPr>
            <a:spLocks xmlns:a="http://schemas.openxmlformats.org/drawingml/2006/main" noGrp="1"/>
          </p:cNvSpPr>
          <p:nvPr/>
        </p:nvSpPr>
        <p:spPr>
          <a:xfrm xmlns:a="http://schemas.openxmlformats.org/drawingml/2006/main">
            <a:off x="704850" y="41148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i="0">
                <a:solidFill>
                  <a:srgbClr val="D2E0DC"/>
                </a:solidFill>
              </a:defRPr>
            </a:pPr>
            <a:r>
              <a:rPr sz="1500" b="0" i="0">
                <a:solidFill>
                  <a:srgbClr val="D2E0DC"/>
                </a:solidFill>
              </a:rPr>
              <a:t>Doğru an · doğrulanmış kanıt · insan kararı</a:t>
            </a:r>
          </a:p>
        </p:txBody>
      </p:sp>
      <p:sp>
        <p:nvSpPr>
          <p:cNvPr id="10" name="">
            <a:extLst xmlns:a="http://schemas.openxmlformats.org/drawingml/2006/main">
              <a:ext uri="{FF2B5EF4-FFF2-40B4-BE49-F238E27FC236}">
                <a16:creationId xmlns:a16="http://schemas.microsoft.com/office/drawing/2014/main" id="{F11C4C99-65A2-40D4-AF10-7481E75EE569}"/>
              </a:ext>
            </a:extLst>
          </p:cNvPr>
          <p:cNvSpPr>
            <a:spLocks xmlns:a="http://schemas.openxmlformats.org/drawingml/2006/main" noGrp="1"/>
          </p:cNvSpPr>
          <p:nvPr/>
        </p:nvSpPr>
        <p:spPr>
          <a:xfrm xmlns:a="http://schemas.openxmlformats.org/drawingml/2006/main">
            <a:off x="704850" y="4991100"/>
            <a:ext cx="1676400" cy="57150"/>
          </a:xfrm>
          <a:prstGeom xmlns:a="http://schemas.openxmlformats.org/drawingml/2006/main" prst="rect">
            <a:avLst/>
          </a:prstGeom>
          <a:solidFill xmlns:a="http://schemas.openxmlformats.org/drawingml/2006/main">
            <a:srgbClr val="6FC2AD"/>
          </a:solidFill>
          <a:ln xmlns:a="http://schemas.openxmlformats.org/drawingml/2006/main" w="0">
            <a:solidFill>
              <a:srgbClr val="6FC2AD"/>
            </a:solidFill>
            <a:prstDash val="solid"/>
          </a:ln>
        </p:spPr>
      </p:sp>
      <p:sp>
        <p:nvSpPr>
          <p:cNvPr id="11" name="">
            <a:extLst xmlns:a="http://schemas.openxmlformats.org/drawingml/2006/main">
              <a:ext uri="{FF2B5EF4-FFF2-40B4-BE49-F238E27FC236}">
                <a16:creationId xmlns:a16="http://schemas.microsoft.com/office/drawing/2014/main" id="{DEE3B0F5-FF6F-4062-896F-DF74A871559E}"/>
              </a:ext>
            </a:extLst>
          </p:cNvPr>
          <p:cNvSpPr>
            <a:spLocks xmlns:a="http://schemas.openxmlformats.org/drawingml/2006/main" noGrp="1"/>
          </p:cNvSpPr>
          <p:nvPr/>
        </p:nvSpPr>
        <p:spPr>
          <a:xfrm xmlns:a="http://schemas.openxmlformats.org/drawingml/2006/main">
            <a:off x="704850" y="5257800"/>
            <a:ext cx="4705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FFFFFF"/>
                </a:solidFill>
              </a:defRPr>
            </a:pPr>
            <a:r>
              <a:rPr sz="1350" b="1" i="0">
                <a:solidFill>
                  <a:srgbClr val="FFFFFF"/>
                </a:solidFill>
              </a:rPr>
              <a:t>Dörtgöz'ün insanlığa faydası, makinenin daha çok hüküm vermesi değil; insanın daha az şeyi kaçırmasıdır.</a:t>
            </a:r>
          </a:p>
        </p:txBody>
      </p:sp>
      <p:sp>
        <p:nvSpPr>
          <p:cNvPr id="12" name="">
            <a:extLst xmlns:a="http://schemas.openxmlformats.org/drawingml/2006/main">
              <a:ext uri="{FF2B5EF4-FFF2-40B4-BE49-F238E27FC236}">
                <a16:creationId xmlns:a16="http://schemas.microsoft.com/office/drawing/2014/main" id="{E6E4CA8A-C5C7-4700-AE80-ED4A025DE82F}"/>
              </a:ext>
            </a:extLst>
          </p:cNvPr>
          <p:cNvSpPr>
            <a:spLocks xmlns:a="http://schemas.openxmlformats.org/drawingml/2006/main" noGrp="1"/>
          </p:cNvSpPr>
          <p:nvPr/>
        </p:nvSpPr>
        <p:spPr>
          <a:xfrm xmlns:a="http://schemas.openxmlformats.org/drawingml/2006/main">
            <a:off x="60960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B8CEC7"/>
                </a:solidFill>
              </a:defRPr>
            </a:pPr>
            <a:r>
              <a:rPr sz="825" b="0" i="0">
                <a:solidFill>
                  <a:srgbClr val="B8CEC7"/>
                </a:solidFill>
              </a:rPr>
              <a:t>Dörtgöz · insan-döngüde video analiz ve karar destek sistemi</a:t>
            </a:r>
          </a:p>
        </p:txBody>
      </p:sp>
    </p:spTree>
    <p:extLst>
      <p:ext uri="{BB962C8B-B14F-4D97-AF65-F5344CB8AC3E}">
        <p14:creationId xmlns:p14="http://schemas.microsoft.com/office/powerpoint/2010/main" val="467709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2026-08-26T14:35:19.5990000Z</dcterms:created>
  <dcterms:modified xsi:type="dcterms:W3CDTF">2026-08-26T14:35:19.6000000Z</dcterms:modified>
</coreProperties>
</file>